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ags/tag32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21"/>
  </p:notesMasterIdLst>
  <p:handoutMasterIdLst>
    <p:handoutMasterId r:id="rId22"/>
  </p:handoutMasterIdLst>
  <p:sldIdLst>
    <p:sldId id="268" r:id="rId8"/>
    <p:sldId id="269" r:id="rId9"/>
    <p:sldId id="9752" r:id="rId10"/>
    <p:sldId id="2147482876" r:id="rId11"/>
    <p:sldId id="2147482877" r:id="rId12"/>
    <p:sldId id="2147482404" r:id="rId13"/>
    <p:sldId id="2147482878" r:id="rId14"/>
    <p:sldId id="2147482879" r:id="rId15"/>
    <p:sldId id="2147482460" r:id="rId16"/>
    <p:sldId id="2147482445" r:id="rId17"/>
    <p:sldId id="270" r:id="rId18"/>
    <p:sldId id="9751" r:id="rId19"/>
    <p:sldId id="2147482430" r:id="rId20"/>
  </p:sldIdLst>
  <p:sldSz cx="12192000" cy="6858000"/>
  <p:notesSz cx="9144000" cy="6858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68"/>
            <p14:sldId id="269"/>
            <p14:sldId id="9752"/>
          </p14:sldIdLst>
        </p14:section>
        <p14:section name="Build a Strong Team" id="{DCF2D6B8-4FC4-4E8F-9A13-845452902EB4}">
          <p14:sldIdLst>
            <p14:sldId id="2147482876"/>
            <p14:sldId id="2147482877"/>
            <p14:sldId id="2147482404"/>
            <p14:sldId id="2147482878"/>
            <p14:sldId id="2147482879"/>
            <p14:sldId id="2147482460"/>
            <p14:sldId id="2147482445"/>
            <p14:sldId id="270"/>
            <p14:sldId id="9751"/>
            <p14:sldId id="2147482430"/>
          </p14:sldIdLst>
        </p14:section>
        <p14:section name="Client and Project Context" id="{BA7574ED-C4D0-4583-9525-E2BC5B2F3798}">
          <p14:sldIdLst/>
        </p14:section>
        <p14:section name="Delivery Framework" id="{3DA44A48-81E6-458A-BF5F-7BBD401FA42C}">
          <p14:sldIdLst/>
        </p14:section>
        <p14:section name="Appendix" id="{3509EFE0-D067-4195-9E95-67682D394890}">
          <p14:sldIdLst/>
        </p14:section>
      </p14:sectionLst>
    </p:ext>
    <p:ext uri="{EFAFB233-063F-42B5-8137-9DF3F51BA10A}">
      <p15:sldGuideLst xmlns:p15="http://schemas.microsoft.com/office/powerpoint/2012/main">
        <p15:guide id="2" pos="3834" userDrawn="1">
          <p15:clr>
            <a:srgbClr val="A4A3A4"/>
          </p15:clr>
        </p15:guide>
        <p15:guide id="3" orient="horz" pos="20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43CF1B-1163-2008-5D42-0B148E5EC74A}" name="Maria Giacoman Lozano" initials="MG" userId="S::mariagiacoman@jmangroup.com::6933599b-0873-4163-a539-759cca4dab52" providerId="AD"/>
  <p188:author id="{10680825-6D8E-BD01-817F-6EC8CADB6DC8}" name="Henry Johnston-Ellis" initials="HJE" userId="S::henryjohnstonellis@jmangroup.com::4cc90d18-cc56-4924-95f7-c6337d62785f" providerId="AD"/>
  <p188:author id="{4EEE4926-43B4-1ED8-590E-1071B64629BE}" name="Joshua Shen" initials="JS" userId="S::joshuashen@jmangroup.com::51453777-a148-474c-b6b1-4de34d498978" providerId="AD"/>
  <p188:author id="{EFD4FE2C-28E5-8EC7-9556-A16C9312A864}" name="Ruth Keppeler" initials="RK" userId="S::ruthkeppeler@jmangroup.com::5156e601-60d9-418b-b120-f746b123d156" providerId="AD"/>
  <p188:author id="{3EEEAF3B-45EF-BAA1-C7E2-56864809257F}" name="Jaime Nunez Frigols" initials="JNF" userId="S::jaimenunezfrigols@jmangroup.com::d4cd74ea-9bc2-43d6-b1ca-cb430b654c93" providerId="AD"/>
  <p188:author id="{CC905D42-8906-6876-58C9-EBE10F75BA0A}" name="Caitlin Mills Lyle" initials="CM" userId="S::caitlinmillslyle@jmangroup.com::59310927-ae1e-479c-a059-806637108353" providerId="AD"/>
  <p188:author id="{94F8DC56-68DA-793F-05B2-8BAEB123BB1D}" name="Sivaraam TK" initials="ST" userId="S::sivaraam@jmangroup.com::c1c34318-1b0a-46e3-a1a8-57619d59f5e2" providerId="AD"/>
  <p188:author id="{ECA43A6F-88B1-71BB-2172-CDF202225BBA}" name="Sofia Sanchez" initials="SS" userId="S::sofiasanchez@jmangroup.com::8ad13e4d-c99d-489d-9f26-131cc3c9c912" providerId="AD"/>
  <p188:author id="{C31B267D-1139-2CEF-9E35-FD2FEEF7F00C}" name="Daniel Morton" initials="DM" userId="S::danielmorton@jmangroup.com::2910753b-9ffd-48b2-93fc-141f66abead8" providerId="AD"/>
  <p188:author id="{0635A57F-BE6A-1F9F-22A6-19D1945EBF9F}" name="Anusuya R" initials="AR" userId="S::anusuya.r@jmangroup.com::ee5060f1-67e6-490b-b827-0fd5355d0c9d" providerId="AD"/>
  <p188:author id="{36DC879F-9721-382A-BE39-671C439619F7}" name="Alyssa Ferrer" initials="AF" userId="S::alyssaferrer@jmangroup.com::eaf83a03-19cb-4003-bc5f-4129c25a8878" providerId="AD"/>
  <p188:author id="{B1C979D2-C2E1-E0CF-4AB2-645D108D5428}" name="Dan Burns" initials="" userId="S::danielburns@jmangroup.com::46751c3e-3c4b-489c-880e-cb3c5e9f0ae8" providerId="AD"/>
  <p188:author id="{F669A5F8-6718-3599-AF78-CC5D8EEE3DAD}" name="Sofia Sanchez" initials="SS" userId="S::SofiaSanchez@jmangroup.com::8ad13e4d-c99d-489d-9f26-131cc3c9c91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9105B"/>
    <a:srgbClr val="D3CBEB"/>
    <a:srgbClr val="3411A3"/>
    <a:srgbClr val="71EAE1"/>
    <a:srgbClr val="FF6196"/>
    <a:srgbClr val="C1D6FB"/>
    <a:srgbClr val="739EF7"/>
    <a:srgbClr val="8AB1F8"/>
    <a:srgbClr val="D6E4FC"/>
    <a:srgbClr val="F2F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74" y="120"/>
      </p:cViewPr>
      <p:guideLst>
        <p:guide pos="3834"/>
        <p:guide orient="horz" pos="2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2286A-1C50-8291-6AD6-D95B02B4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79A93-83AC-3066-7B26-0164C2134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8E7345-B7E2-6D18-E75F-B4440DCE1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Instructions: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Replace with photos, names and specific project roles of team members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Edit to include any additional details, e.g. if additional team members will be onboarded later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Add or remove cards as needed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 dirty="0"/>
              <a:t>Example slide in 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EFADD-5590-C8E3-04E9-D493F6FC1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4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145F-EB8F-035E-5ACD-66E69D1DC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FFECF-8275-583C-EB51-053F9B813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D874-497F-A2E1-EDD8-9FB98E20A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348D8-9AD4-4C3A-EF05-129C1B612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2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24D0-EC86-ECB0-D099-B2CBB89F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82D1C-3154-EE9E-12F7-55377BCEC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80492-F8C3-199D-3B3A-2CA8975AD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DEE95-2EEF-CA15-B722-17906181E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7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70BE-B5C1-7B47-E514-19CCBE7E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668D7-B532-9C1E-B552-5C51CAE91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C41B5-EB1D-C48E-0963-FA378EE3A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3CEC-A93B-4E39-B6BA-494F147F6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68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3D80-1BF8-D5BC-FC92-1C39AE7BD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1A1C2-CEC4-130C-EFCA-3D03AFABC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2A4A2-4D35-0A00-5DB6-E601F127A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D2FA7-49D3-1B1B-DE34-A910C7730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98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67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A523-D274-3E1C-527E-2747451D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90E98-143F-46F2-7033-B8B4F16CB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DD763-AFAA-5BDA-9C51-EF08F8F89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8F3D0-FF68-CCB9-C3BB-EBF9A90E0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4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hyperlink" Target="https://www.jmangroup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63FF4F9B-344A-49F0-823F-B16F7B337E2A}" type="datetime4">
              <a:rPr lang="en-GB" smtClean="0"/>
              <a:t>12 May 2026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4FC070C-0C1A-4A7C-A551-7B5182511A7F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2F7C8544-B071-DA52-160E-5FDE02751C5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7" name="Picture 6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477AA42D-1C37-3A08-1087-BEA48A003B4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1348F14D-8606-589D-E387-6A8F523F46F1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8710ED7B-171B-9A96-A5E5-273AA8761086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916DC1-9880-C7F7-63C5-6B949B4C5F5E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8FE2558-D78C-FD46-9EB8-5D0A8F86D136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05C64D6-9F77-5336-F8D2-B8DFA02D8DED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3" name="Graphic 3">
              <a:extLst>
                <a:ext uri="{FF2B5EF4-FFF2-40B4-BE49-F238E27FC236}">
                  <a16:creationId xmlns:a16="http://schemas.microsoft.com/office/drawing/2014/main" id="{CC21AEC0-C58D-853F-B0DF-8FC8C0FA92E8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91BD3266-FFBF-A3FE-0737-25D19C19CDEB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163" name="Graphic 3">
                <a:extLst>
                  <a:ext uri="{FF2B5EF4-FFF2-40B4-BE49-F238E27FC236}">
                    <a16:creationId xmlns:a16="http://schemas.microsoft.com/office/drawing/2014/main" id="{F5FA8C12-B544-EC19-0D5A-0D6EFC0E0A5E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25446E29-A912-2669-A525-CC6493EF970F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C9A6BC2A-954F-C78D-CAA8-4CE2ADC003CD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94" name="Graphic 3">
              <a:extLst>
                <a:ext uri="{FF2B5EF4-FFF2-40B4-BE49-F238E27FC236}">
                  <a16:creationId xmlns:a16="http://schemas.microsoft.com/office/drawing/2014/main" id="{12E6E8D1-86E0-D61E-B563-25B57DF3BED0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FAD2CCE4-9C4B-021B-28F1-1E6C9BFDB413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F9A0EFD-9D61-84F7-8AE8-3CEC51476A5A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5F5766F-B1D3-2DD3-E1E5-DEE80CC9966E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5F066C8-2E26-0FE4-F1EE-54C39C1C9F50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6D22F72E-F2B8-803F-98A2-2145C09FED04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F82E87DD-3AAE-9803-4220-B426F6F28D27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E001CAD-8227-9C18-7210-07F7D81425F1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AE711565-52B1-7838-84A4-6DCA256B553C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06425F94-7BBF-2D26-F3A2-1CA76EFFB6EB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95" name="Graphic 3">
              <a:extLst>
                <a:ext uri="{FF2B5EF4-FFF2-40B4-BE49-F238E27FC236}">
                  <a16:creationId xmlns:a16="http://schemas.microsoft.com/office/drawing/2014/main" id="{9F5ABA6F-1757-2789-1AC1-E98EA1E54BF7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0244C3A0-AD38-2A18-3511-7465D2D710DE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301552C-1EB7-7194-7C95-3ED87105A902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818DB784-D088-52D6-A790-0514EE09C3BD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8159CAAB-4ED3-D23B-A5ED-D75268B7CDA1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813BF4B3-00F4-D662-E92D-A1D02CA366D4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C52A994-67CA-758C-EC1B-1DB6D7CDC9BE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B79AEA8-DB25-CB0D-3F4B-5FFD1EFA0ACF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439CCE0-BF9A-2B56-C3A6-AB4C1A41551D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56107F5-0046-AA02-A5C4-8D3344830CC0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5D35099-35E2-CA7C-8585-07A021525577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AFC6F5E-38AF-B682-6A9D-DE0C5F6F9C4F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B407FB4-3405-7A3B-42CD-2BA19AE87D4E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7197F81-860A-A4CA-2BEA-2B68E1C8D8DE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A01F6F3-FA66-017D-89A6-728A6CC8FAA0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FABFD48-3EF8-D48D-6530-83EC22DA6939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3C67A89-3CAD-F065-77E8-71DD5DF4567C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29FE5E2-4459-BBB2-4430-07DCD46ACEA0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1FB2609-8BD6-9949-8483-9B86E2F699AC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176658E-DAAE-7AA8-A19B-37B3DF81B814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4F9E92A-37F3-F11E-A97C-62CBCB5B9410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5E2CD3A-FE22-08EE-6888-6C8B45539378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201BFBDD-2400-5FC7-9CEB-86674325AF38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438D6C2-F6ED-3862-3541-38B2AFF51928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0B87E69-D138-E715-474F-6785F1D5AD73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B108950-5689-B8A6-0E49-F207CB85A5C1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B7D1A31-5628-C144-D1DD-C3AA21CEF54B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E77FAA1-55BA-A8C6-450C-CFDF40EBAA3B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02A4937-37A7-A4E9-95A3-2982AFB92FAD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E28DC01-8870-08BA-816E-0DB5C868CB3D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5F0D064-F828-3E87-9E70-5B2C90622A1F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6D9B3A9-6A94-FF8A-CDFA-078070EB09FD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6226A02-9552-3197-2748-B7319A28F85B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1696A83-99B5-16DE-8622-FAE55095AF4C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371B433-BC10-79C2-5DC0-4F8E3B0CF2B3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49C7A4F-EA4B-3A58-5602-8083ADFDD2FA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9E44FD1-ABB4-D164-5004-1B12DA753F79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BE7D2A78-DBD7-A643-D5EA-DA1E14A7A0DA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AEC513C-E4C3-05F0-5C05-4306E7D245B2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24D8EBA2-D766-7847-B55C-3F201CEDD0E5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001BCBB-EB46-4119-F2A4-0851FBF04B79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5D2A041-A9AE-E7D9-9EFA-56026AFEB3CC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EA713E8-99BA-C53D-DC52-EC03F5DA90B4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298C9A7-5283-7464-4AEE-596C8548C1BD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6A244BC-1B65-2AC8-DA88-1B52E2DF7BA2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5CFAE08-F2EA-0A79-FCAC-43EB8C3EA7AA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4CC6C28-6D3F-8DCA-F5AB-1DFBA32F216A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64A4D3C-A279-3506-5E1C-1B10914588ED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7438D98-5EB6-C52F-56FD-0A0A28F75C95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06739BB3-67C3-E0A6-A24E-5A3D16212553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56A5B0D-0A00-E2E9-41C8-9D46229202B3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19413D2-D8D9-3CF1-36E5-E42A5D7E1DC5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049CDD7-DAD2-F25C-7B14-A2E7B76219AD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2E7B226-73DC-C43D-B216-8980DC91FF4E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6708F20-532B-AB70-A213-98AEDE396CF1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7E055CE-5AA8-C0EB-306C-5610A2FB3193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1F0B5EA-1099-0714-657C-FB1FDD8C84CF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AFE3461-4848-C95D-A74A-7210F8A33DFA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CDCB8D5-09BA-4706-AE19-4FD94245A50E}" type="datetime4">
              <a:rPr lang="en-GB" smtClean="0"/>
              <a:t>12 May 2026</a:t>
            </a:fld>
            <a:endParaRPr lang="en-GB"/>
          </a:p>
        </p:txBody>
      </p:sp>
      <p:pic>
        <p:nvPicPr>
          <p:cNvPr id="6" name="Picture 5" descr="A logo with red text&#10;&#10;Description automatically generated">
            <a:extLst>
              <a:ext uri="{FF2B5EF4-FFF2-40B4-BE49-F238E27FC236}">
                <a16:creationId xmlns:a16="http://schemas.microsoft.com/office/drawing/2014/main" id="{2F3E8197-AE06-0855-E1D3-704486BD46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7" name="Picture 6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9E17F747-247D-1202-F3A8-D033449600F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AE4B2C1-E6F7-1888-3F96-FF14168C5B0B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A79B2B8-78B0-9121-E9C6-95777366575F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13D4485-16A5-114A-CDCB-33298282484E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9C109D-AF59-C500-1276-71BFC67E32C7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1C55CFA-39C6-9D1C-FB24-415FDE62F351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31F039DC-5876-53A0-C559-6F360C518035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53FC3D2-E45E-D2BC-9C16-74A413343353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1A7189F4-E6E8-C358-4D15-D45E8F7E5D9F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7C2C6A78-950C-CC7C-680D-96D79895935B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B9049046-AE6C-9514-F123-C759388E482E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77FA5669-AB9A-2310-15CB-6BD82A573563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92FA1D3-8F46-1427-351B-78CBD6A429D0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9B0CB53-B86C-EA1C-3E81-9240D8FA576F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9F1FC84-E922-A0E7-DBE3-8C4C453A07D8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F1822D2-7F77-8C79-54BB-59F88BB44ACB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34D8053-3260-4EBD-1B10-51C92CE6E07B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4652E6C-9A01-155E-EF48-08796B2F76E0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5E5AF86-0CCA-14F5-3CC4-36F3800BD448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8CA3E8A-035A-52F0-917C-2842B3F72CD5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7DD8585-8860-F4F6-4050-62FC79E44546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5EC370B9-0413-D5AF-3AF8-AA894CCE923F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2EFCC7C-2323-96A5-C82C-71B2F8425C2D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43E7D88-6019-EF3D-8012-2BBD3DE84B48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2FA9E8E-BA89-99D0-A905-64991C02F166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D976B8F-7EF1-5483-B486-ACEE751714E6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5103867-0E5A-5FA3-6746-2491BCE65846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18645B-E341-C88C-C7C2-2846A9A7B752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AAF8A7-B05C-B474-93A9-33799E49D68F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DDB8D04-5C49-B465-C0A7-26E71BCD9D9C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D0421C-A2EC-4E6D-CC3C-01B01F44FA83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69602D-06BB-E61D-2233-E92C420E65D5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ADCA19B-E5C5-77FF-7545-AD3F63F76DDA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C2955F-0E80-866C-BA25-CC2A5CACB904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D7511D-F956-5FB9-B7DC-F9264C188BC4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72DB28-2CD1-A44E-C44D-A4072BC696B6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B7E383-6969-496F-82DD-0A57D65260D5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32202AB-F4F9-6B89-3C66-2A1C89E96FF9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88DC09-0700-4674-B551-82133600896E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4FCD298-A97E-DE05-6B58-FDAC15D5C8DA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8A73B03-6C28-9CA9-F05D-2AE25104881A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7A1B9C9-712E-810E-47BD-DDFBCA886596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2E4C2CD-7774-83B6-EEAE-831DA0B7F9D6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C7EFB17-8A9A-6DB1-F4BF-EBACF2A1EAD6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65BD76-39D6-7FF9-224D-B21909DBC600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ACE5932-5FF4-3CEB-C577-E67437B2F90F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C28E361-02EB-39A2-FFAA-2A8BB1BBEA6F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9593447-C38A-14C7-BD49-015343927696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A4FDD7C-32B8-935A-5824-E7CE0560177A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E3BF97-FA1D-745A-BFA5-6DCCD3658305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D32DFB5-BED8-9696-6F02-1F6FF2A1FB63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817F1C9-D4BD-189B-C67D-3559B800843A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AA23343-8F1A-98F9-6735-0EF890E0EADE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DD46651-2F47-CCA0-A02E-41C36E6580EC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DC40154-F466-D0B0-DDA3-80EFBE076AD0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2481F0-B660-662E-FC18-ADA72B37C520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396D391-B240-4D0A-8242-4C0F9D311943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5DA11BF-A16C-4D22-7772-6740D1664261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D49409-3A11-8C4B-74E8-1C90B1C24BA4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AFFBF04-6432-67C8-1BF6-1C1922BE9A25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D3B6703-AC06-B89B-28B1-49AE03EECD1D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7FE5CBC-942D-38C8-F1D3-57E00C3DBF01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CE3E441-47C4-0106-CB96-ED53575896DA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04590A-5D2E-918D-D4C3-630D90048FE8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E858F1F-4BDF-7019-9AB0-68F4B2B8BD1F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628B2E5-23DB-D5D5-63EB-D32A26F17698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57EF229-C3F5-6777-BB92-74E2036F9DE7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834D0CE-3CA9-DBB1-99FA-991B330302BE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4EF1D90-A7FD-85DF-2C28-2D00199DE235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8F9507-BDE0-BA47-A0A9-ECEAECDD8B2A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E31B8BF-EEE0-2497-32EF-B5FF0A615817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B9747DA-9FD7-EDDB-92C3-B9CDAB0CF0C8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0906161-8D14-46AA-AC04-F19E7AC09578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DE88709-A6F9-CD01-CCCF-A5BF67753C24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517C0C0-52A1-7B46-71F8-0495C375F162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FCB4A59-A849-6327-D088-974751403AD5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20E7575-7386-49E0-699B-BB653BECC450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5FB3037-0A02-9D8E-2924-0EB1929C86DC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76915C5-A243-9249-ACD5-B26B9C0DB5CC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A4CC55A1-80DF-479A-92E0-EAFBC761A0D8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5DE7477E-DFEE-7C15-B33C-1D38455FA8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97CC6BA9-4FF1-68D1-C515-94AF3418B56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B043ABB-79A9-7541-E949-00BB148585E2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2DC49F-B7CC-F3E7-AF4A-D4DD7D123111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9AD567-CF66-6A77-A527-8D6DCFEE4F65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902BED4-A5A1-1A4F-46CB-F6116EA460F8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EA17B54-C091-0241-0B29-B22051C3F1D0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5D00D44E-E5D9-6061-9BC6-9FDC3A1B4D79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1025B0C-46A6-7713-3683-FBC40A69DBE5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3181A858-A124-F8DC-0CD1-539AD7C66F1F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1CE62883-BF0F-5438-4540-EC57E0868FB6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2496291F-531F-DB87-B97F-13BF7E3F062F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F23B6F14-34A2-4D2F-5A74-61EECC41C4E8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85A6DB0-5FDF-C70F-1543-8DF200A78B69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C521D2B-3E74-EEF5-1086-E152641126D4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BE3502E-62B0-18A7-D92C-3C5B25BAB5ED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FEF289C-ADB7-3346-A6D3-6210FADB918F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6FC2C7F-AF70-AEF1-9554-2BA609234B4A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546E58B-EF73-D554-3D06-9677F8A050E7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D91BF3F-58ED-ADDD-E270-1B21D9B36D9A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2F92C50-DA55-0D80-C752-D57AA045CB2D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098823F-6D7A-750E-13AB-3C4755776A28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E5FAAFCB-B63D-F832-B13D-EB4DF12DEEE1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C35902E-D9FF-B11A-CC8D-1D340098F45C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649974B-B9D2-BBB1-E056-B80BE2253008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CC4E56D-37DF-C88A-EF20-4F75C466FB53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D1FBD35-4A0C-F40B-CBD5-5B87EC13BC10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1C0EC05-E1DD-EE7A-95BA-567633BA0FA7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3A31192-936B-ABF7-876C-D3C8508AED96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1826E5-0B8F-801A-4394-4E7F98563228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5EDC04B-8039-A773-AFE9-63BA9EAA3842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5B86ED-31CC-4A8F-DC0A-65C18B179D6D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795D787-AC78-34EC-858D-1F9EDF5A1714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F9FA86A-C83C-E349-D598-1FFD870C66FF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CF3F38-82FF-AFEB-853C-CD83C2C6EA54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2D859F-CAD6-09D4-7545-48F1443FABB0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8281D6A-867C-B5EF-CB2F-ADEC3A28CBC6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4CC2C0-A249-2C41-0BD7-B1C7CF351B38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C2CE8BB-9E15-D9DD-0CC9-BB059C16A2A2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ADF0158-C407-CC3F-055B-34D646F65A6A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F0B044C-7660-D997-E7C1-1A3C30CCB2D0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C8396F4-AED7-06EB-741E-C55483E4E496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38F6FD-CC17-7291-20D9-E0E26C5ED1DF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00F746A-C673-7A01-BA2F-666577A09F29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D58FDD8-EFB0-E120-678E-9CEB35D96A8F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D5FD661-36A8-4E6D-3503-9C751DDF834E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A6EFA3-E4C0-48AE-B55F-69300656F771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CC2870-FD4F-AF75-BDA1-4419D3E9C30E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FE4405C-36D9-F6EA-A7CF-55D17E2915D1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5D4026B-356E-6C08-EB4E-077C15D78F63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5318EAF-34B2-B1A0-0025-9B81582102FE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EC26CD8-74F9-780B-80A3-201EFEC6C32D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A3D930-BA71-5865-1E3B-6AD8A3AC4D1A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DE89639-1415-4F24-DD3F-9EAD55D32663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D2D931D-22CB-9A6C-0B8F-61723B0AFFC7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A52D33B-EF9B-F2A9-FBEF-788B4A7239DF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64A1BD7-2151-2B51-E38A-61DED437D4DA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614A83E-0E83-AA26-77C1-394369AB2B9C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D7085EF-B066-822C-24F1-45100E9C234D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C9386A7-D78D-4993-FE72-F459BABB44AF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3AC3F6D-D13F-AB23-F765-E87861534D73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A6F8610-99C1-34D3-D5E2-EEAAF56544C7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A82E05B-B89F-0EC9-78E1-FCCE254FC1B5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C28471A-25E2-E8C0-0C0D-47C817C688F2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09F9010-F371-9E77-8299-3CC0021BF96C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67B1D5F-0FF2-E7D2-AF18-3CD42E4E352E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3164086-6007-6B57-DEC5-5496375DE245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2E42330-3208-FB63-1E07-0E6322551A76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67F58BD-116F-EFCC-89A8-49E12FE0EC5B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0FD4F49-6622-048B-8931-31D553C21CC7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B5B5DB9-F355-FCF0-2FCC-F1369F39B230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48A7904-E9B0-576D-D505-6854DE3EB3F2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7C093C2-5E62-3F8F-DBE3-0A139AC6EC48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D2E8A94-D0B0-5259-F5DA-1AB703C2E38B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1D07A1E-5A35-FCF6-24CA-59058DA965FE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832B3A5-B6B0-3F20-FB19-379677143674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A5F252A-E021-82F8-6A87-CF04B9420D25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971DEAC-FCB3-3BE2-F071-57340EE88380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54E5AAE-A795-48DD-E87B-8A36497684D5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59C5347-9A1B-CC1B-8253-9A3DE844FBB3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7AF1F6EE-5D97-4D34-882D-A275F9980FBD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CE4E16FD-7B8E-66B3-DED1-0A1D87CB5B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30566A3D-2E46-03F3-929F-3758D03A33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A1AF150-0E47-13C7-D9FA-E3AD16E6F543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81A80B1-6DD0-B78E-16BB-E6594EA87925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D367D1F-8FBE-AB73-C2A0-5B957160922A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66911D8-5595-8E1A-4AA3-B8FF30826A6C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3B6CE3-8454-A306-B014-A5EE978B1E94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2FF47C28-AC44-CE28-D4B4-A3BDAECBED8E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A3E27E7-A425-C717-B4DA-68E7C0726FF3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CC706F3E-ED5E-7C11-B9B6-3FD53CDBDA3F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6A5B88A5-E091-E392-544C-56D2B6188F9C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DE78D030-8E72-B4A4-EA9A-A944DF0B5835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3E07A3EA-9D27-1CE3-B6BB-9E88ADC6C388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E294C3F-3C2C-AD08-4E86-6039E07B55CC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E448CB3-075A-5A72-53A6-36CC3877F7C1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F8A69A8-6AEC-6C8E-9A4C-F4E47BE5D950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9ED7EE9D-DE54-106C-5BE8-FAB7365DA95F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F2E66AB-34ED-3575-8FC7-02E673C4C993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1B4A3C8-79FB-8768-25C3-77A726D9C85B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E52F1176-5246-B82D-7C48-77CAD21E1314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A36BD30-05EB-A8A5-E6E0-966196DD94A0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0E3C115-C5E8-8155-04A3-2B2E1F0170C7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B866F61A-C0B8-94DD-343E-73197F3DB74E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B3CE5AF-AD90-E287-000A-CA57820AB542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4D626A1-6BB2-A8F2-1932-7496F98E2A0F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B941C53-FE31-5646-AE1B-FF758E23E405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21124CD-B75D-564D-96F2-DC744061D656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4E780FC-3779-DC50-D370-D26929B34C33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930AD1-DD15-B9E4-8109-880457E4C15F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C7FEBD-AD8D-285F-6851-49293B5C2BE3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66D086-F59B-3CBB-2EAC-AF9B94697090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D9D090F-EFEA-98E5-77E9-AFCB4C546854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F881B1-ADF9-F0EB-4187-0B189970F4D7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74D179-D0A9-9261-163C-3BED57706FD6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9DE3F52-C90D-E55F-8277-6FA2ED395192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7C732BB-A374-4D0C-ACD2-EEEC9EE52FE1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C626B88-883D-C034-9932-9630BC6A1A7A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C1D11D3-5280-61E5-724E-76F0AC19D364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68DFD62-AD49-0DD5-6DBD-93EBE185344A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51A5544-1F69-AA70-3873-C5A007A9AF61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49477D3-AEEF-A2B7-93AA-EC1D33BFB8AC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4909D40-C6AF-9160-468B-E2D69C3E22EA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6B5558E-A6B2-D3C0-1C17-B464C1AA2A28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82F919F-5935-DC06-8673-6D568560F7B1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01AB9D0-731A-F9E7-106E-32D5422703AF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50967E-3175-CEF8-A6CD-B7F7935F38E4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D13B9C-A4A1-38C7-AE32-C267C8EAC149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4A98F4F-9F49-282B-A7F4-8C5467DA6921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9099AC1-37D2-62EF-27F7-4BE519954BCB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C3F6686-407E-A2B9-2685-BD8DA0D2D12F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D7F5224-6C09-3853-672D-383FF0CE45C3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444B55-E6F3-32D9-1685-F2EDB0A43836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2910B9C-7796-A0C8-D937-BDF35E263ECB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4788944-9F48-1738-1D24-4F18CE57741B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9D7AC34-9EE5-CB44-6C31-DC4DFDCCFD6D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ACEB6C4-60A4-9D1D-ACAD-E3C22FDA5BF7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952355C-6F7B-3586-A66F-A38954FA0CFA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F1BD8C9-56ED-E3DE-B3F2-FE57C68A7C34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3F4401-BC6C-DFC6-8468-CF365009E594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40D406C-FEE7-E023-E406-5A7EC329D872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D2988D1-87A5-EE2A-B358-88DE21FC3643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BCB611A-0590-2A28-93F0-E028B6AB31E7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4A7067-9A3A-801A-E6B4-A959BD9EFD15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2575612-64E9-3F60-96DE-F284814FA5A6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3BD0B1-9A68-FB56-75D5-8FB5C801E869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6210BA8-791F-BA61-A42E-A4BCEB1662E9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C31D3ED-A849-9FF6-36DC-1727803CA863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6BEB6BC-8E91-1C5D-4C44-1C682300AB3C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4DB8FA8-62FF-1A2B-1FDE-7CDF337A9548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F9562C2-43A8-B554-69AC-FEDAD7C9A6AF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C02A2B4-CCCD-46D2-C5E1-6A68702D7FDD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E2D82B4-E177-43AC-E8D8-6EE8FE1C48C6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923F2C-41C7-CA38-A2E3-DFF5CADCE7C0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2E55DE5-DCAA-8586-0C1E-85AF34982BDF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4F624C-DCA0-2EDB-3E0C-749A5DB59F4F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91339F0-D11A-8F2E-AC43-CF4008BB99C4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3AB9B3C-FEF4-AE5E-2BEF-D3BB8D02FD98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7673DFB-32AE-7FCF-412C-2A083EF71D99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9F2221B-39A9-5A7C-85D1-EA365EA4A7DC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60ED0EF-5965-BC20-6AAC-087431FE3126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81B7DBE-3DD4-4838-8942-75C2E1EA024D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4F22ACE-5611-F5B8-89A9-569CDD27B76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3AFE7E19-E1F6-197F-34A5-85BEB2E852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74DBA9C-89F5-3268-1BFC-E9341778126D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FB354BC-10AD-3CD7-155D-B151D82D5411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B10EA52-6CE9-E571-37DE-E7D9916EF8BE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2379B5-4C6B-0C8F-C90D-CD87FA9E2BDE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50D8F2-88DB-2543-645B-149D8C63D565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F8732357-D9E8-F0FB-84FF-41201D2F74AF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28C8363-4D5D-FDFD-9FE7-65B970681EAA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2CED0610-CC72-69E8-CDA2-EF74A23594FD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B8A1114C-D919-E7B0-99A6-6A75EB21FD8E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61C8DA4D-1D0B-FD94-798B-2B02451949EE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1C057197-BE64-E65C-4381-6D1CEF296386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2F5920D-2348-776D-7121-C404944691C0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567BE2F-6293-4F74-4989-FF544036E2A3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76426B4-1E6D-C5D4-8A65-9D072580EAFE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61E8F2F-3164-F33E-0BDF-1E3E752287FF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47CFBC0-C414-7C93-8490-79BF52DB1A3C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8E2C75C-3F98-D476-C60B-F4821B348892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16D067E-D709-5836-121D-0D2244E35FB6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BF40A62-4CBC-6571-3E99-19EEE70406CD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9CE55DA-84FC-28D1-8CF9-F94ED80A1998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9000D3AE-5FC4-E059-9E93-576881264450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E8AA6AC-9D12-5ECA-5E49-B3EBADE6B61A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E827CF5-F510-84CB-97A6-CCA7CC15D6EF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098EF9B-4BCD-9899-1DB1-DB5E043EE8CE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91BC567-F136-43D9-AB8B-4F141DD69225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E1C9895B-24E7-B7F6-B701-F482D808CD5B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0A8EBEA-38AC-20EA-F1B5-15E93B49A33D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C5203B5-2FAB-7B86-E08E-6C21A1E48D60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9479F51-35B0-5723-6422-53726C0010DA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154BE1D-9444-CA5A-A8F9-4314386E04B0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57A89D-8A0B-78EB-95FE-CD2BDFF1A2B3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FD93693-D2DF-0DBA-ABC9-1D76AF88B106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DCF73FD-437A-83CA-E8A6-5460C727872B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F1A6A82-BE2D-85A4-E87D-3B92E82E9864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2C7190F-9CDA-08EC-C511-CF054EE4337C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AE0CEBD-AE62-F77D-A72D-3E1657A2B915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4F1105-D870-B780-7E7F-6AA5E3A34055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62C91B8-A3C1-14E0-70A6-B269262158D4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0E65721-51DD-21DE-317E-7586CF5DB6D2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6FDD559-5051-A2E9-70FD-A87578E7D845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2A19A98-4F45-5CA8-EEB1-F101D08FC366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C2C3EC3-1A33-08BA-48D4-EFAEAC9FF02F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E681B-F77F-6762-20EE-EBA0F7EE2B08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5CE302-4BA6-7667-5848-F33F1849C675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139863F-BF50-0BB0-7AB3-585AD63A333B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A537B4-6FAB-7B1D-6870-092FBB5021BA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56EE70E-BD07-89B0-01FB-F0C3666E8166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D7DEEC1-5FD7-EB4C-CBA5-0D94968FA3E0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C5F86AA-6CA7-5B80-F54A-6DB11DFF3F93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F66141F-7537-E847-6F24-A0A5974A2E5E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4A62BAB-AB16-961A-E10D-DDAEDB33BAFD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D848713-68A0-3325-D4A5-095B437A297E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77BE697-1DC1-6111-22E9-7BB5CD7CFFAE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52DB3EA-C7E4-1073-12D1-1FCA62673AB4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B81CC06-CD1F-9D57-7C4E-393E8DDB90AD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238419B-9DB9-3AD2-441C-072ABC209271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B6C2B9D-DDF8-D320-8D51-0561C5B4CF19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3488723-124C-7F3C-2C81-6F7D63855D81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3834DD4-ED67-43E7-E2BC-6AD39B2B2EBF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6839BED-28C4-85C4-F3ED-EE5387AEC131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780A95E-E772-D52F-0C91-2ED5497533DC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32CB556-4A39-620C-6AA2-867A70253482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EC0587A-E301-74A7-A90D-91B5548D0480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236614E-FFDE-B187-EEB7-D27273FD5E14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C9282FB-43D4-98FD-3462-D9FB673FC03D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0F64F61-54FF-8C10-482E-6B3137D81CC2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8631F33-F39C-185D-7D0C-57EFDA057469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712FFC9-A605-B297-4828-DA9969939789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A362DDB-D06C-ED24-FE19-150F546812D1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923123E-2E66-219F-B690-2D944D9BDFC7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0F6A26C-1A1C-1D08-DF55-33F8FA5BA494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CCA5EE1-B78A-F053-0D72-3642C339083F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8D69056-12BF-F59A-438B-0D9FEC2785D8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E043598-D03F-E548-2BE2-8E414DB38316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9641AA-B8E1-F756-E7CF-7BB9297F0532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BAEA837-21DA-68DD-2E4C-71D284076220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ACC7057-44E9-28A6-7221-DEAA270D2AA7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036F08C-D5FE-B9EF-079A-5B38C47E7737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3C819FC-230C-4DDF-90FD-2BD2931E47B3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A5652B99-1C4B-C204-3F63-DFB4C6F380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B258B7AD-07FA-573F-FF84-8CCD9CBDD91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46A800B-BFA4-D7E7-44ED-FFA8F998A177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00D07F-198D-DD5B-D25C-33E7823560A1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F7E2457-3AF3-B652-2847-EB64D726356B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8AE5228-A445-7AAA-0488-D0E3362D622F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B3F96F-C501-E8F2-CFA7-B4D5E007B517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D76571FD-E164-632D-4DE7-C5D9807034EA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583AB107-B789-550C-AC47-55F825489712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A60B0B67-D4C1-6744-6BF7-4C39BE4A1E19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B63B9674-C1F9-6D3B-E3C5-240B09BE4B88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D69EFB1F-B3D0-87FF-282B-B25611AF438C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9AF96127-D15F-C199-8B83-B2108E28BD38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FA1813D-1203-4EF7-7C3C-6370A2F4252A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5A00DF6-79C6-E6BD-220C-9E690E5D0938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D1527E5-A971-B400-9AC0-E26D2DC1E946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C8DA96B-5B08-478A-0588-1F7F2F766BD6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D3FA00C-545D-6CD0-5CF8-F89299BFF0CC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B7F4ECE-6278-CA16-5E26-1F6700B57289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A0800B9-5B13-F7D5-BB6C-B090D3064113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49824C6-220E-1B7B-F59F-5F5377CF3F0F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BA7C7B0-FE81-690F-209A-BF7F5BA3D838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B32D4CC1-C87A-FAF2-283B-5D7914468613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1F6493E-E010-56CD-1654-BE8F5EE22773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A26DDCB-6DC2-3D04-F140-C1A51C4DFFB6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2924206-C91E-C2A1-89F0-1002EE45F5A3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692E32D-9E23-CC5B-3D8D-AF80D01F0643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4482FF7-3ECF-3B4C-2060-6100FD5FF168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E5D826-F03C-593E-2BC5-F9987A319687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B13E2D-67AD-BFC0-A351-2336B02F6BA2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A4C5CA-DF6C-88D3-1D78-D77097370759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E528618-3798-16AD-B454-E86C2D5412A2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A4412C2-CE06-8A2B-28F2-212C16B6A9C9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D16E702-39A1-6879-7855-5D66B8F95AD5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68F4BF-AFBB-D5B4-D27E-843B1DBA45CC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E9FEC4C-93C0-7A99-8372-0F66E36E882B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B4194A6-A251-79B8-C4DA-67A2F210F2E4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3E3B8E-A3DF-DF8D-0AD7-A0CB29A3DC34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CAF0CB8-8328-A63D-ACB1-426F6EE1FB39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AA388C6-E887-AA2B-A8C7-29C71F06EF79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ECFE17-980E-00E2-DFFA-5CB4CC89F056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FE31A5-EC7D-17C3-6B78-AD67986DAB63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4722656-6A66-1ACD-BA3C-F4DB390BFFFF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5E81195-8AEB-8AFA-C749-762D97005924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AA01CA-7F2A-E4B7-49E6-7BC918F6F911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4A16FFC-4884-283C-C5B3-B00A76593682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3B3FFEA-DBE1-1380-D766-4A6091C0D970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0A05F62-62E7-C20D-D9A2-C992C0668B4E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48FDB5C-7CE6-4978-2B17-C278FE11B1FD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EB34874-1A67-FA9C-0BAF-D99C397B733D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60D3CBB-D1AF-8BB9-7C04-0F3AB6241D9F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8522925-5C8B-77BB-8F88-1024056C4891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F035D03-972E-D262-6D18-49210C1C7F2F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DD4B43D-4AD1-9209-A233-56BF828C7D5D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5674C7C-057B-BB95-54C0-281968340EAC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34EB535-B381-E4A9-7880-A16A71823E60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3D97A0E-28D7-1611-8907-3FE5CF9A90D4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7CB4582-15C0-43FF-08F7-FFD5A5F7A5AC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F47B9E-6538-EA5D-5B93-659C4E81C072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6A5DCCA-D0E0-37C1-31D6-41F70EC0A11E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0C04DD6-8896-2817-1CFA-D2D59AEC79B5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752630F-DE55-F228-9160-FC833130F7F9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6FAC35A-70BC-C720-98C2-28C6E7B1A2A6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B793033-CE1A-AD7C-1076-9DD199032208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34713C1-8D00-4AFE-FDC2-96F426FBB0D2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F3046F0-5DBD-81C8-46C3-B061FCD19DBB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B193D65-2BBE-97E5-32EE-40191DCDA7BC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4D86009-0BB9-F02A-3B77-4A4728A26A09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AF9AAE2-E7B1-9BF2-8257-F3135E17F6D0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61316FC-F0FD-A86D-FA05-3B392962F290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E84FDC5-9A92-B7DC-43D5-317415ACD034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BA35B50-CF2D-42A4-3167-9966E2CBC7A0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E66EF26-C00A-85F1-4079-6711D739BCDC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A7776AE-A915-B5B9-1321-D159E39947FF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5A041C6-D8D8-1ED3-23FC-BF8F4AAFE935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4390E3-7EA5-9BFA-4CB6-F52554FF4680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781E1B3-AD8D-AA4E-8EFA-17049C33B11A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4123C39-91E3-B7C5-C3DA-4D6C07F613F6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08E24BC-C42A-422C-222D-6A23FACC285F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CA2A674-B885-E8EF-798F-09DA33221D73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1E367F0-E56B-4C47-9172-1CF5ECA13C5F}" type="datetime4">
              <a:rPr lang="en-GB" smtClean="0"/>
              <a:t>12 May 2026</a:t>
            </a:fld>
            <a:endParaRPr lang="en-GB"/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DC94C89D-67AD-FC1A-9F5E-9BC71A53B7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3BA8EE11-5084-A67B-FA98-5F7344EBD35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E0DCD0A-F725-FBF1-1019-7395CF44369E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41677AA-F025-44A6-EAF4-9EC72E738B1F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8974479-670B-CDA5-7F0B-291286DB4405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F21FE9-5385-F529-3FAF-E562958496C7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9E3816-ECA0-7211-2C43-5C5338A96BA8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F96657A7-2733-EB44-B071-E190360EEA77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7748E8D-CF62-04E8-8AD2-D503DA841EBB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604E9088-E57B-267B-BF6E-974987A67BEB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2AB7DDE6-03F0-5A8C-E1B7-B0A04F4E3C75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16FED037-4FB1-0F4F-0F23-495D885AA0A0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3E75D52F-A93F-C950-3526-99AB2FD459A5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79CE5EB-0EA9-929A-E7DA-CDC7FB23FD03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D0DE02C-4F2E-3055-574A-79FEC4BF16A3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2316073E-E6CB-01DA-6605-BABB832CCA3A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51451DA-CFFE-BA1A-3626-98422B50E05A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5FDDCB2-2AFA-EDC6-FDA8-006C30027B54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8CF22BB-4220-CD19-A34E-BC00A8BF97A4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FB57647-3B05-BA88-8CE1-B38F8FD7B638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7E48EF6-1711-951B-1C52-E431AD779B9B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399FC6B-4AA1-15CE-BBC1-D7B4DCA7F153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177FC93E-CB2B-A568-AA6A-96271E8B4EE3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6544F8A-2CC0-C4D4-1FDE-214DAD0EEC75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71D566E-B184-A080-54A1-E0B936843D4F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5CF78C0-2DC6-131C-E350-B75D3243A603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CAE1291-58FF-EE89-CA1C-5AB0353C40A3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727C62C-58FF-271E-036C-EA2263754055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D0B9295-C5FC-10D7-1104-280B21BDCD3F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44E4454-3F67-4001-909B-C6EDFB4D6866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E4609DE-45C5-74CB-6C5B-B56250E3D019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8600278-3537-2696-4B12-79355A72420C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6E27820-83FC-8DF6-25CE-8AB0ED6709DF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0F059DE-D566-4B84-FB93-44C6E118DE13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A88F99F-1F91-6D11-CC7C-E06AE950AE49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A14305E-DE8A-6707-801B-B2098BA77785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FE99F35-653E-AE87-2774-D37F0E06FBC3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3244AAF-049C-89B7-DCA3-F4B4D04C8BD4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36BE04F-B955-2933-D7AD-309C7C781B00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0936CE-FD6B-8E5E-DF1C-264BD410E56F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A878404-7FD8-92FD-581E-78EF8988B705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979FF04-F87F-625F-95FC-886A80BA361B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59495B-CADC-4FBC-B0D3-5580177AC3DC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8FFEEEA-BF0D-EED0-405A-F9AD312C9D10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012D3A-4835-B098-C607-B23310178205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383EB6C-CA73-2C98-3CD6-7C39FB918B76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FD6BCA9-7356-7D16-2AB7-CA800D371073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47A840D-FD06-61E5-341E-8E3E1A6FFA4D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163A4C9-5763-CBEF-7336-899D42E9B727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3CB14D8-4F79-4F3D-39AA-321625D658A1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AF4FD6D-CD36-68E3-87B4-47065EF26659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76A60AF-77D5-2FD2-B196-5F66E1F04859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AC028F8-62D3-E3FF-17AB-BFB2059B8AC6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363CDF2-3237-188B-21BB-1FF25E62F790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519A918-21AF-7E34-5CBE-6F298106AF00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FF3C982-87BC-40DC-0A5C-14AAB1CF40FB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2888C9E-B60F-984E-126E-188B41154B79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F27B50B-32E4-DBF5-AD28-C6B3D6EF48F2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3401896-4394-08EC-4477-9F9C680D48E5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8D03467-F744-4F8C-E91D-26C5DF1DEF15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F45AD81-EFF9-8360-094E-F5AD0115F4D7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AD55C57-73E8-0AF5-5BBA-BED2F5720C0C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33A5A5D-A59E-F9DC-1271-AB5C679DF7EE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8400239-9E26-8BED-E640-6CCE1108E6AA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2D2DAEC-0505-D043-5F36-0C597B52564C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9864017-71BD-8BF8-7D0D-A6E9FFF83E40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CE45A13-3AC5-4892-E9F4-EEB9065B9FFD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57C43AD-52FA-64F8-4D3F-57AB9BD0083A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657E853-BC63-4ECD-9957-F61644735548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5924CE2-D3A0-0C80-915A-FB6B4588B913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98031E6-6A35-EDBA-A603-D7378A9590F1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70521AF-DC76-E0E9-BA38-A1E76B55F40B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EC687EF-5400-104C-029A-D00AB030DBD6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3DEC360-28E2-A26E-5C5A-BB160E8E5DFE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204503D-930C-AE08-CB91-5D87FC656BD8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768121D-C67F-C67E-264E-4D658906EE5F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89AC948-67C3-4B77-06ED-25F63EC9E610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B0BCA84-951D-9159-3329-3B9E7A947C3B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C083F34-9F21-1EB2-9596-A22344DAAA1B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AFF2330-F296-68B4-6C25-87096A00AE93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9F9F6DA-54B0-4E86-A2E9-77437AD922F7}" type="datetime4">
              <a:rPr lang="en-GB" smtClean="0"/>
              <a:t>12 May 2026</a:t>
            </a:fld>
            <a:endParaRPr lang="en-GB"/>
          </a:p>
        </p:txBody>
      </p:sp>
      <p:pic>
        <p:nvPicPr>
          <p:cNvPr id="4" name="Picture 3" descr="A logo with red text&#10;&#10;Description automatically generated">
            <a:extLst>
              <a:ext uri="{FF2B5EF4-FFF2-40B4-BE49-F238E27FC236}">
                <a16:creationId xmlns:a16="http://schemas.microsoft.com/office/drawing/2014/main" id="{8DB25980-942F-BCB0-63D6-9E1EC9E4F27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4C8A55FB-A312-023A-E6D6-9FA5A7265D2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1A71BBA-334F-A93A-42F0-7FE6ACAA1FBE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67B0825-CB16-8B8B-D690-C5157A021FBC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0227346-5EBD-0CE9-2493-3E5BD6C5EEA3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229E63-028F-EF3C-1B95-2E61EB6F355A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CF458F8-8CCF-0F05-5165-8C51410680C2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5" name="Graphic 3">
              <a:extLst>
                <a:ext uri="{FF2B5EF4-FFF2-40B4-BE49-F238E27FC236}">
                  <a16:creationId xmlns:a16="http://schemas.microsoft.com/office/drawing/2014/main" id="{665C9FC8-8A8B-E44E-962F-10A24B11307F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FA61436-CC82-2162-C13B-61FEE9E3AB3F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5" name="Graphic 3">
                <a:extLst>
                  <a:ext uri="{FF2B5EF4-FFF2-40B4-BE49-F238E27FC236}">
                    <a16:creationId xmlns:a16="http://schemas.microsoft.com/office/drawing/2014/main" id="{5D8B67BA-0281-6E11-79BA-BD8D0E3D1717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CFCC55D5-9162-9A66-4288-1C2249DA5AC8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30467841-5A38-A61C-A1A6-D5357C54D994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B8F12597-B5E3-58FD-C7C9-F656A53E5180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D1A2A25-836A-9332-F113-4EC340DC36E3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9D9DDF8-3928-B1A6-18F1-B45553AA4871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F5BE9F0-B43E-6F7A-8D31-B2921A8C3B11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6C874DF-E4B7-9C92-4DE3-B10E5745D6C9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25E38CB-9300-CFFC-543D-8135E1414D97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B334577-256E-1388-97CD-45F6303C9FCD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638BA9C4-C794-0C00-AD75-4A6C95A4B0B6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C2F4BE2-1760-793F-9CC4-7961A7450240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AEECD53-CA12-1CFC-938D-7B807C6377DC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C5EA5C05-6303-4A57-5FB4-C98D36690B36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AD3E836-0C24-E5C3-8890-B3690AA351C3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AB6B10B-B13A-91CD-D5E4-4FD3869E4C1F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6019959-C484-B38A-767F-7E02A80EC16D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D93E255-EC10-AFAB-3719-4EF127046270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1240B95-22E5-FF1A-EB31-1D6D4C7F249D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31C912C-2C9A-0CCA-D0F3-9796D8F0262C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AE6A029-C78C-726B-7BB6-AE038AB5F976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0866E6-D18B-8876-5537-3D62BCDF3287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F599B63-8A15-D5AD-AE4C-D5A6AC826166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AC6A591-3338-2849-5A62-33795BFA0742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2296CA-822A-E49F-1009-7EFAE272E3FA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78AC307-61BC-305C-E71E-B258518F66CA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A855BA3-89B1-776C-ED6D-4EE7FD111F02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7022E43-3E9A-5BB8-0308-FFD0D2D44766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0D86FB-FD96-B8C4-C3FC-F7DA3F0084AD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D4D265-6205-5294-43DA-59F3652A214B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36CC76-3400-061F-F3F8-7114667ACAFA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3BB2A3-5446-DD4F-1700-836C18DE0051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68F7227-71C5-F995-4363-EB5CA759E51B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87DCDE9-0E38-A860-123E-9B408D56A7C7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E5903DD-1828-6B1A-0811-47E2E0B69E24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EB4FA1D-AAF7-9DC8-6456-113D6CA32253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B938E93-01F3-7339-A183-3C04D84211D6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4000741-95C4-E875-83C1-D8A6DAD54D49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9464FF7-C28A-B46C-54C1-117D42CD0444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0706AF1-4B8C-6684-8BBD-134B9A700075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E5A14B2-3A30-697B-E862-9378383D3D19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3C53814-04C3-3F39-E729-86E568D4267E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313E0C8-CC23-2D55-40ED-05E50CD604CF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7CE1AA1-F5BD-8B67-F78C-62753F41F041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F36CA8A-3DCF-84D1-19D3-004E840075F0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28392A-5398-D0C0-8EC5-30BB46FAD79D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91D1431-E038-2137-4CE2-37611848585F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AD2E192-8037-293C-3548-8975FDAAF04A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3D54493-DA21-484D-B9BE-36FFBA2FBC7A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AA4F08D-4F65-C48D-48B3-436BF2416B1B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BC9F189-0488-067A-83A5-06F33CD621E5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29ABEF3-3437-F616-25BA-76C1C293C0CB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0DD1E69-43E7-E0F6-925C-DA0ED58259CB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B155457-8C59-5774-9DED-99050F05437F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5D35FE4-6264-3D92-62C6-96A6F7B1210F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1DD3CDC-58AE-49F6-046F-40882BD9A10A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31B26B-E696-7CD7-A0AC-5B80991FB5EE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429C2F-15D4-CA19-0FBD-515B05503C72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FBA60EF-A01D-A693-4259-715288B41ADC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6CA86CA-48A0-0705-850D-F220634011F8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E5BEF1B-B3F6-5F53-AA33-65FF5980BD3C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0B781A1-43DB-AABD-40D6-845471A17281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9145549-51E6-48C3-5C87-21E92995B3FB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B5F92C6-AA36-2573-4BBA-A17612C112E8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951805B-87CD-09D7-F481-3595B394CAB5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CFCB6D5-BFC9-91B7-828B-FE7758C1ABA0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BB8B26B-BEBB-F8BF-AB4B-94F755C11779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03CB493-6FC8-42E9-2DF0-52715CBFD97B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ED880D8-8B75-CDBF-5EE8-E10E34C24277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FAA726C-7333-8EF8-B010-F96597EFD029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86E701A-19E4-7302-9811-3C6B13743FC1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6701188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435600"/>
            <a:ext cx="6701189" cy="73183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curae;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6701189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logo with red text&#10;&#10;Description automatically generated">
            <a:extLst>
              <a:ext uri="{FF2B5EF4-FFF2-40B4-BE49-F238E27FC236}">
                <a16:creationId xmlns:a16="http://schemas.microsoft.com/office/drawing/2014/main" id="{913EBF5D-1CD5-59BC-80C3-B23F5516EFD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9" name="Picture 8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5386AE52-347F-1477-D3FC-2216088F74F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4DA720-4294-42CE-4DF3-D019AB615C89}"/>
              </a:ext>
            </a:extLst>
          </p:cNvPr>
          <p:cNvGrpSpPr/>
          <p:nvPr userDrawn="1"/>
        </p:nvGrpSpPr>
        <p:grpSpPr>
          <a:xfrm>
            <a:off x="8227477" y="5847136"/>
            <a:ext cx="2772644" cy="631029"/>
            <a:chOff x="4757737" y="3124200"/>
            <a:chExt cx="2678906" cy="60969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70BEE3-3652-1DF1-FCFD-8857FAE4E073}"/>
                </a:ext>
              </a:extLst>
            </p:cNvPr>
            <p:cNvSpPr/>
            <p:nvPr/>
          </p:nvSpPr>
          <p:spPr>
            <a:xfrm>
              <a:off x="4778375" y="3143250"/>
              <a:ext cx="2636838" cy="571499"/>
            </a:xfrm>
            <a:custGeom>
              <a:avLst/>
              <a:gdLst>
                <a:gd name="connsiteX0" fmla="*/ 0 w 2626995"/>
                <a:gd name="connsiteY0" fmla="*/ 0 h 558831"/>
                <a:gd name="connsiteX1" fmla="*/ 2626995 w 2626995"/>
                <a:gd name="connsiteY1" fmla="*/ 0 h 558831"/>
                <a:gd name="connsiteX2" fmla="*/ 2626995 w 2626995"/>
                <a:gd name="connsiteY2" fmla="*/ 558832 h 558831"/>
                <a:gd name="connsiteX3" fmla="*/ 0 w 2626995"/>
                <a:gd name="connsiteY3" fmla="*/ 558832 h 55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6995" h="558831">
                  <a:moveTo>
                    <a:pt x="0" y="0"/>
                  </a:moveTo>
                  <a:lnTo>
                    <a:pt x="2626995" y="0"/>
                  </a:lnTo>
                  <a:lnTo>
                    <a:pt x="2626995" y="558832"/>
                  </a:lnTo>
                  <a:lnTo>
                    <a:pt x="0" y="5588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7E2787-4AFD-96CF-B600-0E3DCB9E38F2}"/>
                </a:ext>
              </a:extLst>
            </p:cNvPr>
            <p:cNvSpPr/>
            <p:nvPr/>
          </p:nvSpPr>
          <p:spPr>
            <a:xfrm>
              <a:off x="4757737" y="3124200"/>
              <a:ext cx="2678906" cy="609695"/>
            </a:xfrm>
            <a:custGeom>
              <a:avLst/>
              <a:gdLst>
                <a:gd name="connsiteX0" fmla="*/ 2653570 w 2678906"/>
                <a:gd name="connsiteY0" fmla="*/ 25432 h 609695"/>
                <a:gd name="connsiteX1" fmla="*/ 2653570 w 2678906"/>
                <a:gd name="connsiteY1" fmla="*/ 584264 h 609695"/>
                <a:gd name="connsiteX2" fmla="*/ 25432 w 2678906"/>
                <a:gd name="connsiteY2" fmla="*/ 584264 h 609695"/>
                <a:gd name="connsiteX3" fmla="*/ 25432 w 2678906"/>
                <a:gd name="connsiteY3" fmla="*/ 25432 h 609695"/>
                <a:gd name="connsiteX4" fmla="*/ 2653570 w 2678906"/>
                <a:gd name="connsiteY4" fmla="*/ 25432 h 609695"/>
                <a:gd name="connsiteX5" fmla="*/ 2678906 w 2678906"/>
                <a:gd name="connsiteY5" fmla="*/ 0 h 609695"/>
                <a:gd name="connsiteX6" fmla="*/ 0 w 2678906"/>
                <a:gd name="connsiteY6" fmla="*/ 0 h 609695"/>
                <a:gd name="connsiteX7" fmla="*/ 0 w 2678906"/>
                <a:gd name="connsiteY7" fmla="*/ 609695 h 609695"/>
                <a:gd name="connsiteX8" fmla="*/ 2678906 w 2678906"/>
                <a:gd name="connsiteY8" fmla="*/ 609695 h 609695"/>
                <a:gd name="connsiteX9" fmla="*/ 2678906 w 2678906"/>
                <a:gd name="connsiteY9" fmla="*/ 0 h 609695"/>
                <a:gd name="connsiteX10" fmla="*/ 2678906 w 2678906"/>
                <a:gd name="connsiteY10" fmla="*/ 0 h 60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78906" h="609695">
                  <a:moveTo>
                    <a:pt x="2653570" y="25432"/>
                  </a:moveTo>
                  <a:lnTo>
                    <a:pt x="2653570" y="584264"/>
                  </a:lnTo>
                  <a:lnTo>
                    <a:pt x="25432" y="584264"/>
                  </a:lnTo>
                  <a:lnTo>
                    <a:pt x="25432" y="25432"/>
                  </a:lnTo>
                  <a:lnTo>
                    <a:pt x="2653570" y="25432"/>
                  </a:lnTo>
                  <a:moveTo>
                    <a:pt x="2678906" y="0"/>
                  </a:moveTo>
                  <a:lnTo>
                    <a:pt x="0" y="0"/>
                  </a:lnTo>
                  <a:lnTo>
                    <a:pt x="0" y="609695"/>
                  </a:lnTo>
                  <a:lnTo>
                    <a:pt x="2678906" y="609695"/>
                  </a:lnTo>
                  <a:lnTo>
                    <a:pt x="2678906" y="0"/>
                  </a:lnTo>
                  <a:lnTo>
                    <a:pt x="2678906" y="0"/>
                  </a:lnTo>
                  <a:close/>
                </a:path>
              </a:pathLst>
            </a:custGeom>
            <a:solidFill>
              <a:srgbClr val="FCD0B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9C4588-D36F-D5AB-0CB1-2838803873C1}"/>
                </a:ext>
              </a:extLst>
            </p:cNvPr>
            <p:cNvSpPr/>
            <p:nvPr/>
          </p:nvSpPr>
          <p:spPr>
            <a:xfrm>
              <a:off x="5609653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0CA9887-1400-4A35-763B-4D7A8B0FE4E4}"/>
                </a:ext>
              </a:extLst>
            </p:cNvPr>
            <p:cNvSpPr/>
            <p:nvPr/>
          </p:nvSpPr>
          <p:spPr>
            <a:xfrm>
              <a:off x="5605366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8" name="Graphic 3">
              <a:extLst>
                <a:ext uri="{FF2B5EF4-FFF2-40B4-BE49-F238E27FC236}">
                  <a16:creationId xmlns:a16="http://schemas.microsoft.com/office/drawing/2014/main" id="{92FD4530-DC08-5A02-DDBA-E49EA8BB4382}"/>
                </a:ext>
              </a:extLst>
            </p:cNvPr>
            <p:cNvGrpSpPr/>
            <p:nvPr/>
          </p:nvGrpSpPr>
          <p:grpSpPr>
            <a:xfrm>
              <a:off x="4876799" y="3243548"/>
              <a:ext cx="184499" cy="184594"/>
              <a:chOff x="4876799" y="3243548"/>
              <a:chExt cx="184499" cy="184594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D1A44D6-0D70-A852-8A92-EA55FB073B35}"/>
                  </a:ext>
                </a:extLst>
              </p:cNvPr>
              <p:cNvSpPr/>
              <p:nvPr/>
            </p:nvSpPr>
            <p:spPr>
              <a:xfrm>
                <a:off x="4876799" y="3243548"/>
                <a:ext cx="184499" cy="184594"/>
              </a:xfrm>
              <a:custGeom>
                <a:avLst/>
                <a:gdLst>
                  <a:gd name="connsiteX0" fmla="*/ 0 w 184499"/>
                  <a:gd name="connsiteY0" fmla="*/ 0 h 184594"/>
                  <a:gd name="connsiteX1" fmla="*/ 184499 w 184499"/>
                  <a:gd name="connsiteY1" fmla="*/ 0 h 184594"/>
                  <a:gd name="connsiteX2" fmla="*/ 184499 w 184499"/>
                  <a:gd name="connsiteY2" fmla="*/ 184595 h 184594"/>
                  <a:gd name="connsiteX3" fmla="*/ 0 w 184499"/>
                  <a:gd name="connsiteY3" fmla="*/ 184595 h 184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9" h="184594">
                    <a:moveTo>
                      <a:pt x="0" y="0"/>
                    </a:moveTo>
                    <a:lnTo>
                      <a:pt x="184499" y="0"/>
                    </a:lnTo>
                    <a:lnTo>
                      <a:pt x="184499" y="184595"/>
                    </a:lnTo>
                    <a:lnTo>
                      <a:pt x="0" y="184595"/>
                    </a:lnTo>
                    <a:close/>
                  </a:path>
                </a:pathLst>
              </a:custGeom>
              <a:solidFill>
                <a:srgbClr val="FCD0B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88" name="Graphic 3">
                <a:extLst>
                  <a:ext uri="{FF2B5EF4-FFF2-40B4-BE49-F238E27FC236}">
                    <a16:creationId xmlns:a16="http://schemas.microsoft.com/office/drawing/2014/main" id="{70DDB2CC-D360-4353-E1ED-632BB8B7715D}"/>
                  </a:ext>
                </a:extLst>
              </p:cNvPr>
              <p:cNvGrpSpPr/>
              <p:nvPr/>
            </p:nvGrpSpPr>
            <p:grpSpPr>
              <a:xfrm>
                <a:off x="4897849" y="3268503"/>
                <a:ext cx="147827" cy="84677"/>
                <a:chOff x="4897849" y="3268503"/>
                <a:chExt cx="147827" cy="84677"/>
              </a:xfrm>
              <a:solidFill>
                <a:srgbClr val="333333"/>
              </a:solidFill>
            </p:grpSpPr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A153D93A-41EF-24BB-22CC-171A31B96849}"/>
                    </a:ext>
                  </a:extLst>
                </p:cNvPr>
                <p:cNvSpPr/>
                <p:nvPr/>
              </p:nvSpPr>
              <p:spPr>
                <a:xfrm>
                  <a:off x="4897849" y="3268598"/>
                  <a:ext cx="64293" cy="84582"/>
                </a:xfrm>
                <a:custGeom>
                  <a:avLst/>
                  <a:gdLst>
                    <a:gd name="connsiteX0" fmla="*/ 26670 w 64293"/>
                    <a:gd name="connsiteY0" fmla="*/ 4763 h 84582"/>
                    <a:gd name="connsiteX1" fmla="*/ 26670 w 64293"/>
                    <a:gd name="connsiteY1" fmla="*/ 39148 h 84582"/>
                    <a:gd name="connsiteX2" fmla="*/ 36766 w 64293"/>
                    <a:gd name="connsiteY2" fmla="*/ 39148 h 84582"/>
                    <a:gd name="connsiteX3" fmla="*/ 49054 w 64293"/>
                    <a:gd name="connsiteY3" fmla="*/ 28766 h 84582"/>
                    <a:gd name="connsiteX4" fmla="*/ 52197 w 64293"/>
                    <a:gd name="connsiteY4" fmla="*/ 28766 h 84582"/>
                    <a:gd name="connsiteX5" fmla="*/ 52197 w 64293"/>
                    <a:gd name="connsiteY5" fmla="*/ 53816 h 84582"/>
                    <a:gd name="connsiteX6" fmla="*/ 49054 w 64293"/>
                    <a:gd name="connsiteY6" fmla="*/ 53816 h 84582"/>
                    <a:gd name="connsiteX7" fmla="*/ 36766 w 64293"/>
                    <a:gd name="connsiteY7" fmla="*/ 43529 h 84582"/>
                    <a:gd name="connsiteX8" fmla="*/ 26670 w 64293"/>
                    <a:gd name="connsiteY8" fmla="*/ 43529 h 84582"/>
                    <a:gd name="connsiteX9" fmla="*/ 26670 w 64293"/>
                    <a:gd name="connsiteY9" fmla="*/ 73343 h 84582"/>
                    <a:gd name="connsiteX10" fmla="*/ 39529 w 64293"/>
                    <a:gd name="connsiteY10" fmla="*/ 80867 h 84582"/>
                    <a:gd name="connsiteX11" fmla="*/ 39529 w 64293"/>
                    <a:gd name="connsiteY11" fmla="*/ 84582 h 84582"/>
                    <a:gd name="connsiteX12" fmla="*/ 0 w 64293"/>
                    <a:gd name="connsiteY12" fmla="*/ 84582 h 84582"/>
                    <a:gd name="connsiteX13" fmla="*/ 0 w 64293"/>
                    <a:gd name="connsiteY13" fmla="*/ 80867 h 84582"/>
                    <a:gd name="connsiteX14" fmla="*/ 11049 w 64293"/>
                    <a:gd name="connsiteY14" fmla="*/ 73819 h 84582"/>
                    <a:gd name="connsiteX15" fmla="*/ 11049 w 64293"/>
                    <a:gd name="connsiteY15" fmla="*/ 11430 h 84582"/>
                    <a:gd name="connsiteX16" fmla="*/ 0 w 64293"/>
                    <a:gd name="connsiteY16" fmla="*/ 4382 h 84582"/>
                    <a:gd name="connsiteX17" fmla="*/ 0 w 64293"/>
                    <a:gd name="connsiteY17" fmla="*/ 667 h 84582"/>
                    <a:gd name="connsiteX18" fmla="*/ 52483 w 64293"/>
                    <a:gd name="connsiteY18" fmla="*/ 667 h 84582"/>
                    <a:gd name="connsiteX19" fmla="*/ 64294 w 64293"/>
                    <a:gd name="connsiteY19" fmla="*/ 0 h 84582"/>
                    <a:gd name="connsiteX20" fmla="*/ 64294 w 64293"/>
                    <a:gd name="connsiteY20" fmla="*/ 25908 h 84582"/>
                    <a:gd name="connsiteX21" fmla="*/ 60865 w 64293"/>
                    <a:gd name="connsiteY21" fmla="*/ 25908 h 84582"/>
                    <a:gd name="connsiteX22" fmla="*/ 39434 w 64293"/>
                    <a:gd name="connsiteY22" fmla="*/ 4858 h 84582"/>
                    <a:gd name="connsiteX23" fmla="*/ 26670 w 64293"/>
                    <a:gd name="connsiteY23" fmla="*/ 4858 h 84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64293" h="84582">
                      <a:moveTo>
                        <a:pt x="26670" y="4763"/>
                      </a:moveTo>
                      <a:lnTo>
                        <a:pt x="26670" y="39148"/>
                      </a:lnTo>
                      <a:lnTo>
                        <a:pt x="36766" y="39148"/>
                      </a:lnTo>
                      <a:cubicBezTo>
                        <a:pt x="47720" y="39148"/>
                        <a:pt x="48292" y="37338"/>
                        <a:pt x="49054" y="28766"/>
                      </a:cubicBezTo>
                      <a:lnTo>
                        <a:pt x="52197" y="28766"/>
                      </a:lnTo>
                      <a:lnTo>
                        <a:pt x="52197" y="53816"/>
                      </a:lnTo>
                      <a:lnTo>
                        <a:pt x="49054" y="53816"/>
                      </a:lnTo>
                      <a:cubicBezTo>
                        <a:pt x="48197" y="45244"/>
                        <a:pt x="47625" y="43529"/>
                        <a:pt x="36766" y="43529"/>
                      </a:cubicBezTo>
                      <a:lnTo>
                        <a:pt x="26670" y="43529"/>
                      </a:lnTo>
                      <a:lnTo>
                        <a:pt x="26670" y="73343"/>
                      </a:lnTo>
                      <a:cubicBezTo>
                        <a:pt x="26670" y="79439"/>
                        <a:pt x="28289" y="80867"/>
                        <a:pt x="39529" y="80867"/>
                      </a:cubicBezTo>
                      <a:lnTo>
                        <a:pt x="39529" y="84582"/>
                      </a:lnTo>
                      <a:lnTo>
                        <a:pt x="0" y="84582"/>
                      </a:lnTo>
                      <a:lnTo>
                        <a:pt x="0" y="80867"/>
                      </a:lnTo>
                      <a:cubicBezTo>
                        <a:pt x="8191" y="80867"/>
                        <a:pt x="11049" y="80486"/>
                        <a:pt x="11049" y="73819"/>
                      </a:cubicBezTo>
                      <a:lnTo>
                        <a:pt x="11049" y="11430"/>
                      </a:lnTo>
                      <a:cubicBezTo>
                        <a:pt x="11049" y="4763"/>
                        <a:pt x="8096" y="4382"/>
                        <a:pt x="0" y="4382"/>
                      </a:cubicBezTo>
                      <a:lnTo>
                        <a:pt x="0" y="667"/>
                      </a:lnTo>
                      <a:lnTo>
                        <a:pt x="52483" y="667"/>
                      </a:lnTo>
                      <a:cubicBezTo>
                        <a:pt x="59531" y="667"/>
                        <a:pt x="62008" y="381"/>
                        <a:pt x="64294" y="0"/>
                      </a:cubicBezTo>
                      <a:lnTo>
                        <a:pt x="64294" y="25908"/>
                      </a:lnTo>
                      <a:lnTo>
                        <a:pt x="60865" y="25908"/>
                      </a:lnTo>
                      <a:cubicBezTo>
                        <a:pt x="59055" y="7906"/>
                        <a:pt x="55436" y="4858"/>
                        <a:pt x="39434" y="4858"/>
                      </a:cubicBezTo>
                      <a:lnTo>
                        <a:pt x="26670" y="485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4C3F9E12-5E42-87F3-3938-D54F00F21C47}"/>
                    </a:ext>
                  </a:extLst>
                </p:cNvPr>
                <p:cNvSpPr/>
                <p:nvPr/>
              </p:nvSpPr>
              <p:spPr>
                <a:xfrm>
                  <a:off x="4971478" y="3268503"/>
                  <a:ext cx="74199" cy="84677"/>
                </a:xfrm>
                <a:custGeom>
                  <a:avLst/>
                  <a:gdLst>
                    <a:gd name="connsiteX0" fmla="*/ 62389 w 74199"/>
                    <a:gd name="connsiteY0" fmla="*/ 667 h 84677"/>
                    <a:gd name="connsiteX1" fmla="*/ 74200 w 74199"/>
                    <a:gd name="connsiteY1" fmla="*/ 0 h 84677"/>
                    <a:gd name="connsiteX2" fmla="*/ 74200 w 74199"/>
                    <a:gd name="connsiteY2" fmla="*/ 25908 h 84677"/>
                    <a:gd name="connsiteX3" fmla="*/ 70771 w 74199"/>
                    <a:gd name="connsiteY3" fmla="*/ 25908 h 84677"/>
                    <a:gd name="connsiteX4" fmla="*/ 49340 w 74199"/>
                    <a:gd name="connsiteY4" fmla="*/ 4858 h 84677"/>
                    <a:gd name="connsiteX5" fmla="*/ 44863 w 74199"/>
                    <a:gd name="connsiteY5" fmla="*/ 4858 h 84677"/>
                    <a:gd name="connsiteX6" fmla="*/ 44863 w 74199"/>
                    <a:gd name="connsiteY6" fmla="*/ 73438 h 84677"/>
                    <a:gd name="connsiteX7" fmla="*/ 57721 w 74199"/>
                    <a:gd name="connsiteY7" fmla="*/ 80963 h 84677"/>
                    <a:gd name="connsiteX8" fmla="*/ 57721 w 74199"/>
                    <a:gd name="connsiteY8" fmla="*/ 84677 h 84677"/>
                    <a:gd name="connsiteX9" fmla="*/ 16288 w 74199"/>
                    <a:gd name="connsiteY9" fmla="*/ 84677 h 84677"/>
                    <a:gd name="connsiteX10" fmla="*/ 16288 w 74199"/>
                    <a:gd name="connsiteY10" fmla="*/ 80963 h 84677"/>
                    <a:gd name="connsiteX11" fmla="*/ 29337 w 74199"/>
                    <a:gd name="connsiteY11" fmla="*/ 73438 h 84677"/>
                    <a:gd name="connsiteX12" fmla="*/ 29337 w 74199"/>
                    <a:gd name="connsiteY12" fmla="*/ 4858 h 84677"/>
                    <a:gd name="connsiteX13" fmla="*/ 24860 w 74199"/>
                    <a:gd name="connsiteY13" fmla="*/ 4858 h 84677"/>
                    <a:gd name="connsiteX14" fmla="*/ 3429 w 74199"/>
                    <a:gd name="connsiteY14" fmla="*/ 25908 h 84677"/>
                    <a:gd name="connsiteX15" fmla="*/ 0 w 74199"/>
                    <a:gd name="connsiteY15" fmla="*/ 25908 h 84677"/>
                    <a:gd name="connsiteX16" fmla="*/ 0 w 74199"/>
                    <a:gd name="connsiteY16" fmla="*/ 0 h 84677"/>
                    <a:gd name="connsiteX17" fmla="*/ 11811 w 74199"/>
                    <a:gd name="connsiteY17" fmla="*/ 667 h 84677"/>
                    <a:gd name="connsiteX18" fmla="*/ 62484 w 74199"/>
                    <a:gd name="connsiteY18" fmla="*/ 667 h 8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4199" h="84677">
                      <a:moveTo>
                        <a:pt x="62389" y="667"/>
                      </a:moveTo>
                      <a:cubicBezTo>
                        <a:pt x="69437" y="667"/>
                        <a:pt x="71914" y="381"/>
                        <a:pt x="74200" y="0"/>
                      </a:cubicBezTo>
                      <a:lnTo>
                        <a:pt x="74200" y="25908"/>
                      </a:lnTo>
                      <a:lnTo>
                        <a:pt x="70771" y="25908"/>
                      </a:lnTo>
                      <a:cubicBezTo>
                        <a:pt x="68961" y="7906"/>
                        <a:pt x="65341" y="4858"/>
                        <a:pt x="49340" y="4858"/>
                      </a:cubicBezTo>
                      <a:lnTo>
                        <a:pt x="44863" y="4858"/>
                      </a:lnTo>
                      <a:lnTo>
                        <a:pt x="44863" y="73438"/>
                      </a:lnTo>
                      <a:cubicBezTo>
                        <a:pt x="44863" y="79915"/>
                        <a:pt x="47339" y="80963"/>
                        <a:pt x="57721" y="80963"/>
                      </a:cubicBezTo>
                      <a:lnTo>
                        <a:pt x="57721" y="84677"/>
                      </a:lnTo>
                      <a:lnTo>
                        <a:pt x="16288" y="84677"/>
                      </a:lnTo>
                      <a:lnTo>
                        <a:pt x="16288" y="80963"/>
                      </a:lnTo>
                      <a:cubicBezTo>
                        <a:pt x="26670" y="80963"/>
                        <a:pt x="29337" y="80010"/>
                        <a:pt x="29337" y="73438"/>
                      </a:cubicBezTo>
                      <a:lnTo>
                        <a:pt x="29337" y="4858"/>
                      </a:lnTo>
                      <a:lnTo>
                        <a:pt x="24860" y="4858"/>
                      </a:lnTo>
                      <a:cubicBezTo>
                        <a:pt x="8763" y="4858"/>
                        <a:pt x="5143" y="7906"/>
                        <a:pt x="3429" y="25908"/>
                      </a:cubicBezTo>
                      <a:lnTo>
                        <a:pt x="0" y="25908"/>
                      </a:lnTo>
                      <a:lnTo>
                        <a:pt x="0" y="0"/>
                      </a:lnTo>
                      <a:cubicBezTo>
                        <a:pt x="2191" y="381"/>
                        <a:pt x="4667" y="667"/>
                        <a:pt x="11811" y="667"/>
                      </a:cubicBezTo>
                      <a:lnTo>
                        <a:pt x="62484" y="66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grpSp>
          <p:nvGrpSpPr>
            <p:cNvPr id="19" name="Graphic 3">
              <a:extLst>
                <a:ext uri="{FF2B5EF4-FFF2-40B4-BE49-F238E27FC236}">
                  <a16:creationId xmlns:a16="http://schemas.microsoft.com/office/drawing/2014/main" id="{965B6215-6E3A-A233-FEFC-0FB1F389704B}"/>
                </a:ext>
              </a:extLst>
            </p:cNvPr>
            <p:cNvGrpSpPr/>
            <p:nvPr/>
          </p:nvGrpSpPr>
          <p:grpSpPr>
            <a:xfrm>
              <a:off x="5095398" y="3268313"/>
              <a:ext cx="422052" cy="54768"/>
              <a:chOff x="5095398" y="3268313"/>
              <a:chExt cx="422052" cy="54768"/>
            </a:xfrm>
            <a:solidFill>
              <a:srgbClr val="333333"/>
            </a:solidFill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7C41E7E-025F-11C8-055C-C92E93A5B6C5}"/>
                  </a:ext>
                </a:extLst>
              </p:cNvPr>
              <p:cNvSpPr/>
              <p:nvPr/>
            </p:nvSpPr>
            <p:spPr>
              <a:xfrm>
                <a:off x="5095398" y="3268694"/>
                <a:ext cx="41243" cy="53625"/>
              </a:xfrm>
              <a:custGeom>
                <a:avLst/>
                <a:gdLst>
                  <a:gd name="connsiteX0" fmla="*/ 16383 w 41243"/>
                  <a:gd name="connsiteY0" fmla="*/ 46482 h 53625"/>
                  <a:gd name="connsiteX1" fmla="*/ 24479 w 41243"/>
                  <a:gd name="connsiteY1" fmla="*/ 51244 h 53625"/>
                  <a:gd name="connsiteX2" fmla="*/ 24479 w 41243"/>
                  <a:gd name="connsiteY2" fmla="*/ 53626 h 53625"/>
                  <a:gd name="connsiteX3" fmla="*/ 0 w 41243"/>
                  <a:gd name="connsiteY3" fmla="*/ 53626 h 53625"/>
                  <a:gd name="connsiteX4" fmla="*/ 0 w 41243"/>
                  <a:gd name="connsiteY4" fmla="*/ 51244 h 53625"/>
                  <a:gd name="connsiteX5" fmla="*/ 6477 w 41243"/>
                  <a:gd name="connsiteY5" fmla="*/ 46577 h 53625"/>
                  <a:gd name="connsiteX6" fmla="*/ 6477 w 41243"/>
                  <a:gd name="connsiteY6" fmla="*/ 7525 h 53625"/>
                  <a:gd name="connsiteX7" fmla="*/ 0 w 41243"/>
                  <a:gd name="connsiteY7" fmla="*/ 2858 h 53625"/>
                  <a:gd name="connsiteX8" fmla="*/ 0 w 41243"/>
                  <a:gd name="connsiteY8" fmla="*/ 476 h 53625"/>
                  <a:gd name="connsiteX9" fmla="*/ 33528 w 41243"/>
                  <a:gd name="connsiteY9" fmla="*/ 476 h 53625"/>
                  <a:gd name="connsiteX10" fmla="*/ 40957 w 41243"/>
                  <a:gd name="connsiteY10" fmla="*/ 0 h 53625"/>
                  <a:gd name="connsiteX11" fmla="*/ 41243 w 41243"/>
                  <a:gd name="connsiteY11" fmla="*/ 14954 h 53625"/>
                  <a:gd name="connsiteX12" fmla="*/ 39243 w 41243"/>
                  <a:gd name="connsiteY12" fmla="*/ 14954 h 53625"/>
                  <a:gd name="connsiteX13" fmla="*/ 25241 w 41243"/>
                  <a:gd name="connsiteY13" fmla="*/ 3048 h 53625"/>
                  <a:gd name="connsiteX14" fmla="*/ 16288 w 41243"/>
                  <a:gd name="connsiteY14" fmla="*/ 3048 h 53625"/>
                  <a:gd name="connsiteX15" fmla="*/ 16288 w 41243"/>
                  <a:gd name="connsiteY15" fmla="*/ 24765 h 53625"/>
                  <a:gd name="connsiteX16" fmla="*/ 23527 w 41243"/>
                  <a:gd name="connsiteY16" fmla="*/ 24765 h 53625"/>
                  <a:gd name="connsiteX17" fmla="*/ 31432 w 41243"/>
                  <a:gd name="connsiteY17" fmla="*/ 18193 h 53625"/>
                  <a:gd name="connsiteX18" fmla="*/ 33338 w 41243"/>
                  <a:gd name="connsiteY18" fmla="*/ 18193 h 53625"/>
                  <a:gd name="connsiteX19" fmla="*/ 33338 w 41243"/>
                  <a:gd name="connsiteY19" fmla="*/ 34004 h 53625"/>
                  <a:gd name="connsiteX20" fmla="*/ 31432 w 41243"/>
                  <a:gd name="connsiteY20" fmla="*/ 34004 h 53625"/>
                  <a:gd name="connsiteX21" fmla="*/ 23527 w 41243"/>
                  <a:gd name="connsiteY21" fmla="*/ 27527 h 53625"/>
                  <a:gd name="connsiteX22" fmla="*/ 16288 w 41243"/>
                  <a:gd name="connsiteY22" fmla="*/ 27527 h 53625"/>
                  <a:gd name="connsiteX23" fmla="*/ 16288 w 41243"/>
                  <a:gd name="connsiteY23" fmla="*/ 46387 h 53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1243" h="53625">
                    <a:moveTo>
                      <a:pt x="16383" y="46482"/>
                    </a:moveTo>
                    <a:cubicBezTo>
                      <a:pt x="16383" y="50292"/>
                      <a:pt x="17431" y="51244"/>
                      <a:pt x="24479" y="51244"/>
                    </a:cubicBezTo>
                    <a:lnTo>
                      <a:pt x="24479" y="53626"/>
                    </a:lnTo>
                    <a:lnTo>
                      <a:pt x="0" y="53626"/>
                    </a:lnTo>
                    <a:lnTo>
                      <a:pt x="0" y="51244"/>
                    </a:lnTo>
                    <a:cubicBezTo>
                      <a:pt x="4858" y="51244"/>
                      <a:pt x="6477" y="50768"/>
                      <a:pt x="6477" y="46577"/>
                    </a:cubicBezTo>
                    <a:lnTo>
                      <a:pt x="6477" y="7525"/>
                    </a:lnTo>
                    <a:cubicBezTo>
                      <a:pt x="6477" y="3334"/>
                      <a:pt x="4858" y="2858"/>
                      <a:pt x="0" y="2858"/>
                    </a:cubicBezTo>
                    <a:lnTo>
                      <a:pt x="0" y="476"/>
                    </a:lnTo>
                    <a:lnTo>
                      <a:pt x="33528" y="476"/>
                    </a:lnTo>
                    <a:cubicBezTo>
                      <a:pt x="38005" y="476"/>
                      <a:pt x="39529" y="286"/>
                      <a:pt x="40957" y="0"/>
                    </a:cubicBezTo>
                    <a:lnTo>
                      <a:pt x="41243" y="14954"/>
                    </a:lnTo>
                    <a:lnTo>
                      <a:pt x="39243" y="14954"/>
                    </a:lnTo>
                    <a:cubicBezTo>
                      <a:pt x="38100" y="4001"/>
                      <a:pt x="35433" y="3048"/>
                      <a:pt x="25241" y="3048"/>
                    </a:cubicBezTo>
                    <a:lnTo>
                      <a:pt x="16288" y="3048"/>
                    </a:lnTo>
                    <a:lnTo>
                      <a:pt x="16288" y="24765"/>
                    </a:lnTo>
                    <a:lnTo>
                      <a:pt x="23527" y="24765"/>
                    </a:lnTo>
                    <a:cubicBezTo>
                      <a:pt x="30480" y="24765"/>
                      <a:pt x="30861" y="23622"/>
                      <a:pt x="31432" y="18193"/>
                    </a:cubicBezTo>
                    <a:lnTo>
                      <a:pt x="33338" y="18193"/>
                    </a:lnTo>
                    <a:lnTo>
                      <a:pt x="33338" y="34004"/>
                    </a:lnTo>
                    <a:lnTo>
                      <a:pt x="31432" y="34004"/>
                    </a:lnTo>
                    <a:cubicBezTo>
                      <a:pt x="30861" y="28575"/>
                      <a:pt x="30480" y="27527"/>
                      <a:pt x="23527" y="27527"/>
                    </a:cubicBezTo>
                    <a:lnTo>
                      <a:pt x="16288" y="27527"/>
                    </a:lnTo>
                    <a:lnTo>
                      <a:pt x="16288" y="46387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46DB567-6411-813F-EB8F-B314A781F8AA}"/>
                  </a:ext>
                </a:extLst>
              </p:cNvPr>
              <p:cNvSpPr/>
              <p:nvPr/>
            </p:nvSpPr>
            <p:spPr>
              <a:xfrm>
                <a:off x="5141594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084BF85-ABC9-7F4E-57F8-5695B4BC5E9B}"/>
                  </a:ext>
                </a:extLst>
              </p:cNvPr>
              <p:cNvSpPr/>
              <p:nvPr/>
            </p:nvSpPr>
            <p:spPr>
              <a:xfrm>
                <a:off x="5168550" y="3269075"/>
                <a:ext cx="56102" cy="54006"/>
              </a:xfrm>
              <a:custGeom>
                <a:avLst/>
                <a:gdLst>
                  <a:gd name="connsiteX0" fmla="*/ 47530 w 56102"/>
                  <a:gd name="connsiteY0" fmla="*/ 54007 h 54006"/>
                  <a:gd name="connsiteX1" fmla="*/ 11240 w 56102"/>
                  <a:gd name="connsiteY1" fmla="*/ 8953 h 54006"/>
                  <a:gd name="connsiteX2" fmla="*/ 11240 w 56102"/>
                  <a:gd name="connsiteY2" fmla="*/ 45815 h 54006"/>
                  <a:gd name="connsiteX3" fmla="*/ 19241 w 56102"/>
                  <a:gd name="connsiteY3" fmla="*/ 50673 h 54006"/>
                  <a:gd name="connsiteX4" fmla="*/ 19241 w 56102"/>
                  <a:gd name="connsiteY4" fmla="*/ 53054 h 54006"/>
                  <a:gd name="connsiteX5" fmla="*/ 0 w 56102"/>
                  <a:gd name="connsiteY5" fmla="*/ 53054 h 54006"/>
                  <a:gd name="connsiteX6" fmla="*/ 0 w 56102"/>
                  <a:gd name="connsiteY6" fmla="*/ 50673 h 54006"/>
                  <a:gd name="connsiteX7" fmla="*/ 7810 w 56102"/>
                  <a:gd name="connsiteY7" fmla="*/ 45815 h 54006"/>
                  <a:gd name="connsiteX8" fmla="*/ 7810 w 56102"/>
                  <a:gd name="connsiteY8" fmla="*/ 4953 h 54006"/>
                  <a:gd name="connsiteX9" fmla="*/ 0 w 56102"/>
                  <a:gd name="connsiteY9" fmla="*/ 2381 h 54006"/>
                  <a:gd name="connsiteX10" fmla="*/ 0 w 56102"/>
                  <a:gd name="connsiteY10" fmla="*/ 0 h 54006"/>
                  <a:gd name="connsiteX11" fmla="*/ 17050 w 56102"/>
                  <a:gd name="connsiteY11" fmla="*/ 0 h 54006"/>
                  <a:gd name="connsiteX12" fmla="*/ 44863 w 56102"/>
                  <a:gd name="connsiteY12" fmla="*/ 35814 h 54006"/>
                  <a:gd name="connsiteX13" fmla="*/ 44863 w 56102"/>
                  <a:gd name="connsiteY13" fmla="*/ 7239 h 54006"/>
                  <a:gd name="connsiteX14" fmla="*/ 36862 w 56102"/>
                  <a:gd name="connsiteY14" fmla="*/ 2381 h 54006"/>
                  <a:gd name="connsiteX15" fmla="*/ 36862 w 56102"/>
                  <a:gd name="connsiteY15" fmla="*/ 0 h 54006"/>
                  <a:gd name="connsiteX16" fmla="*/ 56102 w 56102"/>
                  <a:gd name="connsiteY16" fmla="*/ 0 h 54006"/>
                  <a:gd name="connsiteX17" fmla="*/ 56102 w 56102"/>
                  <a:gd name="connsiteY17" fmla="*/ 2381 h 54006"/>
                  <a:gd name="connsiteX18" fmla="*/ 48292 w 56102"/>
                  <a:gd name="connsiteY18" fmla="*/ 7239 h 54006"/>
                  <a:gd name="connsiteX19" fmla="*/ 48292 w 56102"/>
                  <a:gd name="connsiteY19" fmla="*/ 53912 h 54006"/>
                  <a:gd name="connsiteX20" fmla="*/ 47434 w 56102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102" h="54006">
                    <a:moveTo>
                      <a:pt x="47530" y="54007"/>
                    </a:moveTo>
                    <a:lnTo>
                      <a:pt x="11240" y="8953"/>
                    </a:lnTo>
                    <a:lnTo>
                      <a:pt x="11240" y="45815"/>
                    </a:lnTo>
                    <a:cubicBezTo>
                      <a:pt x="11240" y="50101"/>
                      <a:pt x="14192" y="50673"/>
                      <a:pt x="19241" y="50673"/>
                    </a:cubicBezTo>
                    <a:lnTo>
                      <a:pt x="19241" y="53054"/>
                    </a:lnTo>
                    <a:lnTo>
                      <a:pt x="0" y="53054"/>
                    </a:lnTo>
                    <a:lnTo>
                      <a:pt x="0" y="50673"/>
                    </a:lnTo>
                    <a:cubicBezTo>
                      <a:pt x="4953" y="50673"/>
                      <a:pt x="7810" y="50101"/>
                      <a:pt x="7810" y="45815"/>
                    </a:cubicBezTo>
                    <a:lnTo>
                      <a:pt x="7810" y="4953"/>
                    </a:lnTo>
                    <a:cubicBezTo>
                      <a:pt x="5429" y="2572"/>
                      <a:pt x="3810" y="2381"/>
                      <a:pt x="0" y="2381"/>
                    </a:cubicBezTo>
                    <a:lnTo>
                      <a:pt x="0" y="0"/>
                    </a:lnTo>
                    <a:lnTo>
                      <a:pt x="17050" y="0"/>
                    </a:lnTo>
                    <a:lnTo>
                      <a:pt x="44863" y="35814"/>
                    </a:lnTo>
                    <a:lnTo>
                      <a:pt x="44863" y="7239"/>
                    </a:lnTo>
                    <a:cubicBezTo>
                      <a:pt x="44863" y="2953"/>
                      <a:pt x="41910" y="2381"/>
                      <a:pt x="36862" y="2381"/>
                    </a:cubicBezTo>
                    <a:lnTo>
                      <a:pt x="36862" y="0"/>
                    </a:lnTo>
                    <a:lnTo>
                      <a:pt x="56102" y="0"/>
                    </a:lnTo>
                    <a:lnTo>
                      <a:pt x="56102" y="2381"/>
                    </a:lnTo>
                    <a:cubicBezTo>
                      <a:pt x="51149" y="2381"/>
                      <a:pt x="48292" y="2953"/>
                      <a:pt x="48292" y="7239"/>
                    </a:cubicBezTo>
                    <a:lnTo>
                      <a:pt x="48292" y="53912"/>
                    </a:lnTo>
                    <a:lnTo>
                      <a:pt x="47434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D543E855-1B32-4F9E-D4C5-592B5BA9A37F}"/>
                  </a:ext>
                </a:extLst>
              </p:cNvPr>
              <p:cNvSpPr/>
              <p:nvPr/>
            </p:nvSpPr>
            <p:spPr>
              <a:xfrm>
                <a:off x="5222938" y="3268694"/>
                <a:ext cx="56007" cy="53530"/>
              </a:xfrm>
              <a:custGeom>
                <a:avLst/>
                <a:gdLst>
                  <a:gd name="connsiteX0" fmla="*/ 19145 w 56007"/>
                  <a:gd name="connsiteY0" fmla="*/ 53531 h 53530"/>
                  <a:gd name="connsiteX1" fmla="*/ 0 w 56007"/>
                  <a:gd name="connsiteY1" fmla="*/ 53531 h 53530"/>
                  <a:gd name="connsiteX2" fmla="*/ 0 w 56007"/>
                  <a:gd name="connsiteY2" fmla="*/ 51149 h 53530"/>
                  <a:gd name="connsiteX3" fmla="*/ 8953 w 56007"/>
                  <a:gd name="connsiteY3" fmla="*/ 46196 h 53530"/>
                  <a:gd name="connsiteX4" fmla="*/ 26289 w 56007"/>
                  <a:gd name="connsiteY4" fmla="*/ 0 h 53530"/>
                  <a:gd name="connsiteX5" fmla="*/ 31147 w 56007"/>
                  <a:gd name="connsiteY5" fmla="*/ 0 h 53530"/>
                  <a:gd name="connsiteX6" fmla="*/ 49816 w 56007"/>
                  <a:gd name="connsiteY6" fmla="*/ 46482 h 53530"/>
                  <a:gd name="connsiteX7" fmla="*/ 56007 w 56007"/>
                  <a:gd name="connsiteY7" fmla="*/ 51149 h 53530"/>
                  <a:gd name="connsiteX8" fmla="*/ 56007 w 56007"/>
                  <a:gd name="connsiteY8" fmla="*/ 53531 h 53530"/>
                  <a:gd name="connsiteX9" fmla="*/ 33719 w 56007"/>
                  <a:gd name="connsiteY9" fmla="*/ 53531 h 53530"/>
                  <a:gd name="connsiteX10" fmla="*/ 33719 w 56007"/>
                  <a:gd name="connsiteY10" fmla="*/ 51149 h 53530"/>
                  <a:gd name="connsiteX11" fmla="*/ 39529 w 56007"/>
                  <a:gd name="connsiteY11" fmla="*/ 46482 h 53530"/>
                  <a:gd name="connsiteX12" fmla="*/ 34004 w 56007"/>
                  <a:gd name="connsiteY12" fmla="*/ 32385 h 53530"/>
                  <a:gd name="connsiteX13" fmla="*/ 17335 w 56007"/>
                  <a:gd name="connsiteY13" fmla="*/ 32385 h 53530"/>
                  <a:gd name="connsiteX14" fmla="*/ 12478 w 56007"/>
                  <a:gd name="connsiteY14" fmla="*/ 46006 h 53530"/>
                  <a:gd name="connsiteX15" fmla="*/ 19241 w 56007"/>
                  <a:gd name="connsiteY15" fmla="*/ 51054 h 53530"/>
                  <a:gd name="connsiteX16" fmla="*/ 19241 w 56007"/>
                  <a:gd name="connsiteY16" fmla="*/ 53435 h 53530"/>
                  <a:gd name="connsiteX17" fmla="*/ 18288 w 56007"/>
                  <a:gd name="connsiteY17" fmla="*/ 29528 h 53530"/>
                  <a:gd name="connsiteX18" fmla="*/ 32766 w 56007"/>
                  <a:gd name="connsiteY18" fmla="*/ 29528 h 53530"/>
                  <a:gd name="connsiteX19" fmla="*/ 25241 w 56007"/>
                  <a:gd name="connsiteY19" fmla="*/ 10478 h 53530"/>
                  <a:gd name="connsiteX20" fmla="*/ 18288 w 56007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007" h="53530">
                    <a:moveTo>
                      <a:pt x="19145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5048" y="51149"/>
                      <a:pt x="7334" y="50482"/>
                      <a:pt x="8953" y="46196"/>
                    </a:cubicBezTo>
                    <a:lnTo>
                      <a:pt x="26289" y="0"/>
                    </a:lnTo>
                    <a:lnTo>
                      <a:pt x="31147" y="0"/>
                    </a:lnTo>
                    <a:lnTo>
                      <a:pt x="49816" y="46482"/>
                    </a:lnTo>
                    <a:cubicBezTo>
                      <a:pt x="51435" y="50578"/>
                      <a:pt x="52292" y="51149"/>
                      <a:pt x="56007" y="51149"/>
                    </a:cubicBezTo>
                    <a:lnTo>
                      <a:pt x="56007" y="53531"/>
                    </a:lnTo>
                    <a:lnTo>
                      <a:pt x="33719" y="53531"/>
                    </a:lnTo>
                    <a:lnTo>
                      <a:pt x="33719" y="51149"/>
                    </a:lnTo>
                    <a:cubicBezTo>
                      <a:pt x="40576" y="51149"/>
                      <a:pt x="41148" y="50578"/>
                      <a:pt x="39529" y="46482"/>
                    </a:cubicBezTo>
                    <a:lnTo>
                      <a:pt x="34004" y="32385"/>
                    </a:lnTo>
                    <a:lnTo>
                      <a:pt x="17335" y="32385"/>
                    </a:lnTo>
                    <a:lnTo>
                      <a:pt x="12478" y="46006"/>
                    </a:lnTo>
                    <a:cubicBezTo>
                      <a:pt x="10858" y="50197"/>
                      <a:pt x="13335" y="51054"/>
                      <a:pt x="19241" y="51054"/>
                    </a:cubicBezTo>
                    <a:lnTo>
                      <a:pt x="19241" y="53435"/>
                    </a:lnTo>
                    <a:close/>
                    <a:moveTo>
                      <a:pt x="18288" y="29528"/>
                    </a:moveTo>
                    <a:lnTo>
                      <a:pt x="32766" y="29528"/>
                    </a:lnTo>
                    <a:lnTo>
                      <a:pt x="25241" y="10478"/>
                    </a:lnTo>
                    <a:lnTo>
                      <a:pt x="18288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1B7A229-1464-3A77-6DDE-C3B255CC0859}"/>
                  </a:ext>
                </a:extLst>
              </p:cNvPr>
              <p:cNvSpPr/>
              <p:nvPr/>
            </p:nvSpPr>
            <p:spPr>
              <a:xfrm>
                <a:off x="5279992" y="3269075"/>
                <a:ext cx="57245" cy="54006"/>
              </a:xfrm>
              <a:custGeom>
                <a:avLst/>
                <a:gdLst>
                  <a:gd name="connsiteX0" fmla="*/ 48768 w 57245"/>
                  <a:gd name="connsiteY0" fmla="*/ 54007 h 54006"/>
                  <a:gd name="connsiteX1" fmla="*/ 12478 w 57245"/>
                  <a:gd name="connsiteY1" fmla="*/ 8953 h 54006"/>
                  <a:gd name="connsiteX2" fmla="*/ 12478 w 57245"/>
                  <a:gd name="connsiteY2" fmla="*/ 45815 h 54006"/>
                  <a:gd name="connsiteX3" fmla="*/ 20479 w 57245"/>
                  <a:gd name="connsiteY3" fmla="*/ 50673 h 54006"/>
                  <a:gd name="connsiteX4" fmla="*/ 20479 w 57245"/>
                  <a:gd name="connsiteY4" fmla="*/ 53054 h 54006"/>
                  <a:gd name="connsiteX5" fmla="*/ 1619 w 57245"/>
                  <a:gd name="connsiteY5" fmla="*/ 53054 h 54006"/>
                  <a:gd name="connsiteX6" fmla="*/ 1619 w 57245"/>
                  <a:gd name="connsiteY6" fmla="*/ 50673 h 54006"/>
                  <a:gd name="connsiteX7" fmla="*/ 8953 w 57245"/>
                  <a:gd name="connsiteY7" fmla="*/ 45815 h 54006"/>
                  <a:gd name="connsiteX8" fmla="*/ 8953 w 57245"/>
                  <a:gd name="connsiteY8" fmla="*/ 5048 h 54006"/>
                  <a:gd name="connsiteX9" fmla="*/ 0 w 57245"/>
                  <a:gd name="connsiteY9" fmla="*/ 2381 h 54006"/>
                  <a:gd name="connsiteX10" fmla="*/ 0 w 57245"/>
                  <a:gd name="connsiteY10" fmla="*/ 0 h 54006"/>
                  <a:gd name="connsiteX11" fmla="*/ 18193 w 57245"/>
                  <a:gd name="connsiteY11" fmla="*/ 0 h 54006"/>
                  <a:gd name="connsiteX12" fmla="*/ 46006 w 57245"/>
                  <a:gd name="connsiteY12" fmla="*/ 35814 h 54006"/>
                  <a:gd name="connsiteX13" fmla="*/ 46006 w 57245"/>
                  <a:gd name="connsiteY13" fmla="*/ 7239 h 54006"/>
                  <a:gd name="connsiteX14" fmla="*/ 38005 w 57245"/>
                  <a:gd name="connsiteY14" fmla="*/ 2381 h 54006"/>
                  <a:gd name="connsiteX15" fmla="*/ 38005 w 57245"/>
                  <a:gd name="connsiteY15" fmla="*/ 0 h 54006"/>
                  <a:gd name="connsiteX16" fmla="*/ 57245 w 57245"/>
                  <a:gd name="connsiteY16" fmla="*/ 0 h 54006"/>
                  <a:gd name="connsiteX17" fmla="*/ 57245 w 57245"/>
                  <a:gd name="connsiteY17" fmla="*/ 2381 h 54006"/>
                  <a:gd name="connsiteX18" fmla="*/ 49435 w 57245"/>
                  <a:gd name="connsiteY18" fmla="*/ 7239 h 54006"/>
                  <a:gd name="connsiteX19" fmla="*/ 49435 w 57245"/>
                  <a:gd name="connsiteY19" fmla="*/ 53912 h 54006"/>
                  <a:gd name="connsiteX20" fmla="*/ 48577 w 57245"/>
                  <a:gd name="connsiteY20" fmla="*/ 53912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245" h="54006">
                    <a:moveTo>
                      <a:pt x="48768" y="54007"/>
                    </a:moveTo>
                    <a:lnTo>
                      <a:pt x="12478" y="8953"/>
                    </a:lnTo>
                    <a:lnTo>
                      <a:pt x="12478" y="45815"/>
                    </a:lnTo>
                    <a:cubicBezTo>
                      <a:pt x="12478" y="50101"/>
                      <a:pt x="15430" y="50673"/>
                      <a:pt x="20479" y="50673"/>
                    </a:cubicBezTo>
                    <a:lnTo>
                      <a:pt x="20479" y="53054"/>
                    </a:lnTo>
                    <a:lnTo>
                      <a:pt x="1619" y="53054"/>
                    </a:lnTo>
                    <a:lnTo>
                      <a:pt x="1619" y="50673"/>
                    </a:lnTo>
                    <a:cubicBezTo>
                      <a:pt x="6286" y="50673"/>
                      <a:pt x="8953" y="50101"/>
                      <a:pt x="8953" y="45815"/>
                    </a:cubicBezTo>
                    <a:lnTo>
                      <a:pt x="8953" y="5048"/>
                    </a:lnTo>
                    <a:cubicBezTo>
                      <a:pt x="6286" y="2572"/>
                      <a:pt x="4286" y="2381"/>
                      <a:pt x="0" y="2381"/>
                    </a:cubicBezTo>
                    <a:lnTo>
                      <a:pt x="0" y="0"/>
                    </a:lnTo>
                    <a:lnTo>
                      <a:pt x="18193" y="0"/>
                    </a:lnTo>
                    <a:lnTo>
                      <a:pt x="46006" y="35814"/>
                    </a:lnTo>
                    <a:lnTo>
                      <a:pt x="46006" y="7239"/>
                    </a:lnTo>
                    <a:cubicBezTo>
                      <a:pt x="46006" y="2953"/>
                      <a:pt x="43053" y="2381"/>
                      <a:pt x="38005" y="2381"/>
                    </a:cubicBezTo>
                    <a:lnTo>
                      <a:pt x="38005" y="0"/>
                    </a:lnTo>
                    <a:lnTo>
                      <a:pt x="57245" y="0"/>
                    </a:lnTo>
                    <a:lnTo>
                      <a:pt x="57245" y="2381"/>
                    </a:lnTo>
                    <a:cubicBezTo>
                      <a:pt x="52292" y="2381"/>
                      <a:pt x="49435" y="2953"/>
                      <a:pt x="49435" y="7239"/>
                    </a:cubicBezTo>
                    <a:lnTo>
                      <a:pt x="49435" y="53912"/>
                    </a:lnTo>
                    <a:lnTo>
                      <a:pt x="48577" y="53912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A461AB7-20C1-8C0C-A975-07DFEEEF82B3}"/>
                  </a:ext>
                </a:extLst>
              </p:cNvPr>
              <p:cNvSpPr/>
              <p:nvPr/>
            </p:nvSpPr>
            <p:spPr>
              <a:xfrm>
                <a:off x="5340285" y="3268313"/>
                <a:ext cx="46005" cy="54768"/>
              </a:xfrm>
              <a:custGeom>
                <a:avLst/>
                <a:gdLst>
                  <a:gd name="connsiteX0" fmla="*/ 42196 w 46005"/>
                  <a:gd name="connsiteY0" fmla="*/ 762 h 54768"/>
                  <a:gd name="connsiteX1" fmla="*/ 43529 w 46005"/>
                  <a:gd name="connsiteY1" fmla="*/ 762 h 54768"/>
                  <a:gd name="connsiteX2" fmla="*/ 44291 w 46005"/>
                  <a:gd name="connsiteY2" fmla="*/ 16574 h 54768"/>
                  <a:gd name="connsiteX3" fmla="*/ 42291 w 46005"/>
                  <a:gd name="connsiteY3" fmla="*/ 16574 h 54768"/>
                  <a:gd name="connsiteX4" fmla="*/ 27337 w 46005"/>
                  <a:gd name="connsiteY4" fmla="*/ 2858 h 54768"/>
                  <a:gd name="connsiteX5" fmla="*/ 10001 w 46005"/>
                  <a:gd name="connsiteY5" fmla="*/ 24194 h 54768"/>
                  <a:gd name="connsiteX6" fmla="*/ 31337 w 46005"/>
                  <a:gd name="connsiteY6" fmla="*/ 50101 h 54768"/>
                  <a:gd name="connsiteX7" fmla="*/ 44482 w 46005"/>
                  <a:gd name="connsiteY7" fmla="*/ 44291 h 54768"/>
                  <a:gd name="connsiteX8" fmla="*/ 46006 w 46005"/>
                  <a:gd name="connsiteY8" fmla="*/ 45911 h 54768"/>
                  <a:gd name="connsiteX9" fmla="*/ 26956 w 46005"/>
                  <a:gd name="connsiteY9" fmla="*/ 54769 h 54768"/>
                  <a:gd name="connsiteX10" fmla="*/ 0 w 46005"/>
                  <a:gd name="connsiteY10" fmla="*/ 27813 h 54768"/>
                  <a:gd name="connsiteX11" fmla="*/ 27337 w 46005"/>
                  <a:gd name="connsiteY11" fmla="*/ 0 h 54768"/>
                  <a:gd name="connsiteX12" fmla="*/ 40100 w 46005"/>
                  <a:gd name="connsiteY12" fmla="*/ 3048 h 54768"/>
                  <a:gd name="connsiteX13" fmla="*/ 42291 w 46005"/>
                  <a:gd name="connsiteY13" fmla="*/ 762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005" h="54768">
                    <a:moveTo>
                      <a:pt x="42196" y="762"/>
                    </a:moveTo>
                    <a:lnTo>
                      <a:pt x="43529" y="762"/>
                    </a:lnTo>
                    <a:lnTo>
                      <a:pt x="44291" y="16574"/>
                    </a:lnTo>
                    <a:lnTo>
                      <a:pt x="42291" y="16574"/>
                    </a:lnTo>
                    <a:cubicBezTo>
                      <a:pt x="40957" y="7525"/>
                      <a:pt x="36195" y="2858"/>
                      <a:pt x="27337" y="2858"/>
                    </a:cubicBezTo>
                    <a:cubicBezTo>
                      <a:pt x="17526" y="2858"/>
                      <a:pt x="10001" y="11239"/>
                      <a:pt x="10001" y="24194"/>
                    </a:cubicBezTo>
                    <a:cubicBezTo>
                      <a:pt x="10001" y="40767"/>
                      <a:pt x="20383" y="50101"/>
                      <a:pt x="31337" y="50101"/>
                    </a:cubicBezTo>
                    <a:cubicBezTo>
                      <a:pt x="36100" y="50101"/>
                      <a:pt x="40386" y="48768"/>
                      <a:pt x="44482" y="44291"/>
                    </a:cubicBezTo>
                    <a:lnTo>
                      <a:pt x="46006" y="45911"/>
                    </a:lnTo>
                    <a:cubicBezTo>
                      <a:pt x="42577" y="50768"/>
                      <a:pt x="35909" y="54769"/>
                      <a:pt x="26956" y="54769"/>
                    </a:cubicBezTo>
                    <a:cubicBezTo>
                      <a:pt x="13526" y="54769"/>
                      <a:pt x="0" y="44672"/>
                      <a:pt x="0" y="27813"/>
                    </a:cubicBezTo>
                    <a:cubicBezTo>
                      <a:pt x="0" y="10954"/>
                      <a:pt x="12382" y="0"/>
                      <a:pt x="27337" y="0"/>
                    </a:cubicBezTo>
                    <a:cubicBezTo>
                      <a:pt x="34385" y="0"/>
                      <a:pt x="38195" y="3048"/>
                      <a:pt x="40100" y="3048"/>
                    </a:cubicBezTo>
                    <a:cubicBezTo>
                      <a:pt x="41148" y="3048"/>
                      <a:pt x="41720" y="2286"/>
                      <a:pt x="42291" y="76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FE205A17-45EE-A78C-CC70-8F36AF4B260C}"/>
                  </a:ext>
                </a:extLst>
              </p:cNvPr>
              <p:cNvSpPr/>
              <p:nvPr/>
            </p:nvSpPr>
            <p:spPr>
              <a:xfrm>
                <a:off x="5390673" y="3269075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2D65A26-37AB-7944-78CB-80F4DDC4EFBE}"/>
                  </a:ext>
                </a:extLst>
              </p:cNvPr>
              <p:cNvSpPr/>
              <p:nvPr/>
            </p:nvSpPr>
            <p:spPr>
              <a:xfrm>
                <a:off x="5417057" y="3268694"/>
                <a:ext cx="54673" cy="53530"/>
              </a:xfrm>
              <a:custGeom>
                <a:avLst/>
                <a:gdLst>
                  <a:gd name="connsiteX0" fmla="*/ 17907 w 54673"/>
                  <a:gd name="connsiteY0" fmla="*/ 53531 h 53530"/>
                  <a:gd name="connsiteX1" fmla="*/ 0 w 54673"/>
                  <a:gd name="connsiteY1" fmla="*/ 53531 h 53530"/>
                  <a:gd name="connsiteX2" fmla="*/ 0 w 54673"/>
                  <a:gd name="connsiteY2" fmla="*/ 51149 h 53530"/>
                  <a:gd name="connsiteX3" fmla="*/ 7620 w 54673"/>
                  <a:gd name="connsiteY3" fmla="*/ 46196 h 53530"/>
                  <a:gd name="connsiteX4" fmla="*/ 24955 w 54673"/>
                  <a:gd name="connsiteY4" fmla="*/ 0 h 53530"/>
                  <a:gd name="connsiteX5" fmla="*/ 29813 w 54673"/>
                  <a:gd name="connsiteY5" fmla="*/ 0 h 53530"/>
                  <a:gd name="connsiteX6" fmla="*/ 48482 w 54673"/>
                  <a:gd name="connsiteY6" fmla="*/ 46482 h 53530"/>
                  <a:gd name="connsiteX7" fmla="*/ 54673 w 54673"/>
                  <a:gd name="connsiteY7" fmla="*/ 51149 h 53530"/>
                  <a:gd name="connsiteX8" fmla="*/ 54673 w 54673"/>
                  <a:gd name="connsiteY8" fmla="*/ 53531 h 53530"/>
                  <a:gd name="connsiteX9" fmla="*/ 32385 w 54673"/>
                  <a:gd name="connsiteY9" fmla="*/ 53531 h 53530"/>
                  <a:gd name="connsiteX10" fmla="*/ 32385 w 54673"/>
                  <a:gd name="connsiteY10" fmla="*/ 51149 h 53530"/>
                  <a:gd name="connsiteX11" fmla="*/ 38195 w 54673"/>
                  <a:gd name="connsiteY11" fmla="*/ 46482 h 53530"/>
                  <a:gd name="connsiteX12" fmla="*/ 32671 w 54673"/>
                  <a:gd name="connsiteY12" fmla="*/ 32385 h 53530"/>
                  <a:gd name="connsiteX13" fmla="*/ 16002 w 54673"/>
                  <a:gd name="connsiteY13" fmla="*/ 32385 h 53530"/>
                  <a:gd name="connsiteX14" fmla="*/ 11144 w 54673"/>
                  <a:gd name="connsiteY14" fmla="*/ 46006 h 53530"/>
                  <a:gd name="connsiteX15" fmla="*/ 17907 w 54673"/>
                  <a:gd name="connsiteY15" fmla="*/ 51054 h 53530"/>
                  <a:gd name="connsiteX16" fmla="*/ 17907 w 54673"/>
                  <a:gd name="connsiteY16" fmla="*/ 53435 h 53530"/>
                  <a:gd name="connsiteX17" fmla="*/ 17145 w 54673"/>
                  <a:gd name="connsiteY17" fmla="*/ 29528 h 53530"/>
                  <a:gd name="connsiteX18" fmla="*/ 31623 w 54673"/>
                  <a:gd name="connsiteY18" fmla="*/ 29528 h 53530"/>
                  <a:gd name="connsiteX19" fmla="*/ 24098 w 54673"/>
                  <a:gd name="connsiteY19" fmla="*/ 10478 h 53530"/>
                  <a:gd name="connsiteX20" fmla="*/ 17145 w 54673"/>
                  <a:gd name="connsiteY20" fmla="*/ 29528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673" h="53530">
                    <a:moveTo>
                      <a:pt x="17907" y="53531"/>
                    </a:moveTo>
                    <a:lnTo>
                      <a:pt x="0" y="53531"/>
                    </a:lnTo>
                    <a:lnTo>
                      <a:pt x="0" y="51149"/>
                    </a:lnTo>
                    <a:cubicBezTo>
                      <a:pt x="3905" y="51149"/>
                      <a:pt x="6001" y="50482"/>
                      <a:pt x="7620" y="46196"/>
                    </a:cubicBezTo>
                    <a:lnTo>
                      <a:pt x="24955" y="0"/>
                    </a:lnTo>
                    <a:lnTo>
                      <a:pt x="29813" y="0"/>
                    </a:lnTo>
                    <a:lnTo>
                      <a:pt x="48482" y="46482"/>
                    </a:lnTo>
                    <a:cubicBezTo>
                      <a:pt x="50102" y="50578"/>
                      <a:pt x="50959" y="51149"/>
                      <a:pt x="54673" y="51149"/>
                    </a:cubicBezTo>
                    <a:lnTo>
                      <a:pt x="54673" y="53531"/>
                    </a:lnTo>
                    <a:lnTo>
                      <a:pt x="32385" y="53531"/>
                    </a:lnTo>
                    <a:lnTo>
                      <a:pt x="32385" y="51149"/>
                    </a:lnTo>
                    <a:cubicBezTo>
                      <a:pt x="39243" y="51149"/>
                      <a:pt x="39815" y="50578"/>
                      <a:pt x="38195" y="46482"/>
                    </a:cubicBezTo>
                    <a:lnTo>
                      <a:pt x="32671" y="32385"/>
                    </a:lnTo>
                    <a:lnTo>
                      <a:pt x="16002" y="32385"/>
                    </a:lnTo>
                    <a:lnTo>
                      <a:pt x="11144" y="46006"/>
                    </a:lnTo>
                    <a:cubicBezTo>
                      <a:pt x="9525" y="50197"/>
                      <a:pt x="12002" y="51054"/>
                      <a:pt x="17907" y="51054"/>
                    </a:cubicBezTo>
                    <a:lnTo>
                      <a:pt x="17907" y="53435"/>
                    </a:lnTo>
                    <a:close/>
                    <a:moveTo>
                      <a:pt x="17145" y="29528"/>
                    </a:moveTo>
                    <a:lnTo>
                      <a:pt x="31623" y="29528"/>
                    </a:lnTo>
                    <a:lnTo>
                      <a:pt x="24098" y="10478"/>
                    </a:lnTo>
                    <a:lnTo>
                      <a:pt x="17145" y="29528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E5FB852-CAD5-5D9E-BC0D-95C6AEEF1628}"/>
                  </a:ext>
                </a:extLst>
              </p:cNvPr>
              <p:cNvSpPr/>
              <p:nvPr/>
            </p:nvSpPr>
            <p:spPr>
              <a:xfrm>
                <a:off x="5475445" y="3269075"/>
                <a:ext cx="42005" cy="53149"/>
              </a:xfrm>
              <a:custGeom>
                <a:avLst/>
                <a:gdLst>
                  <a:gd name="connsiteX0" fmla="*/ 0 w 42005"/>
                  <a:gd name="connsiteY0" fmla="*/ 53150 h 53149"/>
                  <a:gd name="connsiteX1" fmla="*/ 0 w 42005"/>
                  <a:gd name="connsiteY1" fmla="*/ 50768 h 53149"/>
                  <a:gd name="connsiteX2" fmla="*/ 6477 w 42005"/>
                  <a:gd name="connsiteY2" fmla="*/ 46101 h 53149"/>
                  <a:gd name="connsiteX3" fmla="*/ 6477 w 42005"/>
                  <a:gd name="connsiteY3" fmla="*/ 7048 h 53149"/>
                  <a:gd name="connsiteX4" fmla="*/ 0 w 42005"/>
                  <a:gd name="connsiteY4" fmla="*/ 2381 h 53149"/>
                  <a:gd name="connsiteX5" fmla="*/ 0 w 42005"/>
                  <a:gd name="connsiteY5" fmla="*/ 0 h 53149"/>
                  <a:gd name="connsiteX6" fmla="*/ 22670 w 42005"/>
                  <a:gd name="connsiteY6" fmla="*/ 0 h 53149"/>
                  <a:gd name="connsiteX7" fmla="*/ 22670 w 42005"/>
                  <a:gd name="connsiteY7" fmla="*/ 2381 h 53149"/>
                  <a:gd name="connsiteX8" fmla="*/ 16288 w 42005"/>
                  <a:gd name="connsiteY8" fmla="*/ 7048 h 53149"/>
                  <a:gd name="connsiteX9" fmla="*/ 16288 w 42005"/>
                  <a:gd name="connsiteY9" fmla="*/ 46482 h 53149"/>
                  <a:gd name="connsiteX10" fmla="*/ 20955 w 42005"/>
                  <a:gd name="connsiteY10" fmla="*/ 50387 h 53149"/>
                  <a:gd name="connsiteX11" fmla="*/ 23717 w 42005"/>
                  <a:gd name="connsiteY11" fmla="*/ 50387 h 53149"/>
                  <a:gd name="connsiteX12" fmla="*/ 40100 w 42005"/>
                  <a:gd name="connsiteY12" fmla="*/ 37148 h 53149"/>
                  <a:gd name="connsiteX13" fmla="*/ 42005 w 42005"/>
                  <a:gd name="connsiteY13" fmla="*/ 37433 h 53149"/>
                  <a:gd name="connsiteX14" fmla="*/ 40386 w 42005"/>
                  <a:gd name="connsiteY14" fmla="*/ 53150 h 53149"/>
                  <a:gd name="connsiteX15" fmla="*/ 95 w 42005"/>
                  <a:gd name="connsiteY15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005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670" y="0"/>
                    </a:lnTo>
                    <a:lnTo>
                      <a:pt x="22670" y="2381"/>
                    </a:lnTo>
                    <a:cubicBezTo>
                      <a:pt x="17812" y="2381"/>
                      <a:pt x="16288" y="2858"/>
                      <a:pt x="16288" y="7048"/>
                    </a:cubicBez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3717" y="50387"/>
                    </a:lnTo>
                    <a:cubicBezTo>
                      <a:pt x="34004" y="50387"/>
                      <a:pt x="37338" y="48863"/>
                      <a:pt x="40100" y="37148"/>
                    </a:cubicBezTo>
                    <a:lnTo>
                      <a:pt x="42005" y="37433"/>
                    </a:lnTo>
                    <a:lnTo>
                      <a:pt x="40386" y="53150"/>
                    </a:lnTo>
                    <a:lnTo>
                      <a:pt x="95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0" name="Graphic 3">
              <a:extLst>
                <a:ext uri="{FF2B5EF4-FFF2-40B4-BE49-F238E27FC236}">
                  <a16:creationId xmlns:a16="http://schemas.microsoft.com/office/drawing/2014/main" id="{F4C3321D-88D1-D830-62C6-AECA4B0CA579}"/>
                </a:ext>
              </a:extLst>
            </p:cNvPr>
            <p:cNvGrpSpPr/>
            <p:nvPr/>
          </p:nvGrpSpPr>
          <p:grpSpPr>
            <a:xfrm>
              <a:off x="5095398" y="3348608"/>
              <a:ext cx="237172" cy="54864"/>
              <a:chOff x="5095398" y="3348608"/>
              <a:chExt cx="237172" cy="54864"/>
            </a:xfrm>
            <a:solidFill>
              <a:srgbClr val="333333"/>
            </a:solidFill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C6E35AD-8084-D4D2-F384-3975220E1AF3}"/>
                  </a:ext>
                </a:extLst>
              </p:cNvPr>
              <p:cNvSpPr/>
              <p:nvPr/>
            </p:nvSpPr>
            <p:spPr>
              <a:xfrm>
                <a:off x="5095398" y="3348990"/>
                <a:ext cx="48386" cy="53530"/>
              </a:xfrm>
              <a:custGeom>
                <a:avLst/>
                <a:gdLst>
                  <a:gd name="connsiteX0" fmla="*/ 48101 w 48386"/>
                  <a:gd name="connsiteY0" fmla="*/ 0 h 53530"/>
                  <a:gd name="connsiteX1" fmla="*/ 48387 w 48386"/>
                  <a:gd name="connsiteY1" fmla="*/ 15811 h 53530"/>
                  <a:gd name="connsiteX2" fmla="*/ 46387 w 48386"/>
                  <a:gd name="connsiteY2" fmla="*/ 15811 h 53530"/>
                  <a:gd name="connsiteX3" fmla="*/ 32385 w 48386"/>
                  <a:gd name="connsiteY3" fmla="*/ 3048 h 53530"/>
                  <a:gd name="connsiteX4" fmla="*/ 29146 w 48386"/>
                  <a:gd name="connsiteY4" fmla="*/ 3048 h 53530"/>
                  <a:gd name="connsiteX5" fmla="*/ 29146 w 48386"/>
                  <a:gd name="connsiteY5" fmla="*/ 46387 h 53530"/>
                  <a:gd name="connsiteX6" fmla="*/ 37243 w 48386"/>
                  <a:gd name="connsiteY6" fmla="*/ 51149 h 53530"/>
                  <a:gd name="connsiteX7" fmla="*/ 37243 w 48386"/>
                  <a:gd name="connsiteY7" fmla="*/ 53530 h 53530"/>
                  <a:gd name="connsiteX8" fmla="*/ 11049 w 48386"/>
                  <a:gd name="connsiteY8" fmla="*/ 53530 h 53530"/>
                  <a:gd name="connsiteX9" fmla="*/ 11049 w 48386"/>
                  <a:gd name="connsiteY9" fmla="*/ 51149 h 53530"/>
                  <a:gd name="connsiteX10" fmla="*/ 19241 w 48386"/>
                  <a:gd name="connsiteY10" fmla="*/ 46387 h 53530"/>
                  <a:gd name="connsiteX11" fmla="*/ 19241 w 48386"/>
                  <a:gd name="connsiteY11" fmla="*/ 3048 h 53530"/>
                  <a:gd name="connsiteX12" fmla="*/ 16002 w 48386"/>
                  <a:gd name="connsiteY12" fmla="*/ 3048 h 53530"/>
                  <a:gd name="connsiteX13" fmla="*/ 2000 w 48386"/>
                  <a:gd name="connsiteY13" fmla="*/ 15811 h 53530"/>
                  <a:gd name="connsiteX14" fmla="*/ 0 w 48386"/>
                  <a:gd name="connsiteY14" fmla="*/ 15811 h 53530"/>
                  <a:gd name="connsiteX15" fmla="*/ 286 w 48386"/>
                  <a:gd name="connsiteY15" fmla="*/ 0 h 53530"/>
                  <a:gd name="connsiteX16" fmla="*/ 7715 w 48386"/>
                  <a:gd name="connsiteY16" fmla="*/ 476 h 53530"/>
                  <a:gd name="connsiteX17" fmla="*/ 40672 w 48386"/>
                  <a:gd name="connsiteY17" fmla="*/ 476 h 53530"/>
                  <a:gd name="connsiteX18" fmla="*/ 48101 w 48386"/>
                  <a:gd name="connsiteY18" fmla="*/ 0 h 53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86" h="53530">
                    <a:moveTo>
                      <a:pt x="48101" y="0"/>
                    </a:moveTo>
                    <a:lnTo>
                      <a:pt x="48387" y="15811"/>
                    </a:lnTo>
                    <a:lnTo>
                      <a:pt x="46387" y="15811"/>
                    </a:lnTo>
                    <a:cubicBezTo>
                      <a:pt x="45244" y="4381"/>
                      <a:pt x="42577" y="3048"/>
                      <a:pt x="32385" y="3048"/>
                    </a:cubicBezTo>
                    <a:lnTo>
                      <a:pt x="29146" y="3048"/>
                    </a:lnTo>
                    <a:lnTo>
                      <a:pt x="29146" y="46387"/>
                    </a:lnTo>
                    <a:cubicBezTo>
                      <a:pt x="29146" y="50482"/>
                      <a:pt x="30766" y="51149"/>
                      <a:pt x="37243" y="51149"/>
                    </a:cubicBezTo>
                    <a:lnTo>
                      <a:pt x="37243" y="53530"/>
                    </a:lnTo>
                    <a:lnTo>
                      <a:pt x="11049" y="53530"/>
                    </a:lnTo>
                    <a:lnTo>
                      <a:pt x="11049" y="51149"/>
                    </a:lnTo>
                    <a:cubicBezTo>
                      <a:pt x="17621" y="51149"/>
                      <a:pt x="19241" y="50578"/>
                      <a:pt x="19241" y="46387"/>
                    </a:cubicBezTo>
                    <a:lnTo>
                      <a:pt x="19241" y="3048"/>
                    </a:lnTo>
                    <a:lnTo>
                      <a:pt x="16002" y="3048"/>
                    </a:lnTo>
                    <a:cubicBezTo>
                      <a:pt x="5810" y="3048"/>
                      <a:pt x="3143" y="4477"/>
                      <a:pt x="2000" y="15811"/>
                    </a:cubicBezTo>
                    <a:lnTo>
                      <a:pt x="0" y="15811"/>
                    </a:lnTo>
                    <a:lnTo>
                      <a:pt x="286" y="0"/>
                    </a:lnTo>
                    <a:cubicBezTo>
                      <a:pt x="1715" y="286"/>
                      <a:pt x="3239" y="476"/>
                      <a:pt x="7715" y="476"/>
                    </a:cubicBezTo>
                    <a:lnTo>
                      <a:pt x="40672" y="476"/>
                    </a:lnTo>
                    <a:cubicBezTo>
                      <a:pt x="45148" y="476"/>
                      <a:pt x="46672" y="286"/>
                      <a:pt x="4810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E1625747-6B67-C7D9-380C-7538A9430E86}"/>
                  </a:ext>
                </a:extLst>
              </p:cNvPr>
              <p:cNvSpPr/>
              <p:nvPr/>
            </p:nvSpPr>
            <p:spPr>
              <a:xfrm>
                <a:off x="5148738" y="3349370"/>
                <a:ext cx="22764" cy="53149"/>
              </a:xfrm>
              <a:custGeom>
                <a:avLst/>
                <a:gdLst>
                  <a:gd name="connsiteX0" fmla="*/ 0 w 22764"/>
                  <a:gd name="connsiteY0" fmla="*/ 53150 h 53149"/>
                  <a:gd name="connsiteX1" fmla="*/ 0 w 22764"/>
                  <a:gd name="connsiteY1" fmla="*/ 50768 h 53149"/>
                  <a:gd name="connsiteX2" fmla="*/ 6477 w 22764"/>
                  <a:gd name="connsiteY2" fmla="*/ 46101 h 53149"/>
                  <a:gd name="connsiteX3" fmla="*/ 6477 w 22764"/>
                  <a:gd name="connsiteY3" fmla="*/ 7048 h 53149"/>
                  <a:gd name="connsiteX4" fmla="*/ 0 w 22764"/>
                  <a:gd name="connsiteY4" fmla="*/ 2381 h 53149"/>
                  <a:gd name="connsiteX5" fmla="*/ 0 w 22764"/>
                  <a:gd name="connsiteY5" fmla="*/ 0 h 53149"/>
                  <a:gd name="connsiteX6" fmla="*/ 22765 w 22764"/>
                  <a:gd name="connsiteY6" fmla="*/ 0 h 53149"/>
                  <a:gd name="connsiteX7" fmla="*/ 22765 w 22764"/>
                  <a:gd name="connsiteY7" fmla="*/ 2381 h 53149"/>
                  <a:gd name="connsiteX8" fmla="*/ 16288 w 22764"/>
                  <a:gd name="connsiteY8" fmla="*/ 7048 h 53149"/>
                  <a:gd name="connsiteX9" fmla="*/ 16288 w 22764"/>
                  <a:gd name="connsiteY9" fmla="*/ 46101 h 53149"/>
                  <a:gd name="connsiteX10" fmla="*/ 22765 w 22764"/>
                  <a:gd name="connsiteY10" fmla="*/ 50768 h 53149"/>
                  <a:gd name="connsiteX11" fmla="*/ 22765 w 22764"/>
                  <a:gd name="connsiteY11" fmla="*/ 53150 h 53149"/>
                  <a:gd name="connsiteX12" fmla="*/ 0 w 22764"/>
                  <a:gd name="connsiteY12" fmla="*/ 53150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764" h="53149">
                    <a:moveTo>
                      <a:pt x="0" y="53150"/>
                    </a:move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22765" y="0"/>
                    </a:lnTo>
                    <a:lnTo>
                      <a:pt x="22765" y="2381"/>
                    </a:lnTo>
                    <a:cubicBezTo>
                      <a:pt x="17907" y="2381"/>
                      <a:pt x="16288" y="2858"/>
                      <a:pt x="16288" y="7048"/>
                    </a:cubicBezTo>
                    <a:lnTo>
                      <a:pt x="16288" y="46101"/>
                    </a:lnTo>
                    <a:cubicBezTo>
                      <a:pt x="16288" y="50292"/>
                      <a:pt x="17907" y="50768"/>
                      <a:pt x="22765" y="50768"/>
                    </a:cubicBezTo>
                    <a:lnTo>
                      <a:pt x="22765" y="53150"/>
                    </a:lnTo>
                    <a:lnTo>
                      <a:pt x="0" y="5315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F2F88D4-10DF-AB49-3A0F-8BD514BBA8BC}"/>
                  </a:ext>
                </a:extLst>
              </p:cNvPr>
              <p:cNvSpPr/>
              <p:nvPr/>
            </p:nvSpPr>
            <p:spPr>
              <a:xfrm>
                <a:off x="5175313" y="3349466"/>
                <a:ext cx="69056" cy="54006"/>
              </a:xfrm>
              <a:custGeom>
                <a:avLst/>
                <a:gdLst>
                  <a:gd name="connsiteX0" fmla="*/ 64675 w 69056"/>
                  <a:gd name="connsiteY0" fmla="*/ 0 h 54006"/>
                  <a:gd name="connsiteX1" fmla="*/ 64675 w 69056"/>
                  <a:gd name="connsiteY1" fmla="*/ 2381 h 54006"/>
                  <a:gd name="connsiteX2" fmla="*/ 58198 w 69056"/>
                  <a:gd name="connsiteY2" fmla="*/ 6858 h 54006"/>
                  <a:gd name="connsiteX3" fmla="*/ 62294 w 69056"/>
                  <a:gd name="connsiteY3" fmla="*/ 46292 h 54006"/>
                  <a:gd name="connsiteX4" fmla="*/ 69056 w 69056"/>
                  <a:gd name="connsiteY4" fmla="*/ 50768 h 54006"/>
                  <a:gd name="connsiteX5" fmla="*/ 69056 w 69056"/>
                  <a:gd name="connsiteY5" fmla="*/ 53150 h 54006"/>
                  <a:gd name="connsiteX6" fmla="*/ 46387 w 69056"/>
                  <a:gd name="connsiteY6" fmla="*/ 53150 h 54006"/>
                  <a:gd name="connsiteX7" fmla="*/ 46387 w 69056"/>
                  <a:gd name="connsiteY7" fmla="*/ 50768 h 54006"/>
                  <a:gd name="connsiteX8" fmla="*/ 52388 w 69056"/>
                  <a:gd name="connsiteY8" fmla="*/ 46292 h 54006"/>
                  <a:gd name="connsiteX9" fmla="*/ 48101 w 69056"/>
                  <a:gd name="connsiteY9" fmla="*/ 4858 h 54006"/>
                  <a:gd name="connsiteX10" fmla="*/ 31337 w 69056"/>
                  <a:gd name="connsiteY10" fmla="*/ 54007 h 54006"/>
                  <a:gd name="connsiteX11" fmla="*/ 30671 w 69056"/>
                  <a:gd name="connsiteY11" fmla="*/ 54007 h 54006"/>
                  <a:gd name="connsiteX12" fmla="*/ 14478 w 69056"/>
                  <a:gd name="connsiteY12" fmla="*/ 4858 h 54006"/>
                  <a:gd name="connsiteX13" fmla="*/ 10477 w 69056"/>
                  <a:gd name="connsiteY13" fmla="*/ 46196 h 54006"/>
                  <a:gd name="connsiteX14" fmla="*/ 17717 w 69056"/>
                  <a:gd name="connsiteY14" fmla="*/ 50768 h 54006"/>
                  <a:gd name="connsiteX15" fmla="*/ 17717 w 69056"/>
                  <a:gd name="connsiteY15" fmla="*/ 53150 h 54006"/>
                  <a:gd name="connsiteX16" fmla="*/ 0 w 69056"/>
                  <a:gd name="connsiteY16" fmla="*/ 53150 h 54006"/>
                  <a:gd name="connsiteX17" fmla="*/ 0 w 69056"/>
                  <a:gd name="connsiteY17" fmla="*/ 50768 h 54006"/>
                  <a:gd name="connsiteX18" fmla="*/ 6858 w 69056"/>
                  <a:gd name="connsiteY18" fmla="*/ 46196 h 54006"/>
                  <a:gd name="connsiteX19" fmla="*/ 10858 w 69056"/>
                  <a:gd name="connsiteY19" fmla="*/ 6858 h 54006"/>
                  <a:gd name="connsiteX20" fmla="*/ 4381 w 69056"/>
                  <a:gd name="connsiteY20" fmla="*/ 2381 h 54006"/>
                  <a:gd name="connsiteX21" fmla="*/ 4381 w 69056"/>
                  <a:gd name="connsiteY21" fmla="*/ 0 h 54006"/>
                  <a:gd name="connsiteX22" fmla="*/ 23050 w 69056"/>
                  <a:gd name="connsiteY22" fmla="*/ 0 h 54006"/>
                  <a:gd name="connsiteX23" fmla="*/ 34290 w 69056"/>
                  <a:gd name="connsiteY23" fmla="*/ 36290 h 54006"/>
                  <a:gd name="connsiteX24" fmla="*/ 46387 w 69056"/>
                  <a:gd name="connsiteY24" fmla="*/ 0 h 54006"/>
                  <a:gd name="connsiteX25" fmla="*/ 64675 w 69056"/>
                  <a:gd name="connsiteY25" fmla="*/ 0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056" h="54006">
                    <a:moveTo>
                      <a:pt x="64675" y="0"/>
                    </a:moveTo>
                    <a:lnTo>
                      <a:pt x="64675" y="2381"/>
                    </a:lnTo>
                    <a:cubicBezTo>
                      <a:pt x="59817" y="2381"/>
                      <a:pt x="57722" y="2667"/>
                      <a:pt x="58198" y="6858"/>
                    </a:cubicBezTo>
                    <a:lnTo>
                      <a:pt x="62294" y="46292"/>
                    </a:lnTo>
                    <a:cubicBezTo>
                      <a:pt x="62770" y="50292"/>
                      <a:pt x="64294" y="50768"/>
                      <a:pt x="69056" y="50768"/>
                    </a:cubicBezTo>
                    <a:lnTo>
                      <a:pt x="69056" y="53150"/>
                    </a:lnTo>
                    <a:lnTo>
                      <a:pt x="46387" y="53150"/>
                    </a:lnTo>
                    <a:lnTo>
                      <a:pt x="46387" y="50768"/>
                    </a:lnTo>
                    <a:cubicBezTo>
                      <a:pt x="51149" y="50768"/>
                      <a:pt x="52769" y="50292"/>
                      <a:pt x="52388" y="46292"/>
                    </a:cubicBezTo>
                    <a:lnTo>
                      <a:pt x="48101" y="4858"/>
                    </a:lnTo>
                    <a:lnTo>
                      <a:pt x="31337" y="54007"/>
                    </a:lnTo>
                    <a:lnTo>
                      <a:pt x="30671" y="54007"/>
                    </a:lnTo>
                    <a:lnTo>
                      <a:pt x="14478" y="4858"/>
                    </a:lnTo>
                    <a:lnTo>
                      <a:pt x="10477" y="46196"/>
                    </a:lnTo>
                    <a:cubicBezTo>
                      <a:pt x="10001" y="50387"/>
                      <a:pt x="12954" y="50768"/>
                      <a:pt x="17717" y="50768"/>
                    </a:cubicBezTo>
                    <a:lnTo>
                      <a:pt x="17717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006"/>
                      <a:pt x="6858" y="46196"/>
                    </a:cubicBezTo>
                    <a:lnTo>
                      <a:pt x="10858" y="6858"/>
                    </a:lnTo>
                    <a:cubicBezTo>
                      <a:pt x="11335" y="2667"/>
                      <a:pt x="9239" y="2381"/>
                      <a:pt x="4381" y="2381"/>
                    </a:cubicBezTo>
                    <a:lnTo>
                      <a:pt x="4381" y="0"/>
                    </a:lnTo>
                    <a:lnTo>
                      <a:pt x="23050" y="0"/>
                    </a:lnTo>
                    <a:lnTo>
                      <a:pt x="34290" y="36290"/>
                    </a:lnTo>
                    <a:lnTo>
                      <a:pt x="46387" y="0"/>
                    </a:lnTo>
                    <a:lnTo>
                      <a:pt x="64675" y="0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F90E5F-D542-6E99-4721-1E7658973614}"/>
                  </a:ext>
                </a:extLst>
              </p:cNvPr>
              <p:cNvSpPr/>
              <p:nvPr/>
            </p:nvSpPr>
            <p:spPr>
              <a:xfrm>
                <a:off x="5248179" y="3349370"/>
                <a:ext cx="43624" cy="53149"/>
              </a:xfrm>
              <a:custGeom>
                <a:avLst/>
                <a:gdLst>
                  <a:gd name="connsiteX0" fmla="*/ 34195 w 43624"/>
                  <a:gd name="connsiteY0" fmla="*/ 33719 h 53149"/>
                  <a:gd name="connsiteX1" fmla="*/ 32290 w 43624"/>
                  <a:gd name="connsiteY1" fmla="*/ 33719 h 53149"/>
                  <a:gd name="connsiteX2" fmla="*/ 24384 w 43624"/>
                  <a:gd name="connsiteY2" fmla="*/ 27242 h 53149"/>
                  <a:gd name="connsiteX3" fmla="*/ 16288 w 43624"/>
                  <a:gd name="connsiteY3" fmla="*/ 27242 h 53149"/>
                  <a:gd name="connsiteX4" fmla="*/ 16288 w 43624"/>
                  <a:gd name="connsiteY4" fmla="*/ 46482 h 53149"/>
                  <a:gd name="connsiteX5" fmla="*/ 20955 w 43624"/>
                  <a:gd name="connsiteY5" fmla="*/ 50387 h 53149"/>
                  <a:gd name="connsiteX6" fmla="*/ 25336 w 43624"/>
                  <a:gd name="connsiteY6" fmla="*/ 50387 h 53149"/>
                  <a:gd name="connsiteX7" fmla="*/ 41719 w 43624"/>
                  <a:gd name="connsiteY7" fmla="*/ 37148 h 53149"/>
                  <a:gd name="connsiteX8" fmla="*/ 43624 w 43624"/>
                  <a:gd name="connsiteY8" fmla="*/ 37433 h 53149"/>
                  <a:gd name="connsiteX9" fmla="*/ 41815 w 43624"/>
                  <a:gd name="connsiteY9" fmla="*/ 53150 h 53149"/>
                  <a:gd name="connsiteX10" fmla="*/ 0 w 43624"/>
                  <a:gd name="connsiteY10" fmla="*/ 53150 h 53149"/>
                  <a:gd name="connsiteX11" fmla="*/ 0 w 43624"/>
                  <a:gd name="connsiteY11" fmla="*/ 50768 h 53149"/>
                  <a:gd name="connsiteX12" fmla="*/ 6477 w 43624"/>
                  <a:gd name="connsiteY12" fmla="*/ 46101 h 53149"/>
                  <a:gd name="connsiteX13" fmla="*/ 6477 w 43624"/>
                  <a:gd name="connsiteY13" fmla="*/ 7048 h 53149"/>
                  <a:gd name="connsiteX14" fmla="*/ 0 w 43624"/>
                  <a:gd name="connsiteY14" fmla="*/ 2381 h 53149"/>
                  <a:gd name="connsiteX15" fmla="*/ 0 w 43624"/>
                  <a:gd name="connsiteY15" fmla="*/ 0 h 53149"/>
                  <a:gd name="connsiteX16" fmla="*/ 40100 w 43624"/>
                  <a:gd name="connsiteY16" fmla="*/ 0 h 53149"/>
                  <a:gd name="connsiteX17" fmla="*/ 40291 w 43624"/>
                  <a:gd name="connsiteY17" fmla="*/ 13240 h 53149"/>
                  <a:gd name="connsiteX18" fmla="*/ 38290 w 43624"/>
                  <a:gd name="connsiteY18" fmla="*/ 13240 h 53149"/>
                  <a:gd name="connsiteX19" fmla="*/ 24193 w 43624"/>
                  <a:gd name="connsiteY19" fmla="*/ 2762 h 53149"/>
                  <a:gd name="connsiteX20" fmla="*/ 16288 w 43624"/>
                  <a:gd name="connsiteY20" fmla="*/ 2762 h 53149"/>
                  <a:gd name="connsiteX21" fmla="*/ 16288 w 43624"/>
                  <a:gd name="connsiteY21" fmla="*/ 24384 h 53149"/>
                  <a:gd name="connsiteX22" fmla="*/ 24384 w 43624"/>
                  <a:gd name="connsiteY22" fmla="*/ 24384 h 53149"/>
                  <a:gd name="connsiteX23" fmla="*/ 32290 w 43624"/>
                  <a:gd name="connsiteY23" fmla="*/ 17812 h 53149"/>
                  <a:gd name="connsiteX24" fmla="*/ 34195 w 43624"/>
                  <a:gd name="connsiteY24" fmla="*/ 17812 h 53149"/>
                  <a:gd name="connsiteX25" fmla="*/ 34195 w 43624"/>
                  <a:gd name="connsiteY25" fmla="*/ 33623 h 53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624" h="53149">
                    <a:moveTo>
                      <a:pt x="34195" y="33719"/>
                    </a:moveTo>
                    <a:lnTo>
                      <a:pt x="32290" y="33719"/>
                    </a:lnTo>
                    <a:cubicBezTo>
                      <a:pt x="31814" y="28289"/>
                      <a:pt x="31337" y="27242"/>
                      <a:pt x="24384" y="27242"/>
                    </a:cubicBezTo>
                    <a:lnTo>
                      <a:pt x="16288" y="27242"/>
                    </a:lnTo>
                    <a:lnTo>
                      <a:pt x="16288" y="46482"/>
                    </a:lnTo>
                    <a:cubicBezTo>
                      <a:pt x="16288" y="50006"/>
                      <a:pt x="18002" y="50387"/>
                      <a:pt x="20955" y="50387"/>
                    </a:cubicBezTo>
                    <a:lnTo>
                      <a:pt x="25336" y="50387"/>
                    </a:lnTo>
                    <a:cubicBezTo>
                      <a:pt x="35623" y="50387"/>
                      <a:pt x="38957" y="48863"/>
                      <a:pt x="41719" y="37148"/>
                    </a:cubicBezTo>
                    <a:lnTo>
                      <a:pt x="43624" y="37433"/>
                    </a:lnTo>
                    <a:lnTo>
                      <a:pt x="41815" y="53150"/>
                    </a:lnTo>
                    <a:lnTo>
                      <a:pt x="0" y="53150"/>
                    </a:lnTo>
                    <a:lnTo>
                      <a:pt x="0" y="50768"/>
                    </a:lnTo>
                    <a:cubicBezTo>
                      <a:pt x="4858" y="50768"/>
                      <a:pt x="6477" y="50292"/>
                      <a:pt x="6477" y="46101"/>
                    </a:cubicBezTo>
                    <a:lnTo>
                      <a:pt x="6477" y="7048"/>
                    </a:lnTo>
                    <a:cubicBezTo>
                      <a:pt x="6477" y="2858"/>
                      <a:pt x="4858" y="2381"/>
                      <a:pt x="0" y="2381"/>
                    </a:cubicBezTo>
                    <a:lnTo>
                      <a:pt x="0" y="0"/>
                    </a:lnTo>
                    <a:lnTo>
                      <a:pt x="40100" y="0"/>
                    </a:lnTo>
                    <a:lnTo>
                      <a:pt x="40291" y="13240"/>
                    </a:lnTo>
                    <a:lnTo>
                      <a:pt x="38290" y="13240"/>
                    </a:lnTo>
                    <a:cubicBezTo>
                      <a:pt x="37052" y="3905"/>
                      <a:pt x="34671" y="2762"/>
                      <a:pt x="24193" y="2762"/>
                    </a:cubicBezTo>
                    <a:lnTo>
                      <a:pt x="16288" y="2762"/>
                    </a:lnTo>
                    <a:lnTo>
                      <a:pt x="16288" y="24384"/>
                    </a:lnTo>
                    <a:lnTo>
                      <a:pt x="24384" y="24384"/>
                    </a:lnTo>
                    <a:cubicBezTo>
                      <a:pt x="31337" y="24384"/>
                      <a:pt x="31718" y="23241"/>
                      <a:pt x="32290" y="17812"/>
                    </a:cubicBezTo>
                    <a:lnTo>
                      <a:pt x="34195" y="17812"/>
                    </a:lnTo>
                    <a:lnTo>
                      <a:pt x="34195" y="33623"/>
                    </a:ln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A7D4AB4-88F3-A6DA-8F88-BDAFBCDE76B4}"/>
                  </a:ext>
                </a:extLst>
              </p:cNvPr>
              <p:cNvSpPr/>
              <p:nvPr/>
            </p:nvSpPr>
            <p:spPr>
              <a:xfrm>
                <a:off x="5296947" y="3348608"/>
                <a:ext cx="35623" cy="54768"/>
              </a:xfrm>
              <a:custGeom>
                <a:avLst/>
                <a:gdLst>
                  <a:gd name="connsiteX0" fmla="*/ 27622 w 35623"/>
                  <a:gd name="connsiteY0" fmla="*/ 42958 h 54768"/>
                  <a:gd name="connsiteX1" fmla="*/ 19336 w 35623"/>
                  <a:gd name="connsiteY1" fmla="*/ 32766 h 54768"/>
                  <a:gd name="connsiteX2" fmla="*/ 10954 w 35623"/>
                  <a:gd name="connsiteY2" fmla="*/ 28385 h 54768"/>
                  <a:gd name="connsiteX3" fmla="*/ 857 w 35623"/>
                  <a:gd name="connsiteY3" fmla="*/ 14669 h 54768"/>
                  <a:gd name="connsiteX4" fmla="*/ 17240 w 35623"/>
                  <a:gd name="connsiteY4" fmla="*/ 0 h 54768"/>
                  <a:gd name="connsiteX5" fmla="*/ 28670 w 35623"/>
                  <a:gd name="connsiteY5" fmla="*/ 3048 h 54768"/>
                  <a:gd name="connsiteX6" fmla="*/ 30956 w 35623"/>
                  <a:gd name="connsiteY6" fmla="*/ 762 h 54768"/>
                  <a:gd name="connsiteX7" fmla="*/ 32480 w 35623"/>
                  <a:gd name="connsiteY7" fmla="*/ 762 h 54768"/>
                  <a:gd name="connsiteX8" fmla="*/ 33242 w 35623"/>
                  <a:gd name="connsiteY8" fmla="*/ 15621 h 54768"/>
                  <a:gd name="connsiteX9" fmla="*/ 31337 w 35623"/>
                  <a:gd name="connsiteY9" fmla="*/ 15621 h 54768"/>
                  <a:gd name="connsiteX10" fmla="*/ 17812 w 35623"/>
                  <a:gd name="connsiteY10" fmla="*/ 2953 h 54768"/>
                  <a:gd name="connsiteX11" fmla="*/ 8668 w 35623"/>
                  <a:gd name="connsiteY11" fmla="*/ 10859 h 54768"/>
                  <a:gd name="connsiteX12" fmla="*/ 16764 w 35623"/>
                  <a:gd name="connsiteY12" fmla="*/ 20288 h 54768"/>
                  <a:gd name="connsiteX13" fmla="*/ 24003 w 35623"/>
                  <a:gd name="connsiteY13" fmla="*/ 24098 h 54768"/>
                  <a:gd name="connsiteX14" fmla="*/ 35623 w 35623"/>
                  <a:gd name="connsiteY14" fmla="*/ 38672 h 54768"/>
                  <a:gd name="connsiteX15" fmla="*/ 17431 w 35623"/>
                  <a:gd name="connsiteY15" fmla="*/ 54769 h 54768"/>
                  <a:gd name="connsiteX16" fmla="*/ 4953 w 35623"/>
                  <a:gd name="connsiteY16" fmla="*/ 51340 h 54768"/>
                  <a:gd name="connsiteX17" fmla="*/ 2572 w 35623"/>
                  <a:gd name="connsiteY17" fmla="*/ 54102 h 54768"/>
                  <a:gd name="connsiteX18" fmla="*/ 1048 w 35623"/>
                  <a:gd name="connsiteY18" fmla="*/ 54102 h 54768"/>
                  <a:gd name="connsiteX19" fmla="*/ 0 w 35623"/>
                  <a:gd name="connsiteY19" fmla="*/ 38291 h 54768"/>
                  <a:gd name="connsiteX20" fmla="*/ 1905 w 35623"/>
                  <a:gd name="connsiteY20" fmla="*/ 38005 h 54768"/>
                  <a:gd name="connsiteX21" fmla="*/ 17050 w 35623"/>
                  <a:gd name="connsiteY21" fmla="*/ 51911 h 54768"/>
                  <a:gd name="connsiteX22" fmla="*/ 27527 w 35623"/>
                  <a:gd name="connsiteY22" fmla="*/ 42958 h 5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5623" h="54768">
                    <a:moveTo>
                      <a:pt x="27622" y="42958"/>
                    </a:moveTo>
                    <a:cubicBezTo>
                      <a:pt x="27622" y="38100"/>
                      <a:pt x="24574" y="35719"/>
                      <a:pt x="19336" y="32766"/>
                    </a:cubicBezTo>
                    <a:lnTo>
                      <a:pt x="10954" y="28385"/>
                    </a:lnTo>
                    <a:cubicBezTo>
                      <a:pt x="4667" y="24956"/>
                      <a:pt x="857" y="21336"/>
                      <a:pt x="857" y="14669"/>
                    </a:cubicBezTo>
                    <a:cubicBezTo>
                      <a:pt x="857" y="6382"/>
                      <a:pt x="7906" y="0"/>
                      <a:pt x="17240" y="0"/>
                    </a:cubicBezTo>
                    <a:cubicBezTo>
                      <a:pt x="23622" y="0"/>
                      <a:pt x="26860" y="3048"/>
                      <a:pt x="28670" y="3048"/>
                    </a:cubicBezTo>
                    <a:cubicBezTo>
                      <a:pt x="29908" y="3048"/>
                      <a:pt x="30385" y="2286"/>
                      <a:pt x="30956" y="762"/>
                    </a:cubicBezTo>
                    <a:lnTo>
                      <a:pt x="32480" y="762"/>
                    </a:lnTo>
                    <a:lnTo>
                      <a:pt x="33242" y="15621"/>
                    </a:lnTo>
                    <a:lnTo>
                      <a:pt x="31337" y="15621"/>
                    </a:lnTo>
                    <a:cubicBezTo>
                      <a:pt x="30290" y="8572"/>
                      <a:pt x="25146" y="2953"/>
                      <a:pt x="17812" y="2953"/>
                    </a:cubicBezTo>
                    <a:cubicBezTo>
                      <a:pt x="12382" y="2953"/>
                      <a:pt x="8668" y="6191"/>
                      <a:pt x="8668" y="10859"/>
                    </a:cubicBezTo>
                    <a:cubicBezTo>
                      <a:pt x="8668" y="15907"/>
                      <a:pt x="12478" y="17907"/>
                      <a:pt x="16764" y="20288"/>
                    </a:cubicBezTo>
                    <a:lnTo>
                      <a:pt x="24003" y="24098"/>
                    </a:lnTo>
                    <a:cubicBezTo>
                      <a:pt x="30861" y="27813"/>
                      <a:pt x="35623" y="31528"/>
                      <a:pt x="35623" y="38672"/>
                    </a:cubicBezTo>
                    <a:cubicBezTo>
                      <a:pt x="35623" y="48006"/>
                      <a:pt x="27527" y="54769"/>
                      <a:pt x="17431" y="54769"/>
                    </a:cubicBezTo>
                    <a:cubicBezTo>
                      <a:pt x="10382" y="54769"/>
                      <a:pt x="6858" y="51340"/>
                      <a:pt x="4953" y="51340"/>
                    </a:cubicBezTo>
                    <a:cubicBezTo>
                      <a:pt x="3715" y="51340"/>
                      <a:pt x="3143" y="52388"/>
                      <a:pt x="2572" y="54102"/>
                    </a:cubicBezTo>
                    <a:lnTo>
                      <a:pt x="1048" y="54102"/>
                    </a:lnTo>
                    <a:lnTo>
                      <a:pt x="0" y="38291"/>
                    </a:lnTo>
                    <a:lnTo>
                      <a:pt x="1905" y="38005"/>
                    </a:lnTo>
                    <a:cubicBezTo>
                      <a:pt x="3429" y="47816"/>
                      <a:pt x="10192" y="51911"/>
                      <a:pt x="17050" y="51911"/>
                    </a:cubicBezTo>
                    <a:cubicBezTo>
                      <a:pt x="22765" y="51911"/>
                      <a:pt x="27527" y="49340"/>
                      <a:pt x="27527" y="4295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F81AB2-F612-91B7-6A08-620CFEEB1848}"/>
                </a:ext>
              </a:extLst>
            </p:cNvPr>
            <p:cNvSpPr/>
            <p:nvPr/>
          </p:nvSpPr>
          <p:spPr>
            <a:xfrm>
              <a:off x="4876799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8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19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6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8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430" y="54388"/>
                    <a:pt x="15526" y="59531"/>
                    <a:pt x="22003" y="59531"/>
                  </a:cubicBezTo>
                  <a:cubicBezTo>
                    <a:pt x="25717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19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1080B4B-949C-8650-88BD-8611A23E2E27}"/>
                </a:ext>
              </a:extLst>
            </p:cNvPr>
            <p:cNvSpPr/>
            <p:nvPr/>
          </p:nvSpPr>
          <p:spPr>
            <a:xfrm>
              <a:off x="4924424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8A5A53B-D006-7E7E-3E1E-81E11DB5A2B3}"/>
                </a:ext>
              </a:extLst>
            </p:cNvPr>
            <p:cNvSpPr/>
            <p:nvPr/>
          </p:nvSpPr>
          <p:spPr>
            <a:xfrm>
              <a:off x="4963095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9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3" y="66484"/>
                    <a:pt x="31337" y="64865"/>
                  </a:cubicBezTo>
                  <a:cubicBezTo>
                    <a:pt x="25908" y="69247"/>
                    <a:pt x="21527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6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5B4627-A778-E240-1D8A-D563CCF602FA}"/>
                </a:ext>
              </a:extLst>
            </p:cNvPr>
            <p:cNvSpPr/>
            <p:nvPr/>
          </p:nvSpPr>
          <p:spPr>
            <a:xfrm>
              <a:off x="5016817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D8E24FA-16F8-49BC-D01B-964FB5E2A5AF}"/>
                </a:ext>
              </a:extLst>
            </p:cNvPr>
            <p:cNvSpPr/>
            <p:nvPr/>
          </p:nvSpPr>
          <p:spPr>
            <a:xfrm>
              <a:off x="5058155" y="3524631"/>
              <a:ext cx="14287" cy="87630"/>
            </a:xfrm>
            <a:custGeom>
              <a:avLst/>
              <a:gdLst>
                <a:gd name="connsiteX0" fmla="*/ 0 w 14287"/>
                <a:gd name="connsiteY0" fmla="*/ 0 h 87630"/>
                <a:gd name="connsiteX1" fmla="*/ 14288 w 14287"/>
                <a:gd name="connsiteY1" fmla="*/ 0 h 87630"/>
                <a:gd name="connsiteX2" fmla="*/ 14288 w 14287"/>
                <a:gd name="connsiteY2" fmla="*/ 13049 h 87630"/>
                <a:gd name="connsiteX3" fmla="*/ 0 w 14287"/>
                <a:gd name="connsiteY3" fmla="*/ 13049 h 87630"/>
                <a:gd name="connsiteX4" fmla="*/ 0 w 14287"/>
                <a:gd name="connsiteY4" fmla="*/ 0 h 87630"/>
                <a:gd name="connsiteX5" fmla="*/ 0 w 14287"/>
                <a:gd name="connsiteY5" fmla="*/ 18764 h 87630"/>
                <a:gd name="connsiteX6" fmla="*/ 14288 w 14287"/>
                <a:gd name="connsiteY6" fmla="*/ 18764 h 87630"/>
                <a:gd name="connsiteX7" fmla="*/ 14288 w 14287"/>
                <a:gd name="connsiteY7" fmla="*/ 87630 h 87630"/>
                <a:gd name="connsiteX8" fmla="*/ 0 w 14287"/>
                <a:gd name="connsiteY8" fmla="*/ 87630 h 87630"/>
                <a:gd name="connsiteX9" fmla="*/ 0 w 14287"/>
                <a:gd name="connsiteY9" fmla="*/ 18764 h 8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87" h="87630">
                  <a:moveTo>
                    <a:pt x="0" y="0"/>
                  </a:moveTo>
                  <a:lnTo>
                    <a:pt x="14288" y="0"/>
                  </a:lnTo>
                  <a:lnTo>
                    <a:pt x="14288" y="13049"/>
                  </a:lnTo>
                  <a:lnTo>
                    <a:pt x="0" y="13049"/>
                  </a:lnTo>
                  <a:lnTo>
                    <a:pt x="0" y="0"/>
                  </a:lnTo>
                  <a:close/>
                  <a:moveTo>
                    <a:pt x="0" y="18764"/>
                  </a:moveTo>
                  <a:lnTo>
                    <a:pt x="14288" y="18764"/>
                  </a:lnTo>
                  <a:lnTo>
                    <a:pt x="14288" y="87630"/>
                  </a:lnTo>
                  <a:lnTo>
                    <a:pt x="0" y="87630"/>
                  </a:lnTo>
                  <a:lnTo>
                    <a:pt x="0" y="18764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09B1DA0-D0A1-DD0F-884B-F86356FB688F}"/>
                </a:ext>
              </a:extLst>
            </p:cNvPr>
            <p:cNvSpPr/>
            <p:nvPr/>
          </p:nvSpPr>
          <p:spPr>
            <a:xfrm>
              <a:off x="5082920" y="3542252"/>
              <a:ext cx="42005" cy="71342"/>
            </a:xfrm>
            <a:custGeom>
              <a:avLst/>
              <a:gdLst>
                <a:gd name="connsiteX0" fmla="*/ 29623 w 42005"/>
                <a:gd name="connsiteY0" fmla="*/ 20193 h 71342"/>
                <a:gd name="connsiteX1" fmla="*/ 21431 w 42005"/>
                <a:gd name="connsiteY1" fmla="*/ 11621 h 71342"/>
                <a:gd name="connsiteX2" fmla="*/ 15145 w 42005"/>
                <a:gd name="connsiteY2" fmla="*/ 17145 h 71342"/>
                <a:gd name="connsiteX3" fmla="*/ 42005 w 42005"/>
                <a:gd name="connsiteY3" fmla="*/ 52769 h 71342"/>
                <a:gd name="connsiteX4" fmla="*/ 21907 w 42005"/>
                <a:gd name="connsiteY4" fmla="*/ 71342 h 71342"/>
                <a:gd name="connsiteX5" fmla="*/ 0 w 42005"/>
                <a:gd name="connsiteY5" fmla="*/ 52102 h 71342"/>
                <a:gd name="connsiteX6" fmla="*/ 12573 w 42005"/>
                <a:gd name="connsiteY6" fmla="*/ 48673 h 71342"/>
                <a:gd name="connsiteX7" fmla="*/ 22003 w 42005"/>
                <a:gd name="connsiteY7" fmla="*/ 59531 h 71342"/>
                <a:gd name="connsiteX8" fmla="*/ 28384 w 42005"/>
                <a:gd name="connsiteY8" fmla="*/ 53530 h 71342"/>
                <a:gd name="connsiteX9" fmla="*/ 1524 w 42005"/>
                <a:gd name="connsiteY9" fmla="*/ 18383 h 71342"/>
                <a:gd name="connsiteX10" fmla="*/ 20765 w 42005"/>
                <a:gd name="connsiteY10" fmla="*/ 0 h 71342"/>
                <a:gd name="connsiteX11" fmla="*/ 41720 w 42005"/>
                <a:gd name="connsiteY11" fmla="*/ 18288 h 71342"/>
                <a:gd name="connsiteX12" fmla="*/ 29528 w 42005"/>
                <a:gd name="connsiteY12" fmla="*/ 2028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005" h="71342">
                  <a:moveTo>
                    <a:pt x="29623" y="20193"/>
                  </a:moveTo>
                  <a:cubicBezTo>
                    <a:pt x="28575" y="14669"/>
                    <a:pt x="26003" y="11621"/>
                    <a:pt x="21431" y="11621"/>
                  </a:cubicBezTo>
                  <a:cubicBezTo>
                    <a:pt x="17717" y="11621"/>
                    <a:pt x="15145" y="13526"/>
                    <a:pt x="15145" y="17145"/>
                  </a:cubicBezTo>
                  <a:cubicBezTo>
                    <a:pt x="15145" y="27908"/>
                    <a:pt x="42005" y="32290"/>
                    <a:pt x="42005" y="52769"/>
                  </a:cubicBezTo>
                  <a:cubicBezTo>
                    <a:pt x="42005" y="65056"/>
                    <a:pt x="33528" y="71342"/>
                    <a:pt x="21907" y="71342"/>
                  </a:cubicBezTo>
                  <a:cubicBezTo>
                    <a:pt x="9334" y="71342"/>
                    <a:pt x="2191" y="64199"/>
                    <a:pt x="0" y="52102"/>
                  </a:cubicBezTo>
                  <a:lnTo>
                    <a:pt x="12573" y="48673"/>
                  </a:lnTo>
                  <a:cubicBezTo>
                    <a:pt x="13526" y="54388"/>
                    <a:pt x="15526" y="59531"/>
                    <a:pt x="22003" y="59531"/>
                  </a:cubicBezTo>
                  <a:cubicBezTo>
                    <a:pt x="25718" y="59531"/>
                    <a:pt x="28384" y="57341"/>
                    <a:pt x="28384" y="53530"/>
                  </a:cubicBezTo>
                  <a:cubicBezTo>
                    <a:pt x="28384" y="41624"/>
                    <a:pt x="1524" y="37148"/>
                    <a:pt x="1524" y="18383"/>
                  </a:cubicBezTo>
                  <a:cubicBezTo>
                    <a:pt x="1524" y="7525"/>
                    <a:pt x="10001" y="0"/>
                    <a:pt x="20765" y="0"/>
                  </a:cubicBezTo>
                  <a:cubicBezTo>
                    <a:pt x="31528" y="0"/>
                    <a:pt x="39529" y="7525"/>
                    <a:pt x="41720" y="18288"/>
                  </a:cubicBezTo>
                  <a:lnTo>
                    <a:pt x="29528" y="2028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0A3B2AF-C85E-A3A5-02EC-095EA42E3DC6}"/>
                </a:ext>
              </a:extLst>
            </p:cNvPr>
            <p:cNvSpPr/>
            <p:nvPr/>
          </p:nvSpPr>
          <p:spPr>
            <a:xfrm>
              <a:off x="5130640" y="3524821"/>
              <a:ext cx="31813" cy="88677"/>
            </a:xfrm>
            <a:custGeom>
              <a:avLst/>
              <a:gdLst>
                <a:gd name="connsiteX0" fmla="*/ 0 w 31813"/>
                <a:gd name="connsiteY0" fmla="*/ 30385 h 88677"/>
                <a:gd name="connsiteX1" fmla="*/ 0 w 31813"/>
                <a:gd name="connsiteY1" fmla="*/ 18574 h 88677"/>
                <a:gd name="connsiteX2" fmla="*/ 7906 w 31813"/>
                <a:gd name="connsiteY2" fmla="*/ 18574 h 88677"/>
                <a:gd name="connsiteX3" fmla="*/ 7906 w 31813"/>
                <a:gd name="connsiteY3" fmla="*/ 0 h 88677"/>
                <a:gd name="connsiteX4" fmla="*/ 22193 w 31813"/>
                <a:gd name="connsiteY4" fmla="*/ 0 h 88677"/>
                <a:gd name="connsiteX5" fmla="*/ 22193 w 31813"/>
                <a:gd name="connsiteY5" fmla="*/ 18574 h 88677"/>
                <a:gd name="connsiteX6" fmla="*/ 31814 w 31813"/>
                <a:gd name="connsiteY6" fmla="*/ 18574 h 88677"/>
                <a:gd name="connsiteX7" fmla="*/ 31814 w 31813"/>
                <a:gd name="connsiteY7" fmla="*/ 30385 h 88677"/>
                <a:gd name="connsiteX8" fmla="*/ 22193 w 31813"/>
                <a:gd name="connsiteY8" fmla="*/ 30385 h 88677"/>
                <a:gd name="connsiteX9" fmla="*/ 22193 w 31813"/>
                <a:gd name="connsiteY9" fmla="*/ 70009 h 88677"/>
                <a:gd name="connsiteX10" fmla="*/ 27051 w 31813"/>
                <a:gd name="connsiteY10" fmla="*/ 75628 h 88677"/>
                <a:gd name="connsiteX11" fmla="*/ 31814 w 31813"/>
                <a:gd name="connsiteY11" fmla="*/ 75628 h 88677"/>
                <a:gd name="connsiteX12" fmla="*/ 31814 w 31813"/>
                <a:gd name="connsiteY12" fmla="*/ 87916 h 88677"/>
                <a:gd name="connsiteX13" fmla="*/ 24670 w 31813"/>
                <a:gd name="connsiteY13" fmla="*/ 88678 h 88677"/>
                <a:gd name="connsiteX14" fmla="*/ 7906 w 31813"/>
                <a:gd name="connsiteY14" fmla="*/ 73152 h 88677"/>
                <a:gd name="connsiteX15" fmla="*/ 7906 w 31813"/>
                <a:gd name="connsiteY15" fmla="*/ 30290 h 88677"/>
                <a:gd name="connsiteX16" fmla="*/ 0 w 31813"/>
                <a:gd name="connsiteY16" fmla="*/ 30290 h 88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813" h="88677">
                  <a:moveTo>
                    <a:pt x="0" y="30385"/>
                  </a:moveTo>
                  <a:lnTo>
                    <a:pt x="0" y="18574"/>
                  </a:lnTo>
                  <a:lnTo>
                    <a:pt x="7906" y="18574"/>
                  </a:lnTo>
                  <a:lnTo>
                    <a:pt x="7906" y="0"/>
                  </a:lnTo>
                  <a:lnTo>
                    <a:pt x="22193" y="0"/>
                  </a:lnTo>
                  <a:lnTo>
                    <a:pt x="22193" y="18574"/>
                  </a:lnTo>
                  <a:lnTo>
                    <a:pt x="31814" y="18574"/>
                  </a:lnTo>
                  <a:lnTo>
                    <a:pt x="31814" y="30385"/>
                  </a:lnTo>
                  <a:lnTo>
                    <a:pt x="22193" y="30385"/>
                  </a:lnTo>
                  <a:lnTo>
                    <a:pt x="22193" y="70009"/>
                  </a:lnTo>
                  <a:cubicBezTo>
                    <a:pt x="22193" y="73628"/>
                    <a:pt x="23717" y="75628"/>
                    <a:pt x="27051" y="75628"/>
                  </a:cubicBezTo>
                  <a:lnTo>
                    <a:pt x="31814" y="75628"/>
                  </a:lnTo>
                  <a:lnTo>
                    <a:pt x="31814" y="87916"/>
                  </a:lnTo>
                  <a:cubicBezTo>
                    <a:pt x="29908" y="88392"/>
                    <a:pt x="28194" y="88678"/>
                    <a:pt x="24670" y="88678"/>
                  </a:cubicBezTo>
                  <a:cubicBezTo>
                    <a:pt x="13906" y="88678"/>
                    <a:pt x="7906" y="83725"/>
                    <a:pt x="7906" y="73152"/>
                  </a:cubicBezTo>
                  <a:lnTo>
                    <a:pt x="7906" y="30290"/>
                  </a:lnTo>
                  <a:lnTo>
                    <a:pt x="0" y="30290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F3B1BAF-6F61-C0AD-CD7F-2E843E757B7D}"/>
                </a:ext>
              </a:extLst>
            </p:cNvPr>
            <p:cNvSpPr/>
            <p:nvPr/>
          </p:nvSpPr>
          <p:spPr>
            <a:xfrm>
              <a:off x="5169217" y="3542061"/>
              <a:ext cx="45815" cy="71532"/>
            </a:xfrm>
            <a:custGeom>
              <a:avLst/>
              <a:gdLst>
                <a:gd name="connsiteX0" fmla="*/ 1048 w 45815"/>
                <a:gd name="connsiteY0" fmla="*/ 21527 h 71532"/>
                <a:gd name="connsiteX1" fmla="*/ 24098 w 45815"/>
                <a:gd name="connsiteY1" fmla="*/ 0 h 71532"/>
                <a:gd name="connsiteX2" fmla="*/ 44958 w 45815"/>
                <a:gd name="connsiteY2" fmla="*/ 18669 h 71532"/>
                <a:gd name="connsiteX3" fmla="*/ 44958 w 45815"/>
                <a:gd name="connsiteY3" fmla="*/ 62865 h 71532"/>
                <a:gd name="connsiteX4" fmla="*/ 45815 w 45815"/>
                <a:gd name="connsiteY4" fmla="*/ 70199 h 71532"/>
                <a:gd name="connsiteX5" fmla="*/ 32099 w 45815"/>
                <a:gd name="connsiteY5" fmla="*/ 70199 h 71532"/>
                <a:gd name="connsiteX6" fmla="*/ 31337 w 45815"/>
                <a:gd name="connsiteY6" fmla="*/ 64865 h 71532"/>
                <a:gd name="connsiteX7" fmla="*/ 14573 w 45815"/>
                <a:gd name="connsiteY7" fmla="*/ 71533 h 71532"/>
                <a:gd name="connsiteX8" fmla="*/ 0 w 45815"/>
                <a:gd name="connsiteY8" fmla="*/ 56007 h 71532"/>
                <a:gd name="connsiteX9" fmla="*/ 30575 w 45815"/>
                <a:gd name="connsiteY9" fmla="*/ 24765 h 71532"/>
                <a:gd name="connsiteX10" fmla="*/ 30575 w 45815"/>
                <a:gd name="connsiteY10" fmla="*/ 20669 h 71532"/>
                <a:gd name="connsiteX11" fmla="*/ 23527 w 45815"/>
                <a:gd name="connsiteY11" fmla="*/ 11811 h 71532"/>
                <a:gd name="connsiteX12" fmla="*/ 15335 w 45815"/>
                <a:gd name="connsiteY12" fmla="*/ 21527 h 71532"/>
                <a:gd name="connsiteX13" fmla="*/ 1048 w 45815"/>
                <a:gd name="connsiteY13" fmla="*/ 21527 h 71532"/>
                <a:gd name="connsiteX14" fmla="*/ 30575 w 45815"/>
                <a:gd name="connsiteY14" fmla="*/ 35243 h 71532"/>
                <a:gd name="connsiteX15" fmla="*/ 14288 w 45815"/>
                <a:gd name="connsiteY15" fmla="*/ 53435 h 71532"/>
                <a:gd name="connsiteX16" fmla="*/ 20955 w 45815"/>
                <a:gd name="connsiteY16" fmla="*/ 59722 h 71532"/>
                <a:gd name="connsiteX17" fmla="*/ 30575 w 45815"/>
                <a:gd name="connsiteY17" fmla="*/ 53340 h 71532"/>
                <a:gd name="connsiteX18" fmla="*/ 30575 w 45815"/>
                <a:gd name="connsiteY18" fmla="*/ 35338 h 7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815" h="71532">
                  <a:moveTo>
                    <a:pt x="1048" y="21527"/>
                  </a:moveTo>
                  <a:cubicBezTo>
                    <a:pt x="1810" y="7620"/>
                    <a:pt x="10668" y="0"/>
                    <a:pt x="24098" y="0"/>
                  </a:cubicBezTo>
                  <a:cubicBezTo>
                    <a:pt x="37528" y="0"/>
                    <a:pt x="44958" y="6191"/>
                    <a:pt x="44958" y="18669"/>
                  </a:cubicBezTo>
                  <a:lnTo>
                    <a:pt x="44958" y="62865"/>
                  </a:lnTo>
                  <a:cubicBezTo>
                    <a:pt x="44958" y="65056"/>
                    <a:pt x="45434" y="67818"/>
                    <a:pt x="45815" y="70199"/>
                  </a:cubicBezTo>
                  <a:lnTo>
                    <a:pt x="32099" y="70199"/>
                  </a:lnTo>
                  <a:cubicBezTo>
                    <a:pt x="32004" y="68294"/>
                    <a:pt x="31432" y="66484"/>
                    <a:pt x="31337" y="64865"/>
                  </a:cubicBezTo>
                  <a:cubicBezTo>
                    <a:pt x="25908" y="69247"/>
                    <a:pt x="21526" y="71533"/>
                    <a:pt x="14573" y="71533"/>
                  </a:cubicBezTo>
                  <a:cubicBezTo>
                    <a:pt x="4858" y="71533"/>
                    <a:pt x="0" y="64865"/>
                    <a:pt x="0" y="56007"/>
                  </a:cubicBezTo>
                  <a:cubicBezTo>
                    <a:pt x="0" y="40862"/>
                    <a:pt x="10001" y="32576"/>
                    <a:pt x="30575" y="24765"/>
                  </a:cubicBezTo>
                  <a:lnTo>
                    <a:pt x="30575" y="20669"/>
                  </a:lnTo>
                  <a:cubicBezTo>
                    <a:pt x="30575" y="14954"/>
                    <a:pt x="28289" y="11811"/>
                    <a:pt x="23527" y="11811"/>
                  </a:cubicBezTo>
                  <a:cubicBezTo>
                    <a:pt x="17050" y="11811"/>
                    <a:pt x="15621" y="15621"/>
                    <a:pt x="15335" y="21527"/>
                  </a:cubicBezTo>
                  <a:lnTo>
                    <a:pt x="1048" y="21527"/>
                  </a:lnTo>
                  <a:close/>
                  <a:moveTo>
                    <a:pt x="30575" y="35243"/>
                  </a:moveTo>
                  <a:cubicBezTo>
                    <a:pt x="17526" y="42672"/>
                    <a:pt x="14288" y="47434"/>
                    <a:pt x="14288" y="53435"/>
                  </a:cubicBezTo>
                  <a:cubicBezTo>
                    <a:pt x="14288" y="57912"/>
                    <a:pt x="16573" y="59722"/>
                    <a:pt x="20955" y="59722"/>
                  </a:cubicBezTo>
                  <a:cubicBezTo>
                    <a:pt x="24955" y="59722"/>
                    <a:pt x="28099" y="56769"/>
                    <a:pt x="30575" y="53340"/>
                  </a:cubicBezTo>
                  <a:lnTo>
                    <a:pt x="30575" y="35338"/>
                  </a:lnTo>
                  <a:close/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A6AF97D-51DE-AD95-24C4-E483E04EEC59}"/>
                </a:ext>
              </a:extLst>
            </p:cNvPr>
            <p:cNvSpPr/>
            <p:nvPr/>
          </p:nvSpPr>
          <p:spPr>
            <a:xfrm>
              <a:off x="5241892" y="3524726"/>
              <a:ext cx="88963" cy="88868"/>
            </a:xfrm>
            <a:custGeom>
              <a:avLst/>
              <a:gdLst>
                <a:gd name="connsiteX0" fmla="*/ 85725 w 88963"/>
                <a:gd name="connsiteY0" fmla="*/ 0 h 88868"/>
                <a:gd name="connsiteX1" fmla="*/ 3143 w 88963"/>
                <a:gd name="connsiteY1" fmla="*/ 0 h 88868"/>
                <a:gd name="connsiteX2" fmla="*/ 0 w 88963"/>
                <a:gd name="connsiteY2" fmla="*/ 3143 h 88868"/>
                <a:gd name="connsiteX3" fmla="*/ 0 w 88963"/>
                <a:gd name="connsiteY3" fmla="*/ 59436 h 88868"/>
                <a:gd name="connsiteX4" fmla="*/ 476 w 88963"/>
                <a:gd name="connsiteY4" fmla="*/ 59436 h 88868"/>
                <a:gd name="connsiteX5" fmla="*/ 19621 w 88963"/>
                <a:gd name="connsiteY5" fmla="*/ 56198 h 88868"/>
                <a:gd name="connsiteX6" fmla="*/ 32004 w 88963"/>
                <a:gd name="connsiteY6" fmla="*/ 44863 h 88868"/>
                <a:gd name="connsiteX7" fmla="*/ 35338 w 88963"/>
                <a:gd name="connsiteY7" fmla="*/ 40100 h 88868"/>
                <a:gd name="connsiteX8" fmla="*/ 36385 w 88963"/>
                <a:gd name="connsiteY8" fmla="*/ 38576 h 88868"/>
                <a:gd name="connsiteX9" fmla="*/ 37433 w 88963"/>
                <a:gd name="connsiteY9" fmla="*/ 37148 h 88868"/>
                <a:gd name="connsiteX10" fmla="*/ 40481 w 88963"/>
                <a:gd name="connsiteY10" fmla="*/ 32766 h 88868"/>
                <a:gd name="connsiteX11" fmla="*/ 59912 w 88963"/>
                <a:gd name="connsiteY11" fmla="*/ 15240 h 88868"/>
                <a:gd name="connsiteX12" fmla="*/ 88678 w 88963"/>
                <a:gd name="connsiteY12" fmla="*/ 9525 h 88868"/>
                <a:gd name="connsiteX13" fmla="*/ 88963 w 88963"/>
                <a:gd name="connsiteY13" fmla="*/ 9525 h 88868"/>
                <a:gd name="connsiteX14" fmla="*/ 88963 w 88963"/>
                <a:gd name="connsiteY14" fmla="*/ 3143 h 88868"/>
                <a:gd name="connsiteX15" fmla="*/ 85820 w 88963"/>
                <a:gd name="connsiteY15" fmla="*/ 0 h 88868"/>
                <a:gd name="connsiteX16" fmla="*/ 68961 w 88963"/>
                <a:gd name="connsiteY16" fmla="*/ 32671 h 88868"/>
                <a:gd name="connsiteX17" fmla="*/ 56578 w 88963"/>
                <a:gd name="connsiteY17" fmla="*/ 44005 h 88868"/>
                <a:gd name="connsiteX18" fmla="*/ 53245 w 88963"/>
                <a:gd name="connsiteY18" fmla="*/ 48768 h 88868"/>
                <a:gd name="connsiteX19" fmla="*/ 52197 w 88963"/>
                <a:gd name="connsiteY19" fmla="*/ 50292 h 88868"/>
                <a:gd name="connsiteX20" fmla="*/ 51149 w 88963"/>
                <a:gd name="connsiteY20" fmla="*/ 51721 h 88868"/>
                <a:gd name="connsiteX21" fmla="*/ 48101 w 88963"/>
                <a:gd name="connsiteY21" fmla="*/ 56102 h 88868"/>
                <a:gd name="connsiteX22" fmla="*/ 28670 w 88963"/>
                <a:gd name="connsiteY22" fmla="*/ 73628 h 88868"/>
                <a:gd name="connsiteX23" fmla="*/ 0 w 88963"/>
                <a:gd name="connsiteY23" fmla="*/ 79343 h 88868"/>
                <a:gd name="connsiteX24" fmla="*/ 0 w 88963"/>
                <a:gd name="connsiteY24" fmla="*/ 85725 h 88868"/>
                <a:gd name="connsiteX25" fmla="*/ 3143 w 88963"/>
                <a:gd name="connsiteY25" fmla="*/ 88868 h 88868"/>
                <a:gd name="connsiteX26" fmla="*/ 85725 w 88963"/>
                <a:gd name="connsiteY26" fmla="*/ 88868 h 88868"/>
                <a:gd name="connsiteX27" fmla="*/ 88868 w 88963"/>
                <a:gd name="connsiteY27" fmla="*/ 85725 h 88868"/>
                <a:gd name="connsiteX28" fmla="*/ 88868 w 88963"/>
                <a:gd name="connsiteY28" fmla="*/ 29432 h 88868"/>
                <a:gd name="connsiteX29" fmla="*/ 88106 w 88963"/>
                <a:gd name="connsiteY29" fmla="*/ 29432 h 88868"/>
                <a:gd name="connsiteX30" fmla="*/ 68961 w 88963"/>
                <a:gd name="connsiteY30" fmla="*/ 32671 h 8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8963" h="88868">
                  <a:moveTo>
                    <a:pt x="85725" y="0"/>
                  </a:moveTo>
                  <a:lnTo>
                    <a:pt x="3143" y="0"/>
                  </a:lnTo>
                  <a:cubicBezTo>
                    <a:pt x="1429" y="0"/>
                    <a:pt x="0" y="1429"/>
                    <a:pt x="0" y="3143"/>
                  </a:cubicBezTo>
                  <a:lnTo>
                    <a:pt x="0" y="59436"/>
                  </a:lnTo>
                  <a:cubicBezTo>
                    <a:pt x="0" y="59436"/>
                    <a:pt x="286" y="59436"/>
                    <a:pt x="476" y="59436"/>
                  </a:cubicBezTo>
                  <a:cubicBezTo>
                    <a:pt x="476" y="59436"/>
                    <a:pt x="13811" y="59150"/>
                    <a:pt x="19621" y="56198"/>
                  </a:cubicBezTo>
                  <a:cubicBezTo>
                    <a:pt x="26670" y="52483"/>
                    <a:pt x="32004" y="44863"/>
                    <a:pt x="32004" y="44863"/>
                  </a:cubicBezTo>
                  <a:cubicBezTo>
                    <a:pt x="33338" y="42958"/>
                    <a:pt x="34862" y="40767"/>
                    <a:pt x="35338" y="40100"/>
                  </a:cubicBezTo>
                  <a:cubicBezTo>
                    <a:pt x="35814" y="39433"/>
                    <a:pt x="36290" y="38767"/>
                    <a:pt x="36385" y="38576"/>
                  </a:cubicBezTo>
                  <a:cubicBezTo>
                    <a:pt x="36481" y="38386"/>
                    <a:pt x="37052" y="37624"/>
                    <a:pt x="37433" y="37148"/>
                  </a:cubicBezTo>
                  <a:cubicBezTo>
                    <a:pt x="37719" y="36671"/>
                    <a:pt x="39148" y="34671"/>
                    <a:pt x="40481" y="32766"/>
                  </a:cubicBezTo>
                  <a:cubicBezTo>
                    <a:pt x="40481" y="32766"/>
                    <a:pt x="48577" y="21146"/>
                    <a:pt x="59912" y="15240"/>
                  </a:cubicBezTo>
                  <a:cubicBezTo>
                    <a:pt x="72295" y="8858"/>
                    <a:pt x="88678" y="9525"/>
                    <a:pt x="88678" y="9525"/>
                  </a:cubicBezTo>
                  <a:cubicBezTo>
                    <a:pt x="88678" y="9525"/>
                    <a:pt x="88868" y="9525"/>
                    <a:pt x="88963" y="9525"/>
                  </a:cubicBezTo>
                  <a:lnTo>
                    <a:pt x="88963" y="3143"/>
                  </a:lnTo>
                  <a:cubicBezTo>
                    <a:pt x="88963" y="1429"/>
                    <a:pt x="87535" y="0"/>
                    <a:pt x="85820" y="0"/>
                  </a:cubicBezTo>
                  <a:moveTo>
                    <a:pt x="68961" y="32671"/>
                  </a:moveTo>
                  <a:cubicBezTo>
                    <a:pt x="61913" y="36385"/>
                    <a:pt x="56578" y="44005"/>
                    <a:pt x="56578" y="44005"/>
                  </a:cubicBezTo>
                  <a:cubicBezTo>
                    <a:pt x="55245" y="45910"/>
                    <a:pt x="53721" y="48101"/>
                    <a:pt x="53245" y="48768"/>
                  </a:cubicBezTo>
                  <a:cubicBezTo>
                    <a:pt x="52768" y="49435"/>
                    <a:pt x="52292" y="50102"/>
                    <a:pt x="52197" y="50292"/>
                  </a:cubicBezTo>
                  <a:cubicBezTo>
                    <a:pt x="52102" y="50482"/>
                    <a:pt x="51530" y="51245"/>
                    <a:pt x="51149" y="51721"/>
                  </a:cubicBezTo>
                  <a:cubicBezTo>
                    <a:pt x="50863" y="52197"/>
                    <a:pt x="49435" y="54197"/>
                    <a:pt x="48101" y="56102"/>
                  </a:cubicBezTo>
                  <a:cubicBezTo>
                    <a:pt x="48101" y="56102"/>
                    <a:pt x="40005" y="67723"/>
                    <a:pt x="28670" y="73628"/>
                  </a:cubicBezTo>
                  <a:cubicBezTo>
                    <a:pt x="16859" y="79820"/>
                    <a:pt x="1333" y="79343"/>
                    <a:pt x="0" y="79343"/>
                  </a:cubicBezTo>
                  <a:lnTo>
                    <a:pt x="0" y="85725"/>
                  </a:lnTo>
                  <a:cubicBezTo>
                    <a:pt x="0" y="87440"/>
                    <a:pt x="1429" y="88868"/>
                    <a:pt x="3143" y="88868"/>
                  </a:cubicBezTo>
                  <a:lnTo>
                    <a:pt x="85725" y="88868"/>
                  </a:lnTo>
                  <a:cubicBezTo>
                    <a:pt x="87439" y="88868"/>
                    <a:pt x="88868" y="87440"/>
                    <a:pt x="88868" y="85725"/>
                  </a:cubicBezTo>
                  <a:lnTo>
                    <a:pt x="88868" y="29432"/>
                  </a:lnTo>
                  <a:cubicBezTo>
                    <a:pt x="88868" y="29432"/>
                    <a:pt x="88297" y="29432"/>
                    <a:pt x="88106" y="29432"/>
                  </a:cubicBezTo>
                  <a:cubicBezTo>
                    <a:pt x="88106" y="29432"/>
                    <a:pt x="74771" y="29718"/>
                    <a:pt x="68961" y="32671"/>
                  </a:cubicBezTo>
                </a:path>
              </a:pathLst>
            </a:custGeom>
            <a:solidFill>
              <a:srgbClr val="112A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F43010F-B010-415E-5E2C-1C1697C4E51C}"/>
                </a:ext>
              </a:extLst>
            </p:cNvPr>
            <p:cNvSpPr/>
            <p:nvPr/>
          </p:nvSpPr>
          <p:spPr>
            <a:xfrm>
              <a:off x="5691663" y="3243548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4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A970884-B9E7-9D61-4A56-E4D8D76939ED}"/>
                </a:ext>
              </a:extLst>
            </p:cNvPr>
            <p:cNvSpPr/>
            <p:nvPr/>
          </p:nvSpPr>
          <p:spPr>
            <a:xfrm>
              <a:off x="5786627" y="3243548"/>
              <a:ext cx="78962" cy="94107"/>
            </a:xfrm>
            <a:custGeom>
              <a:avLst/>
              <a:gdLst>
                <a:gd name="connsiteX0" fmla="*/ 19622 w 78962"/>
                <a:gd name="connsiteY0" fmla="*/ 40481 h 94107"/>
                <a:gd name="connsiteX1" fmla="*/ 54007 w 78962"/>
                <a:gd name="connsiteY1" fmla="*/ 0 h 94107"/>
                <a:gd name="connsiteX2" fmla="*/ 77629 w 78962"/>
                <a:gd name="connsiteY2" fmla="*/ 0 h 94107"/>
                <a:gd name="connsiteX3" fmla="*/ 38481 w 78962"/>
                <a:gd name="connsiteY3" fmla="*/ 45053 h 94107"/>
                <a:gd name="connsiteX4" fmla="*/ 78962 w 78962"/>
                <a:gd name="connsiteY4" fmla="*/ 94107 h 94107"/>
                <a:gd name="connsiteX5" fmla="*/ 54864 w 78962"/>
                <a:gd name="connsiteY5" fmla="*/ 94107 h 94107"/>
                <a:gd name="connsiteX6" fmla="*/ 19622 w 78962"/>
                <a:gd name="connsiteY6" fmla="*/ 51435 h 94107"/>
                <a:gd name="connsiteX7" fmla="*/ 19622 w 78962"/>
                <a:gd name="connsiteY7" fmla="*/ 94107 h 94107"/>
                <a:gd name="connsiteX8" fmla="*/ 0 w 78962"/>
                <a:gd name="connsiteY8" fmla="*/ 94107 h 94107"/>
                <a:gd name="connsiteX9" fmla="*/ 0 w 78962"/>
                <a:gd name="connsiteY9" fmla="*/ 0 h 94107"/>
                <a:gd name="connsiteX10" fmla="*/ 19622 w 78962"/>
                <a:gd name="connsiteY10" fmla="*/ 0 h 94107"/>
                <a:gd name="connsiteX11" fmla="*/ 19622 w 78962"/>
                <a:gd name="connsiteY11" fmla="*/ 40481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62" h="94107">
                  <a:moveTo>
                    <a:pt x="19622" y="40481"/>
                  </a:moveTo>
                  <a:lnTo>
                    <a:pt x="54007" y="0"/>
                  </a:lnTo>
                  <a:lnTo>
                    <a:pt x="77629" y="0"/>
                  </a:lnTo>
                  <a:lnTo>
                    <a:pt x="38481" y="45053"/>
                  </a:lnTo>
                  <a:lnTo>
                    <a:pt x="78962" y="94107"/>
                  </a:lnTo>
                  <a:lnTo>
                    <a:pt x="54864" y="94107"/>
                  </a:lnTo>
                  <a:lnTo>
                    <a:pt x="19622" y="51435"/>
                  </a:lnTo>
                  <a:lnTo>
                    <a:pt x="19622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9622" y="0"/>
                  </a:lnTo>
                  <a:lnTo>
                    <a:pt x="19622" y="40481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EC46F42-4810-3DB9-19DF-96AF88057E9E}"/>
                </a:ext>
              </a:extLst>
            </p:cNvPr>
            <p:cNvSpPr/>
            <p:nvPr/>
          </p:nvSpPr>
          <p:spPr>
            <a:xfrm>
              <a:off x="5869209" y="3242024"/>
              <a:ext cx="25622" cy="39624"/>
            </a:xfrm>
            <a:custGeom>
              <a:avLst/>
              <a:gdLst>
                <a:gd name="connsiteX0" fmla="*/ 10858 w 25622"/>
                <a:gd name="connsiteY0" fmla="*/ 22670 h 39624"/>
                <a:gd name="connsiteX1" fmla="*/ 1524 w 25622"/>
                <a:gd name="connsiteY1" fmla="*/ 11621 h 39624"/>
                <a:gd name="connsiteX2" fmla="*/ 13525 w 25622"/>
                <a:gd name="connsiteY2" fmla="*/ 0 h 39624"/>
                <a:gd name="connsiteX3" fmla="*/ 25622 w 25622"/>
                <a:gd name="connsiteY3" fmla="*/ 13049 h 39624"/>
                <a:gd name="connsiteX4" fmla="*/ 20574 w 25622"/>
                <a:gd name="connsiteY4" fmla="*/ 26860 h 39624"/>
                <a:gd name="connsiteX5" fmla="*/ 12097 w 25622"/>
                <a:gd name="connsiteY5" fmla="*/ 39624 h 39624"/>
                <a:gd name="connsiteX6" fmla="*/ 0 w 25622"/>
                <a:gd name="connsiteY6" fmla="*/ 39624 h 39624"/>
                <a:gd name="connsiteX7" fmla="*/ 10858 w 25622"/>
                <a:gd name="connsiteY7" fmla="*/ 22765 h 3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22" h="39624">
                  <a:moveTo>
                    <a:pt x="10858" y="22670"/>
                  </a:moveTo>
                  <a:cubicBezTo>
                    <a:pt x="5620" y="21717"/>
                    <a:pt x="1524" y="17812"/>
                    <a:pt x="1524" y="11621"/>
                  </a:cubicBezTo>
                  <a:cubicBezTo>
                    <a:pt x="1524" y="4858"/>
                    <a:pt x="6763" y="0"/>
                    <a:pt x="13525" y="0"/>
                  </a:cubicBezTo>
                  <a:cubicBezTo>
                    <a:pt x="20288" y="0"/>
                    <a:pt x="25622" y="4572"/>
                    <a:pt x="25622" y="13049"/>
                  </a:cubicBezTo>
                  <a:cubicBezTo>
                    <a:pt x="25622" y="17621"/>
                    <a:pt x="23336" y="22670"/>
                    <a:pt x="20574" y="26860"/>
                  </a:cubicBezTo>
                  <a:lnTo>
                    <a:pt x="12097" y="39624"/>
                  </a:lnTo>
                  <a:lnTo>
                    <a:pt x="0" y="39624"/>
                  </a:lnTo>
                  <a:lnTo>
                    <a:pt x="10858" y="22765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29E4E4-70A3-22EC-AB25-C929C15651C8}"/>
                </a:ext>
              </a:extLst>
            </p:cNvPr>
            <p:cNvSpPr/>
            <p:nvPr/>
          </p:nvSpPr>
          <p:spPr>
            <a:xfrm>
              <a:off x="5901594" y="3242024"/>
              <a:ext cx="67246" cy="97154"/>
            </a:xfrm>
            <a:custGeom>
              <a:avLst/>
              <a:gdLst>
                <a:gd name="connsiteX0" fmla="*/ 1238 w 67246"/>
                <a:gd name="connsiteY0" fmla="*/ 69913 h 97154"/>
                <a:gd name="connsiteX1" fmla="*/ 31337 w 67246"/>
                <a:gd name="connsiteY1" fmla="*/ 80296 h 97154"/>
                <a:gd name="connsiteX2" fmla="*/ 48006 w 67246"/>
                <a:gd name="connsiteY2" fmla="*/ 70009 h 97154"/>
                <a:gd name="connsiteX3" fmla="*/ 36957 w 67246"/>
                <a:gd name="connsiteY3" fmla="*/ 58960 h 97154"/>
                <a:gd name="connsiteX4" fmla="*/ 23146 w 67246"/>
                <a:gd name="connsiteY4" fmla="*/ 54388 h 97154"/>
                <a:gd name="connsiteX5" fmla="*/ 0 w 67246"/>
                <a:gd name="connsiteY5" fmla="*/ 26956 h 97154"/>
                <a:gd name="connsiteX6" fmla="*/ 33433 w 67246"/>
                <a:gd name="connsiteY6" fmla="*/ 0 h 97154"/>
                <a:gd name="connsiteX7" fmla="*/ 61913 w 67246"/>
                <a:gd name="connsiteY7" fmla="*/ 7334 h 97154"/>
                <a:gd name="connsiteX8" fmla="*/ 61913 w 67246"/>
                <a:gd name="connsiteY8" fmla="*/ 26479 h 97154"/>
                <a:gd name="connsiteX9" fmla="*/ 34004 w 67246"/>
                <a:gd name="connsiteY9" fmla="*/ 16669 h 97154"/>
                <a:gd name="connsiteX10" fmla="*/ 19145 w 67246"/>
                <a:gd name="connsiteY10" fmla="*/ 26003 h 97154"/>
                <a:gd name="connsiteX11" fmla="*/ 29528 w 67246"/>
                <a:gd name="connsiteY11" fmla="*/ 36290 h 97154"/>
                <a:gd name="connsiteX12" fmla="*/ 44291 w 67246"/>
                <a:gd name="connsiteY12" fmla="*/ 41338 h 97154"/>
                <a:gd name="connsiteX13" fmla="*/ 67247 w 67246"/>
                <a:gd name="connsiteY13" fmla="*/ 69247 h 97154"/>
                <a:gd name="connsiteX14" fmla="*/ 31528 w 67246"/>
                <a:gd name="connsiteY14" fmla="*/ 97155 h 97154"/>
                <a:gd name="connsiteX15" fmla="*/ 1143 w 67246"/>
                <a:gd name="connsiteY15" fmla="*/ 89154 h 97154"/>
                <a:gd name="connsiteX16" fmla="*/ 1143 w 67246"/>
                <a:gd name="connsiteY16" fmla="*/ 69818 h 97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4">
                  <a:moveTo>
                    <a:pt x="1238" y="69913"/>
                  </a:moveTo>
                  <a:cubicBezTo>
                    <a:pt x="9716" y="76200"/>
                    <a:pt x="20384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79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8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710B27F-ADF3-E5AD-1DD3-74CAC95184CD}"/>
                </a:ext>
              </a:extLst>
            </p:cNvPr>
            <p:cNvSpPr/>
            <p:nvPr/>
          </p:nvSpPr>
          <p:spPr>
            <a:xfrm>
              <a:off x="6015132" y="324354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2 w 63436"/>
                <a:gd name="connsiteY1" fmla="*/ 0 h 94107"/>
                <a:gd name="connsiteX2" fmla="*/ 19622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2" y="0"/>
                  </a:lnTo>
                  <a:lnTo>
                    <a:pt x="19622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A135EA2-B2BF-96D4-5CFE-4A1136066D20}"/>
                </a:ext>
              </a:extLst>
            </p:cNvPr>
            <p:cNvSpPr/>
            <p:nvPr/>
          </p:nvSpPr>
          <p:spPr>
            <a:xfrm>
              <a:off x="6092856" y="3243548"/>
              <a:ext cx="63912" cy="94107"/>
            </a:xfrm>
            <a:custGeom>
              <a:avLst/>
              <a:gdLst>
                <a:gd name="connsiteX0" fmla="*/ 63913 w 63912"/>
                <a:gd name="connsiteY0" fmla="*/ 0 h 94107"/>
                <a:gd name="connsiteX1" fmla="*/ 63913 w 63912"/>
                <a:gd name="connsiteY1" fmla="*/ 17145 h 94107"/>
                <a:gd name="connsiteX2" fmla="*/ 19336 w 63912"/>
                <a:gd name="connsiteY2" fmla="*/ 17145 h 94107"/>
                <a:gd name="connsiteX3" fmla="*/ 19336 w 63912"/>
                <a:gd name="connsiteY3" fmla="*/ 37719 h 94107"/>
                <a:gd name="connsiteX4" fmla="*/ 59817 w 63912"/>
                <a:gd name="connsiteY4" fmla="*/ 37719 h 94107"/>
                <a:gd name="connsiteX5" fmla="*/ 59817 w 63912"/>
                <a:gd name="connsiteY5" fmla="*/ 54388 h 94107"/>
                <a:gd name="connsiteX6" fmla="*/ 19336 w 63912"/>
                <a:gd name="connsiteY6" fmla="*/ 54388 h 94107"/>
                <a:gd name="connsiteX7" fmla="*/ 19336 w 63912"/>
                <a:gd name="connsiteY7" fmla="*/ 76772 h 94107"/>
                <a:gd name="connsiteX8" fmla="*/ 63913 w 63912"/>
                <a:gd name="connsiteY8" fmla="*/ 76772 h 94107"/>
                <a:gd name="connsiteX9" fmla="*/ 63913 w 63912"/>
                <a:gd name="connsiteY9" fmla="*/ 94107 h 94107"/>
                <a:gd name="connsiteX10" fmla="*/ 0 w 63912"/>
                <a:gd name="connsiteY10" fmla="*/ 94107 h 94107"/>
                <a:gd name="connsiteX11" fmla="*/ 0 w 63912"/>
                <a:gd name="connsiteY11" fmla="*/ 0 h 94107"/>
                <a:gd name="connsiteX12" fmla="*/ 63913 w 63912"/>
                <a:gd name="connsiteY12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7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2"/>
                  </a:lnTo>
                  <a:lnTo>
                    <a:pt x="63913" y="76772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6643EFF-807E-89C6-B806-A0850E1568B3}"/>
                </a:ext>
              </a:extLst>
            </p:cNvPr>
            <p:cNvSpPr/>
            <p:nvPr/>
          </p:nvSpPr>
          <p:spPr>
            <a:xfrm>
              <a:off x="6165246" y="324354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959 h 94107"/>
                <a:gd name="connsiteX10" fmla="*/ 56959 w 91439"/>
                <a:gd name="connsiteY10" fmla="*/ 54959 h 94107"/>
                <a:gd name="connsiteX11" fmla="*/ 45434 w 91439"/>
                <a:gd name="connsiteY11" fmla="*/ 23717 h 94107"/>
                <a:gd name="connsiteX12" fmla="*/ 33909 w 91439"/>
                <a:gd name="connsiteY12" fmla="*/ 5495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959"/>
                  </a:moveTo>
                  <a:lnTo>
                    <a:pt x="56959" y="54959"/>
                  </a:lnTo>
                  <a:lnTo>
                    <a:pt x="45434" y="23717"/>
                  </a:lnTo>
                  <a:lnTo>
                    <a:pt x="33909" y="5495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B771EDD-BDF1-E034-65C9-EE264ED7931B}"/>
                </a:ext>
              </a:extLst>
            </p:cNvPr>
            <p:cNvSpPr/>
            <p:nvPr/>
          </p:nvSpPr>
          <p:spPr>
            <a:xfrm>
              <a:off x="6268116" y="3243548"/>
              <a:ext cx="79724" cy="94107"/>
            </a:xfrm>
            <a:custGeom>
              <a:avLst/>
              <a:gdLst>
                <a:gd name="connsiteX0" fmla="*/ 0 w 79724"/>
                <a:gd name="connsiteY0" fmla="*/ 0 h 94107"/>
                <a:gd name="connsiteX1" fmla="*/ 33242 w 79724"/>
                <a:gd name="connsiteY1" fmla="*/ 0 h 94107"/>
                <a:gd name="connsiteX2" fmla="*/ 79724 w 79724"/>
                <a:gd name="connsiteY2" fmla="*/ 47053 h 94107"/>
                <a:gd name="connsiteX3" fmla="*/ 33242 w 79724"/>
                <a:gd name="connsiteY3" fmla="*/ 94107 h 94107"/>
                <a:gd name="connsiteX4" fmla="*/ 0 w 79724"/>
                <a:gd name="connsiteY4" fmla="*/ 94107 h 94107"/>
                <a:gd name="connsiteX5" fmla="*/ 0 w 79724"/>
                <a:gd name="connsiteY5" fmla="*/ 0 h 94107"/>
                <a:gd name="connsiteX6" fmla="*/ 32480 w 79724"/>
                <a:gd name="connsiteY6" fmla="*/ 76867 h 94107"/>
                <a:gd name="connsiteX7" fmla="*/ 60198 w 79724"/>
                <a:gd name="connsiteY7" fmla="*/ 47149 h 94107"/>
                <a:gd name="connsiteX8" fmla="*/ 32480 w 79724"/>
                <a:gd name="connsiteY8" fmla="*/ 17240 h 94107"/>
                <a:gd name="connsiteX9" fmla="*/ 19431 w 79724"/>
                <a:gd name="connsiteY9" fmla="*/ 17240 h 94107"/>
                <a:gd name="connsiteX10" fmla="*/ 19431 w 79724"/>
                <a:gd name="connsiteY10" fmla="*/ 76867 h 94107"/>
                <a:gd name="connsiteX11" fmla="*/ 32480 w 79724"/>
                <a:gd name="connsiteY11" fmla="*/ 7686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724" h="94107">
                  <a:moveTo>
                    <a:pt x="0" y="0"/>
                  </a:moveTo>
                  <a:lnTo>
                    <a:pt x="33242" y="0"/>
                  </a:lnTo>
                  <a:cubicBezTo>
                    <a:pt x="61722" y="0"/>
                    <a:pt x="79724" y="18383"/>
                    <a:pt x="79724" y="47053"/>
                  </a:cubicBezTo>
                  <a:cubicBezTo>
                    <a:pt x="79724" y="75724"/>
                    <a:pt x="61817" y="94107"/>
                    <a:pt x="33242" y="94107"/>
                  </a:cubicBezTo>
                  <a:lnTo>
                    <a:pt x="0" y="94107"/>
                  </a:lnTo>
                  <a:lnTo>
                    <a:pt x="0" y="0"/>
                  </a:lnTo>
                  <a:close/>
                  <a:moveTo>
                    <a:pt x="32480" y="76867"/>
                  </a:moveTo>
                  <a:cubicBezTo>
                    <a:pt x="50387" y="76867"/>
                    <a:pt x="60198" y="65341"/>
                    <a:pt x="60198" y="47149"/>
                  </a:cubicBezTo>
                  <a:cubicBezTo>
                    <a:pt x="60198" y="28956"/>
                    <a:pt x="50387" y="17240"/>
                    <a:pt x="32480" y="17240"/>
                  </a:cubicBezTo>
                  <a:lnTo>
                    <a:pt x="19431" y="17240"/>
                  </a:lnTo>
                  <a:lnTo>
                    <a:pt x="19431" y="76867"/>
                  </a:lnTo>
                  <a:lnTo>
                    <a:pt x="32480" y="7686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32E9691-B9C0-9815-CE9A-B7D6602ED3AB}"/>
                </a:ext>
              </a:extLst>
            </p:cNvPr>
            <p:cNvSpPr/>
            <p:nvPr/>
          </p:nvSpPr>
          <p:spPr>
            <a:xfrm>
              <a:off x="6361461" y="3243643"/>
              <a:ext cx="19621" cy="94107"/>
            </a:xfrm>
            <a:custGeom>
              <a:avLst/>
              <a:gdLst>
                <a:gd name="connsiteX0" fmla="*/ 19621 w 19621"/>
                <a:gd name="connsiteY0" fmla="*/ 94107 h 94107"/>
                <a:gd name="connsiteX1" fmla="*/ 0 w 19621"/>
                <a:gd name="connsiteY1" fmla="*/ 94107 h 94107"/>
                <a:gd name="connsiteX2" fmla="*/ 0 w 19621"/>
                <a:gd name="connsiteY2" fmla="*/ 0 h 94107"/>
                <a:gd name="connsiteX3" fmla="*/ 19621 w 19621"/>
                <a:gd name="connsiteY3" fmla="*/ 0 h 94107"/>
                <a:gd name="connsiteX4" fmla="*/ 19621 w 19621"/>
                <a:gd name="connsiteY4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21" h="94107">
                  <a:moveTo>
                    <a:pt x="19621" y="94107"/>
                  </a:moveTo>
                  <a:lnTo>
                    <a:pt x="0" y="94107"/>
                  </a:lnTo>
                  <a:lnTo>
                    <a:pt x="0" y="0"/>
                  </a:lnTo>
                  <a:lnTo>
                    <a:pt x="19621" y="0"/>
                  </a:lnTo>
                  <a:lnTo>
                    <a:pt x="19621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C27BD5-BBF2-3090-4823-637D6BE66BC0}"/>
                </a:ext>
              </a:extLst>
            </p:cNvPr>
            <p:cNvSpPr/>
            <p:nvPr/>
          </p:nvSpPr>
          <p:spPr>
            <a:xfrm>
              <a:off x="6398989" y="3243643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69EDCD2-0DB5-AEF7-5FE7-203802FD1584}"/>
                </a:ext>
              </a:extLst>
            </p:cNvPr>
            <p:cNvSpPr/>
            <p:nvPr/>
          </p:nvSpPr>
          <p:spPr>
            <a:xfrm>
              <a:off x="6491382" y="3242024"/>
              <a:ext cx="80486" cy="97250"/>
            </a:xfrm>
            <a:custGeom>
              <a:avLst/>
              <a:gdLst>
                <a:gd name="connsiteX0" fmla="*/ 62675 w 80486"/>
                <a:gd name="connsiteY0" fmla="*/ 74867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7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5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63B9AA7-6018-3E5E-F111-DF476F470825}"/>
                </a:ext>
              </a:extLst>
            </p:cNvPr>
            <p:cNvSpPr/>
            <p:nvPr/>
          </p:nvSpPr>
          <p:spPr>
            <a:xfrm>
              <a:off x="5693187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3 w 93059"/>
                <a:gd name="connsiteY10" fmla="*/ 94107 h 94107"/>
                <a:gd name="connsiteX11" fmla="*/ 73723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3" y="94107"/>
                  </a:lnTo>
                  <a:lnTo>
                    <a:pt x="73723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AA17EFC-9F90-0835-8777-110FA54C7159}"/>
                </a:ext>
              </a:extLst>
            </p:cNvPr>
            <p:cNvSpPr/>
            <p:nvPr/>
          </p:nvSpPr>
          <p:spPr>
            <a:xfrm>
              <a:off x="5797486" y="3380803"/>
              <a:ext cx="91439" cy="94106"/>
            </a:xfrm>
            <a:custGeom>
              <a:avLst/>
              <a:gdLst>
                <a:gd name="connsiteX0" fmla="*/ 55435 w 91439"/>
                <a:gd name="connsiteY0" fmla="*/ 0 h 94106"/>
                <a:gd name="connsiteX1" fmla="*/ 91440 w 91439"/>
                <a:gd name="connsiteY1" fmla="*/ 94107 h 94106"/>
                <a:gd name="connsiteX2" fmla="*/ 71533 w 91439"/>
                <a:gd name="connsiteY2" fmla="*/ 94107 h 94106"/>
                <a:gd name="connsiteX3" fmla="*/ 63151 w 91439"/>
                <a:gd name="connsiteY3" fmla="*/ 71437 h 94106"/>
                <a:gd name="connsiteX4" fmla="*/ 27908 w 91439"/>
                <a:gd name="connsiteY4" fmla="*/ 71437 h 94106"/>
                <a:gd name="connsiteX5" fmla="*/ 19621 w 91439"/>
                <a:gd name="connsiteY5" fmla="*/ 94107 h 94106"/>
                <a:gd name="connsiteX6" fmla="*/ 0 w 91439"/>
                <a:gd name="connsiteY6" fmla="*/ 94107 h 94106"/>
                <a:gd name="connsiteX7" fmla="*/ 36004 w 91439"/>
                <a:gd name="connsiteY7" fmla="*/ 0 h 94106"/>
                <a:gd name="connsiteX8" fmla="*/ 55435 w 91439"/>
                <a:gd name="connsiteY8" fmla="*/ 0 h 94106"/>
                <a:gd name="connsiteX9" fmla="*/ 33909 w 91439"/>
                <a:gd name="connsiteY9" fmla="*/ 54864 h 94106"/>
                <a:gd name="connsiteX10" fmla="*/ 56864 w 91439"/>
                <a:gd name="connsiteY10" fmla="*/ 54864 h 94106"/>
                <a:gd name="connsiteX11" fmla="*/ 45339 w 91439"/>
                <a:gd name="connsiteY11" fmla="*/ 23622 h 94106"/>
                <a:gd name="connsiteX12" fmla="*/ 33814 w 91439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6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3909" y="54864"/>
                  </a:moveTo>
                  <a:lnTo>
                    <a:pt x="56864" y="54864"/>
                  </a:lnTo>
                  <a:lnTo>
                    <a:pt x="45339" y="23622"/>
                  </a:lnTo>
                  <a:lnTo>
                    <a:pt x="33814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0D4C51F-B63D-432F-34E7-07F2300BA34C}"/>
                </a:ext>
              </a:extLst>
            </p:cNvPr>
            <p:cNvSpPr/>
            <p:nvPr/>
          </p:nvSpPr>
          <p:spPr>
            <a:xfrm>
              <a:off x="5900165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2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2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1667997-5EDD-F447-7B84-2AEA496795A7}"/>
                </a:ext>
              </a:extLst>
            </p:cNvPr>
            <p:cNvSpPr/>
            <p:nvPr/>
          </p:nvSpPr>
          <p:spPr>
            <a:xfrm>
              <a:off x="5990462" y="3380803"/>
              <a:ext cx="91440" cy="94106"/>
            </a:xfrm>
            <a:custGeom>
              <a:avLst/>
              <a:gdLst>
                <a:gd name="connsiteX0" fmla="*/ 55436 w 91440"/>
                <a:gd name="connsiteY0" fmla="*/ 0 h 94106"/>
                <a:gd name="connsiteX1" fmla="*/ 91440 w 91440"/>
                <a:gd name="connsiteY1" fmla="*/ 94107 h 94106"/>
                <a:gd name="connsiteX2" fmla="*/ 71533 w 91440"/>
                <a:gd name="connsiteY2" fmla="*/ 94107 h 94106"/>
                <a:gd name="connsiteX3" fmla="*/ 63151 w 91440"/>
                <a:gd name="connsiteY3" fmla="*/ 71437 h 94106"/>
                <a:gd name="connsiteX4" fmla="*/ 27908 w 91440"/>
                <a:gd name="connsiteY4" fmla="*/ 71437 h 94106"/>
                <a:gd name="connsiteX5" fmla="*/ 19621 w 91440"/>
                <a:gd name="connsiteY5" fmla="*/ 94107 h 94106"/>
                <a:gd name="connsiteX6" fmla="*/ 0 w 91440"/>
                <a:gd name="connsiteY6" fmla="*/ 94107 h 94106"/>
                <a:gd name="connsiteX7" fmla="*/ 36004 w 91440"/>
                <a:gd name="connsiteY7" fmla="*/ 0 h 94106"/>
                <a:gd name="connsiteX8" fmla="*/ 55436 w 91440"/>
                <a:gd name="connsiteY8" fmla="*/ 0 h 94106"/>
                <a:gd name="connsiteX9" fmla="*/ 34004 w 91440"/>
                <a:gd name="connsiteY9" fmla="*/ 54864 h 94106"/>
                <a:gd name="connsiteX10" fmla="*/ 56959 w 91440"/>
                <a:gd name="connsiteY10" fmla="*/ 54864 h 94106"/>
                <a:gd name="connsiteX11" fmla="*/ 45434 w 91440"/>
                <a:gd name="connsiteY11" fmla="*/ 23622 h 94106"/>
                <a:gd name="connsiteX12" fmla="*/ 33909 w 91440"/>
                <a:gd name="connsiteY12" fmla="*/ 54864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40" h="94106">
                  <a:moveTo>
                    <a:pt x="55436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7"/>
                  </a:lnTo>
                  <a:lnTo>
                    <a:pt x="27908" y="71437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6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E9E406A-19DE-91EB-A585-16276E9FDE81}"/>
                </a:ext>
              </a:extLst>
            </p:cNvPr>
            <p:cNvSpPr/>
            <p:nvPr/>
          </p:nvSpPr>
          <p:spPr>
            <a:xfrm>
              <a:off x="6084283" y="3379279"/>
              <a:ext cx="80486" cy="97250"/>
            </a:xfrm>
            <a:custGeom>
              <a:avLst/>
              <a:gdLst>
                <a:gd name="connsiteX0" fmla="*/ 62675 w 80486"/>
                <a:gd name="connsiteY0" fmla="*/ 74866 h 97250"/>
                <a:gd name="connsiteX1" fmla="*/ 62675 w 80486"/>
                <a:gd name="connsiteY1" fmla="*/ 60579 h 97250"/>
                <a:gd name="connsiteX2" fmla="*/ 46768 w 80486"/>
                <a:gd name="connsiteY2" fmla="*/ 60579 h 97250"/>
                <a:gd name="connsiteX3" fmla="*/ 46768 w 80486"/>
                <a:gd name="connsiteY3" fmla="*/ 44482 h 97250"/>
                <a:gd name="connsiteX4" fmla="*/ 80486 w 80486"/>
                <a:gd name="connsiteY4" fmla="*/ 44482 h 97250"/>
                <a:gd name="connsiteX5" fmla="*/ 80486 w 80486"/>
                <a:gd name="connsiteY5" fmla="*/ 83915 h 97250"/>
                <a:gd name="connsiteX6" fmla="*/ 46482 w 80486"/>
                <a:gd name="connsiteY6" fmla="*/ 97250 h 97250"/>
                <a:gd name="connsiteX7" fmla="*/ 0 w 80486"/>
                <a:gd name="connsiteY7" fmla="*/ 48768 h 97250"/>
                <a:gd name="connsiteX8" fmla="*/ 48482 w 80486"/>
                <a:gd name="connsiteY8" fmla="*/ 0 h 97250"/>
                <a:gd name="connsiteX9" fmla="*/ 75438 w 80486"/>
                <a:gd name="connsiteY9" fmla="*/ 7810 h 97250"/>
                <a:gd name="connsiteX10" fmla="*/ 75438 w 80486"/>
                <a:gd name="connsiteY10" fmla="*/ 27432 h 97250"/>
                <a:gd name="connsiteX11" fmla="*/ 48482 w 80486"/>
                <a:gd name="connsiteY11" fmla="*/ 17907 h 97250"/>
                <a:gd name="connsiteX12" fmla="*/ 19812 w 80486"/>
                <a:gd name="connsiteY12" fmla="*/ 48768 h 97250"/>
                <a:gd name="connsiteX13" fmla="*/ 46958 w 80486"/>
                <a:gd name="connsiteY13" fmla="*/ 79724 h 97250"/>
                <a:gd name="connsiteX14" fmla="*/ 62770 w 80486"/>
                <a:gd name="connsiteY14" fmla="*/ 74771 h 9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486" h="97250">
                  <a:moveTo>
                    <a:pt x="62675" y="74866"/>
                  </a:moveTo>
                  <a:lnTo>
                    <a:pt x="62675" y="60579"/>
                  </a:lnTo>
                  <a:lnTo>
                    <a:pt x="46768" y="60579"/>
                  </a:lnTo>
                  <a:lnTo>
                    <a:pt x="46768" y="44482"/>
                  </a:lnTo>
                  <a:lnTo>
                    <a:pt x="80486" y="44482"/>
                  </a:lnTo>
                  <a:lnTo>
                    <a:pt x="80486" y="83915"/>
                  </a:lnTo>
                  <a:cubicBezTo>
                    <a:pt x="71247" y="93250"/>
                    <a:pt x="58864" y="97250"/>
                    <a:pt x="46482" y="97250"/>
                  </a:cubicBezTo>
                  <a:cubicBezTo>
                    <a:pt x="18002" y="97250"/>
                    <a:pt x="0" y="77343"/>
                    <a:pt x="0" y="48768"/>
                  </a:cubicBezTo>
                  <a:cubicBezTo>
                    <a:pt x="0" y="20193"/>
                    <a:pt x="20193" y="0"/>
                    <a:pt x="48482" y="0"/>
                  </a:cubicBezTo>
                  <a:cubicBezTo>
                    <a:pt x="59246" y="0"/>
                    <a:pt x="68675" y="2953"/>
                    <a:pt x="75438" y="7810"/>
                  </a:cubicBezTo>
                  <a:lnTo>
                    <a:pt x="75438" y="27432"/>
                  </a:lnTo>
                  <a:cubicBezTo>
                    <a:pt x="67818" y="21336"/>
                    <a:pt x="59341" y="17907"/>
                    <a:pt x="48482" y="17907"/>
                  </a:cubicBezTo>
                  <a:cubicBezTo>
                    <a:pt x="31623" y="17907"/>
                    <a:pt x="19812" y="30194"/>
                    <a:pt x="19812" y="48768"/>
                  </a:cubicBezTo>
                  <a:cubicBezTo>
                    <a:pt x="19812" y="67342"/>
                    <a:pt x="30194" y="79724"/>
                    <a:pt x="46958" y="79724"/>
                  </a:cubicBezTo>
                  <a:cubicBezTo>
                    <a:pt x="53054" y="79724"/>
                    <a:pt x="58579" y="78200"/>
                    <a:pt x="62770" y="7477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1D26170-BB6F-4953-4CB2-53B180C66E62}"/>
                </a:ext>
              </a:extLst>
            </p:cNvPr>
            <p:cNvSpPr/>
            <p:nvPr/>
          </p:nvSpPr>
          <p:spPr>
            <a:xfrm>
              <a:off x="6180391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8242290-6EEE-B10D-111A-8A87872EBCDE}"/>
                </a:ext>
              </a:extLst>
            </p:cNvPr>
            <p:cNvSpPr/>
            <p:nvPr/>
          </p:nvSpPr>
          <p:spPr>
            <a:xfrm>
              <a:off x="6259543" y="3380898"/>
              <a:ext cx="93059" cy="94107"/>
            </a:xfrm>
            <a:custGeom>
              <a:avLst/>
              <a:gdLst>
                <a:gd name="connsiteX0" fmla="*/ 46292 w 93059"/>
                <a:gd name="connsiteY0" fmla="*/ 73819 h 94107"/>
                <a:gd name="connsiteX1" fmla="*/ 19145 w 93059"/>
                <a:gd name="connsiteY1" fmla="*/ 33338 h 94107"/>
                <a:gd name="connsiteX2" fmla="*/ 19145 w 93059"/>
                <a:gd name="connsiteY2" fmla="*/ 94107 h 94107"/>
                <a:gd name="connsiteX3" fmla="*/ 0 w 93059"/>
                <a:gd name="connsiteY3" fmla="*/ 94107 h 94107"/>
                <a:gd name="connsiteX4" fmla="*/ 0 w 93059"/>
                <a:gd name="connsiteY4" fmla="*/ 0 h 94107"/>
                <a:gd name="connsiteX5" fmla="*/ 18288 w 93059"/>
                <a:gd name="connsiteY5" fmla="*/ 0 h 94107"/>
                <a:gd name="connsiteX6" fmla="*/ 46768 w 93059"/>
                <a:gd name="connsiteY6" fmla="*/ 44482 h 94107"/>
                <a:gd name="connsiteX7" fmla="*/ 75152 w 93059"/>
                <a:gd name="connsiteY7" fmla="*/ 0 h 94107"/>
                <a:gd name="connsiteX8" fmla="*/ 93059 w 93059"/>
                <a:gd name="connsiteY8" fmla="*/ 0 h 94107"/>
                <a:gd name="connsiteX9" fmla="*/ 93059 w 93059"/>
                <a:gd name="connsiteY9" fmla="*/ 94107 h 94107"/>
                <a:gd name="connsiteX10" fmla="*/ 73724 w 93059"/>
                <a:gd name="connsiteY10" fmla="*/ 94107 h 94107"/>
                <a:gd name="connsiteX11" fmla="*/ 73724 w 93059"/>
                <a:gd name="connsiteY11" fmla="*/ 33338 h 94107"/>
                <a:gd name="connsiteX12" fmla="*/ 46863 w 93059"/>
                <a:gd name="connsiteY12" fmla="*/ 73819 h 94107"/>
                <a:gd name="connsiteX13" fmla="*/ 46292 w 93059"/>
                <a:gd name="connsiteY13" fmla="*/ 73819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059" h="94107">
                  <a:moveTo>
                    <a:pt x="46292" y="73819"/>
                  </a:moveTo>
                  <a:lnTo>
                    <a:pt x="19145" y="33338"/>
                  </a:lnTo>
                  <a:lnTo>
                    <a:pt x="19145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46768" y="44482"/>
                  </a:lnTo>
                  <a:lnTo>
                    <a:pt x="75152" y="0"/>
                  </a:lnTo>
                  <a:lnTo>
                    <a:pt x="93059" y="0"/>
                  </a:lnTo>
                  <a:lnTo>
                    <a:pt x="93059" y="94107"/>
                  </a:lnTo>
                  <a:lnTo>
                    <a:pt x="73724" y="94107"/>
                  </a:lnTo>
                  <a:lnTo>
                    <a:pt x="73724" y="33338"/>
                  </a:lnTo>
                  <a:lnTo>
                    <a:pt x="46863" y="73819"/>
                  </a:lnTo>
                  <a:lnTo>
                    <a:pt x="46292" y="73819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4393BAD-3525-8F38-9CE7-157658CD60B8}"/>
                </a:ext>
              </a:extLst>
            </p:cNvPr>
            <p:cNvSpPr/>
            <p:nvPr/>
          </p:nvSpPr>
          <p:spPr>
            <a:xfrm>
              <a:off x="6370510" y="3380803"/>
              <a:ext cx="63912" cy="94106"/>
            </a:xfrm>
            <a:custGeom>
              <a:avLst/>
              <a:gdLst>
                <a:gd name="connsiteX0" fmla="*/ 63913 w 63912"/>
                <a:gd name="connsiteY0" fmla="*/ 0 h 94106"/>
                <a:gd name="connsiteX1" fmla="*/ 63913 w 63912"/>
                <a:gd name="connsiteY1" fmla="*/ 17145 h 94106"/>
                <a:gd name="connsiteX2" fmla="*/ 19336 w 63912"/>
                <a:gd name="connsiteY2" fmla="*/ 17145 h 94106"/>
                <a:gd name="connsiteX3" fmla="*/ 19336 w 63912"/>
                <a:gd name="connsiteY3" fmla="*/ 37719 h 94106"/>
                <a:gd name="connsiteX4" fmla="*/ 59817 w 63912"/>
                <a:gd name="connsiteY4" fmla="*/ 37719 h 94106"/>
                <a:gd name="connsiteX5" fmla="*/ 59817 w 63912"/>
                <a:gd name="connsiteY5" fmla="*/ 54388 h 94106"/>
                <a:gd name="connsiteX6" fmla="*/ 19336 w 63912"/>
                <a:gd name="connsiteY6" fmla="*/ 54388 h 94106"/>
                <a:gd name="connsiteX7" fmla="*/ 19336 w 63912"/>
                <a:gd name="connsiteY7" fmla="*/ 76771 h 94106"/>
                <a:gd name="connsiteX8" fmla="*/ 63913 w 63912"/>
                <a:gd name="connsiteY8" fmla="*/ 76771 h 94106"/>
                <a:gd name="connsiteX9" fmla="*/ 63913 w 63912"/>
                <a:gd name="connsiteY9" fmla="*/ 94107 h 94106"/>
                <a:gd name="connsiteX10" fmla="*/ 0 w 63912"/>
                <a:gd name="connsiteY10" fmla="*/ 94107 h 94106"/>
                <a:gd name="connsiteX11" fmla="*/ 0 w 63912"/>
                <a:gd name="connsiteY11" fmla="*/ 0 h 94106"/>
                <a:gd name="connsiteX12" fmla="*/ 63913 w 63912"/>
                <a:gd name="connsiteY12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912" h="94106">
                  <a:moveTo>
                    <a:pt x="63913" y="0"/>
                  </a:moveTo>
                  <a:lnTo>
                    <a:pt x="63913" y="17145"/>
                  </a:lnTo>
                  <a:lnTo>
                    <a:pt x="19336" y="17145"/>
                  </a:lnTo>
                  <a:lnTo>
                    <a:pt x="19336" y="37719"/>
                  </a:lnTo>
                  <a:lnTo>
                    <a:pt x="59817" y="37719"/>
                  </a:lnTo>
                  <a:lnTo>
                    <a:pt x="59817" y="54388"/>
                  </a:lnTo>
                  <a:lnTo>
                    <a:pt x="19336" y="54388"/>
                  </a:lnTo>
                  <a:lnTo>
                    <a:pt x="19336" y="76771"/>
                  </a:lnTo>
                  <a:lnTo>
                    <a:pt x="63913" y="76771"/>
                  </a:lnTo>
                  <a:lnTo>
                    <a:pt x="63913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63913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F05A602-471F-0759-F3D0-6D3F665C2FA8}"/>
                </a:ext>
              </a:extLst>
            </p:cNvPr>
            <p:cNvSpPr/>
            <p:nvPr/>
          </p:nvSpPr>
          <p:spPr>
            <a:xfrm>
              <a:off x="6449567" y="338089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60 w 78866"/>
                <a:gd name="connsiteY2" fmla="*/ 31432 h 94107"/>
                <a:gd name="connsiteX3" fmla="*/ 18860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60" y="31432"/>
                  </a:lnTo>
                  <a:lnTo>
                    <a:pt x="18860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900382-FACA-B58E-2137-A0238B98115A}"/>
                </a:ext>
              </a:extLst>
            </p:cNvPr>
            <p:cNvSpPr/>
            <p:nvPr/>
          </p:nvSpPr>
          <p:spPr>
            <a:xfrm>
              <a:off x="6541388" y="3380803"/>
              <a:ext cx="80391" cy="94106"/>
            </a:xfrm>
            <a:custGeom>
              <a:avLst/>
              <a:gdLst>
                <a:gd name="connsiteX0" fmla="*/ 95 w 80391"/>
                <a:gd name="connsiteY0" fmla="*/ 0 h 94106"/>
                <a:gd name="connsiteX1" fmla="*/ 80391 w 80391"/>
                <a:gd name="connsiteY1" fmla="*/ 0 h 94106"/>
                <a:gd name="connsiteX2" fmla="*/ 80391 w 80391"/>
                <a:gd name="connsiteY2" fmla="*/ 17145 h 94106"/>
                <a:gd name="connsiteX3" fmla="*/ 50006 w 80391"/>
                <a:gd name="connsiteY3" fmla="*/ 17145 h 94106"/>
                <a:gd name="connsiteX4" fmla="*/ 50006 w 80391"/>
                <a:gd name="connsiteY4" fmla="*/ 94107 h 94106"/>
                <a:gd name="connsiteX5" fmla="*/ 30194 w 80391"/>
                <a:gd name="connsiteY5" fmla="*/ 94107 h 94106"/>
                <a:gd name="connsiteX6" fmla="*/ 30194 w 80391"/>
                <a:gd name="connsiteY6" fmla="*/ 17145 h 94106"/>
                <a:gd name="connsiteX7" fmla="*/ 0 w 80391"/>
                <a:gd name="connsiteY7" fmla="*/ 17145 h 94106"/>
                <a:gd name="connsiteX8" fmla="*/ 0 w 80391"/>
                <a:gd name="connsiteY8" fmla="*/ 0 h 94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6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B08863E-755D-0214-9B06-17F1C8C24C59}"/>
                </a:ext>
              </a:extLst>
            </p:cNvPr>
            <p:cNvSpPr/>
            <p:nvPr/>
          </p:nvSpPr>
          <p:spPr>
            <a:xfrm>
              <a:off x="5688520" y="3516534"/>
              <a:ext cx="71342" cy="97155"/>
            </a:xfrm>
            <a:custGeom>
              <a:avLst/>
              <a:gdLst>
                <a:gd name="connsiteX0" fmla="*/ 46768 w 71342"/>
                <a:gd name="connsiteY0" fmla="*/ 0 h 97155"/>
                <a:gd name="connsiteX1" fmla="*/ 71342 w 71342"/>
                <a:gd name="connsiteY1" fmla="*/ 7334 h 97155"/>
                <a:gd name="connsiteX2" fmla="*/ 71342 w 71342"/>
                <a:gd name="connsiteY2" fmla="*/ 27146 h 97155"/>
                <a:gd name="connsiteX3" fmla="*/ 47720 w 71342"/>
                <a:gd name="connsiteY3" fmla="*/ 17907 h 97155"/>
                <a:gd name="connsiteX4" fmla="*/ 19812 w 71342"/>
                <a:gd name="connsiteY4" fmla="*/ 48578 h 97155"/>
                <a:gd name="connsiteX5" fmla="*/ 47720 w 71342"/>
                <a:gd name="connsiteY5" fmla="*/ 79058 h 97155"/>
                <a:gd name="connsiteX6" fmla="*/ 71342 w 71342"/>
                <a:gd name="connsiteY6" fmla="*/ 70009 h 97155"/>
                <a:gd name="connsiteX7" fmla="*/ 71342 w 71342"/>
                <a:gd name="connsiteY7" fmla="*/ 89821 h 97155"/>
                <a:gd name="connsiteX8" fmla="*/ 46768 w 71342"/>
                <a:gd name="connsiteY8" fmla="*/ 97155 h 97155"/>
                <a:gd name="connsiteX9" fmla="*/ 0 w 71342"/>
                <a:gd name="connsiteY9" fmla="*/ 48578 h 97155"/>
                <a:gd name="connsiteX10" fmla="*/ 46768 w 71342"/>
                <a:gd name="connsiteY10" fmla="*/ 0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1342" h="97155">
                  <a:moveTo>
                    <a:pt x="46768" y="0"/>
                  </a:moveTo>
                  <a:cubicBezTo>
                    <a:pt x="57055" y="0"/>
                    <a:pt x="65151" y="2762"/>
                    <a:pt x="71342" y="7334"/>
                  </a:cubicBezTo>
                  <a:lnTo>
                    <a:pt x="71342" y="27146"/>
                  </a:lnTo>
                  <a:cubicBezTo>
                    <a:pt x="64103" y="20860"/>
                    <a:pt x="56674" y="17907"/>
                    <a:pt x="47720" y="17907"/>
                  </a:cubicBezTo>
                  <a:cubicBezTo>
                    <a:pt x="30861" y="17907"/>
                    <a:pt x="19812" y="30004"/>
                    <a:pt x="19812" y="48578"/>
                  </a:cubicBezTo>
                  <a:cubicBezTo>
                    <a:pt x="19812" y="67151"/>
                    <a:pt x="30861" y="79058"/>
                    <a:pt x="47720" y="79058"/>
                  </a:cubicBezTo>
                  <a:cubicBezTo>
                    <a:pt x="56579" y="79058"/>
                    <a:pt x="64103" y="76295"/>
                    <a:pt x="71342" y="70009"/>
                  </a:cubicBezTo>
                  <a:lnTo>
                    <a:pt x="71342" y="89821"/>
                  </a:lnTo>
                  <a:cubicBezTo>
                    <a:pt x="65246" y="94393"/>
                    <a:pt x="57055" y="97155"/>
                    <a:pt x="46768" y="97155"/>
                  </a:cubicBezTo>
                  <a:cubicBezTo>
                    <a:pt x="19431" y="97155"/>
                    <a:pt x="0" y="77724"/>
                    <a:pt x="0" y="48578"/>
                  </a:cubicBezTo>
                  <a:cubicBezTo>
                    <a:pt x="0" y="19431"/>
                    <a:pt x="19431" y="0"/>
                    <a:pt x="46768" y="0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1B0440F-FE16-6FEE-390C-A7056ACCD6BC}"/>
                </a:ext>
              </a:extLst>
            </p:cNvPr>
            <p:cNvSpPr/>
            <p:nvPr/>
          </p:nvSpPr>
          <p:spPr>
            <a:xfrm>
              <a:off x="5766434" y="3516534"/>
              <a:ext cx="89058" cy="97155"/>
            </a:xfrm>
            <a:custGeom>
              <a:avLst/>
              <a:gdLst>
                <a:gd name="connsiteX0" fmla="*/ 44482 w 89058"/>
                <a:gd name="connsiteY0" fmla="*/ 97155 h 97155"/>
                <a:gd name="connsiteX1" fmla="*/ 0 w 89058"/>
                <a:gd name="connsiteY1" fmla="*/ 48578 h 97155"/>
                <a:gd name="connsiteX2" fmla="*/ 44482 w 89058"/>
                <a:gd name="connsiteY2" fmla="*/ 0 h 97155"/>
                <a:gd name="connsiteX3" fmla="*/ 89059 w 89058"/>
                <a:gd name="connsiteY3" fmla="*/ 48578 h 97155"/>
                <a:gd name="connsiteX4" fmla="*/ 44482 w 89058"/>
                <a:gd name="connsiteY4" fmla="*/ 97155 h 97155"/>
                <a:gd name="connsiteX5" fmla="*/ 44482 w 89058"/>
                <a:gd name="connsiteY5" fmla="*/ 17431 h 97155"/>
                <a:gd name="connsiteX6" fmla="*/ 19907 w 89058"/>
                <a:gd name="connsiteY6" fmla="*/ 48578 h 97155"/>
                <a:gd name="connsiteX7" fmla="*/ 44482 w 89058"/>
                <a:gd name="connsiteY7" fmla="*/ 79724 h 97155"/>
                <a:gd name="connsiteX8" fmla="*/ 69342 w 89058"/>
                <a:gd name="connsiteY8" fmla="*/ 48578 h 97155"/>
                <a:gd name="connsiteX9" fmla="*/ 44482 w 89058"/>
                <a:gd name="connsiteY9" fmla="*/ 17431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58" h="97155">
                  <a:moveTo>
                    <a:pt x="44482" y="97155"/>
                  </a:moveTo>
                  <a:cubicBezTo>
                    <a:pt x="18288" y="97155"/>
                    <a:pt x="0" y="76581"/>
                    <a:pt x="0" y="48578"/>
                  </a:cubicBezTo>
                  <a:cubicBezTo>
                    <a:pt x="0" y="20574"/>
                    <a:pt x="18288" y="0"/>
                    <a:pt x="44482" y="0"/>
                  </a:cubicBezTo>
                  <a:cubicBezTo>
                    <a:pt x="70675" y="0"/>
                    <a:pt x="89059" y="20384"/>
                    <a:pt x="89059" y="48578"/>
                  </a:cubicBezTo>
                  <a:cubicBezTo>
                    <a:pt x="89059" y="76772"/>
                    <a:pt x="70675" y="97155"/>
                    <a:pt x="44482" y="97155"/>
                  </a:cubicBezTo>
                  <a:close/>
                  <a:moveTo>
                    <a:pt x="44482" y="17431"/>
                  </a:moveTo>
                  <a:cubicBezTo>
                    <a:pt x="29623" y="17431"/>
                    <a:pt x="19907" y="30194"/>
                    <a:pt x="19907" y="48578"/>
                  </a:cubicBezTo>
                  <a:cubicBezTo>
                    <a:pt x="19907" y="66961"/>
                    <a:pt x="29527" y="79724"/>
                    <a:pt x="44482" y="79724"/>
                  </a:cubicBezTo>
                  <a:cubicBezTo>
                    <a:pt x="59436" y="79724"/>
                    <a:pt x="69342" y="66961"/>
                    <a:pt x="69342" y="48578"/>
                  </a:cubicBezTo>
                  <a:cubicBezTo>
                    <a:pt x="69342" y="30194"/>
                    <a:pt x="59531" y="17431"/>
                    <a:pt x="44482" y="1743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A57761F-6CA1-9E41-B405-60F00A5D4277}"/>
                </a:ext>
              </a:extLst>
            </p:cNvPr>
            <p:cNvSpPr/>
            <p:nvPr/>
          </p:nvSpPr>
          <p:spPr>
            <a:xfrm>
              <a:off x="5865113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78BBEA5-DDB4-1B2D-D694-4E0154480B69}"/>
                </a:ext>
              </a:extLst>
            </p:cNvPr>
            <p:cNvSpPr/>
            <p:nvPr/>
          </p:nvSpPr>
          <p:spPr>
            <a:xfrm>
              <a:off x="5953600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7 w 67246"/>
                <a:gd name="connsiteY11" fmla="*/ 36290 h 97155"/>
                <a:gd name="connsiteX12" fmla="*/ 44291 w 67246"/>
                <a:gd name="connsiteY12" fmla="*/ 41339 h 97155"/>
                <a:gd name="connsiteX13" fmla="*/ 67246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5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5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49" y="0"/>
                    <a:pt x="33433" y="0"/>
                  </a:cubicBezTo>
                  <a:cubicBezTo>
                    <a:pt x="44958" y="0"/>
                    <a:pt x="54292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7" y="36290"/>
                  </a:cubicBezTo>
                  <a:lnTo>
                    <a:pt x="44291" y="41339"/>
                  </a:lnTo>
                  <a:cubicBezTo>
                    <a:pt x="60103" y="46673"/>
                    <a:pt x="67246" y="55245"/>
                    <a:pt x="67246" y="69247"/>
                  </a:cubicBezTo>
                  <a:cubicBezTo>
                    <a:pt x="67246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CAF18DB-4AC2-7E2F-5ACC-8828928BD42B}"/>
                </a:ext>
              </a:extLst>
            </p:cNvPr>
            <p:cNvSpPr/>
            <p:nvPr/>
          </p:nvSpPr>
          <p:spPr>
            <a:xfrm>
              <a:off x="6029133" y="3517963"/>
              <a:ext cx="78200" cy="95726"/>
            </a:xfrm>
            <a:custGeom>
              <a:avLst/>
              <a:gdLst>
                <a:gd name="connsiteX0" fmla="*/ 95 w 78200"/>
                <a:gd name="connsiteY0" fmla="*/ 56293 h 95726"/>
                <a:gd name="connsiteX1" fmla="*/ 95 w 78200"/>
                <a:gd name="connsiteY1" fmla="*/ 0 h 95726"/>
                <a:gd name="connsiteX2" fmla="*/ 19717 w 78200"/>
                <a:gd name="connsiteY2" fmla="*/ 0 h 95726"/>
                <a:gd name="connsiteX3" fmla="*/ 19717 w 78200"/>
                <a:gd name="connsiteY3" fmla="*/ 54293 h 95726"/>
                <a:gd name="connsiteX4" fmla="*/ 39148 w 78200"/>
                <a:gd name="connsiteY4" fmla="*/ 78105 h 95726"/>
                <a:gd name="connsiteX5" fmla="*/ 58579 w 78200"/>
                <a:gd name="connsiteY5" fmla="*/ 54293 h 95726"/>
                <a:gd name="connsiteX6" fmla="*/ 58579 w 78200"/>
                <a:gd name="connsiteY6" fmla="*/ 0 h 95726"/>
                <a:gd name="connsiteX7" fmla="*/ 78200 w 78200"/>
                <a:gd name="connsiteY7" fmla="*/ 0 h 95726"/>
                <a:gd name="connsiteX8" fmla="*/ 78200 w 78200"/>
                <a:gd name="connsiteY8" fmla="*/ 56293 h 95726"/>
                <a:gd name="connsiteX9" fmla="*/ 39148 w 78200"/>
                <a:gd name="connsiteY9" fmla="*/ 95726 h 95726"/>
                <a:gd name="connsiteX10" fmla="*/ 0 w 78200"/>
                <a:gd name="connsiteY10" fmla="*/ 56293 h 9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200" h="95726">
                  <a:moveTo>
                    <a:pt x="95" y="56293"/>
                  </a:moveTo>
                  <a:lnTo>
                    <a:pt x="95" y="0"/>
                  </a:lnTo>
                  <a:lnTo>
                    <a:pt x="19717" y="0"/>
                  </a:lnTo>
                  <a:lnTo>
                    <a:pt x="19717" y="54293"/>
                  </a:lnTo>
                  <a:cubicBezTo>
                    <a:pt x="19717" y="70390"/>
                    <a:pt x="26765" y="78105"/>
                    <a:pt x="39148" y="78105"/>
                  </a:cubicBezTo>
                  <a:cubicBezTo>
                    <a:pt x="51530" y="78105"/>
                    <a:pt x="58579" y="70485"/>
                    <a:pt x="58579" y="54293"/>
                  </a:cubicBezTo>
                  <a:lnTo>
                    <a:pt x="58579" y="0"/>
                  </a:lnTo>
                  <a:lnTo>
                    <a:pt x="78200" y="0"/>
                  </a:lnTo>
                  <a:lnTo>
                    <a:pt x="78200" y="56293"/>
                  </a:lnTo>
                  <a:cubicBezTo>
                    <a:pt x="78200" y="82201"/>
                    <a:pt x="62675" y="95726"/>
                    <a:pt x="39148" y="95726"/>
                  </a:cubicBezTo>
                  <a:cubicBezTo>
                    <a:pt x="15621" y="95726"/>
                    <a:pt x="0" y="82201"/>
                    <a:pt x="0" y="56293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8BE812B-BEB8-B611-42A5-AD05D39A16D0}"/>
                </a:ext>
              </a:extLst>
            </p:cNvPr>
            <p:cNvSpPr/>
            <p:nvPr/>
          </p:nvSpPr>
          <p:spPr>
            <a:xfrm>
              <a:off x="6120097" y="3518058"/>
              <a:ext cx="63436" cy="94107"/>
            </a:xfrm>
            <a:custGeom>
              <a:avLst/>
              <a:gdLst>
                <a:gd name="connsiteX0" fmla="*/ 0 w 63436"/>
                <a:gd name="connsiteY0" fmla="*/ 0 h 94107"/>
                <a:gd name="connsiteX1" fmla="*/ 19621 w 63436"/>
                <a:gd name="connsiteY1" fmla="*/ 0 h 94107"/>
                <a:gd name="connsiteX2" fmla="*/ 19621 w 63436"/>
                <a:gd name="connsiteY2" fmla="*/ 76772 h 94107"/>
                <a:gd name="connsiteX3" fmla="*/ 63437 w 63436"/>
                <a:gd name="connsiteY3" fmla="*/ 76772 h 94107"/>
                <a:gd name="connsiteX4" fmla="*/ 63437 w 63436"/>
                <a:gd name="connsiteY4" fmla="*/ 94107 h 94107"/>
                <a:gd name="connsiteX5" fmla="*/ 0 w 63436"/>
                <a:gd name="connsiteY5" fmla="*/ 94107 h 94107"/>
                <a:gd name="connsiteX6" fmla="*/ 0 w 63436"/>
                <a:gd name="connsiteY6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436" h="94107">
                  <a:moveTo>
                    <a:pt x="0" y="0"/>
                  </a:moveTo>
                  <a:lnTo>
                    <a:pt x="19621" y="0"/>
                  </a:lnTo>
                  <a:lnTo>
                    <a:pt x="19621" y="76772"/>
                  </a:lnTo>
                  <a:lnTo>
                    <a:pt x="63437" y="76772"/>
                  </a:lnTo>
                  <a:lnTo>
                    <a:pt x="63437" y="94107"/>
                  </a:lnTo>
                  <a:lnTo>
                    <a:pt x="0" y="94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E799B88-B77B-841F-D59F-2DC2A69ED7DA}"/>
                </a:ext>
              </a:extLst>
            </p:cNvPr>
            <p:cNvSpPr/>
            <p:nvPr/>
          </p:nvSpPr>
          <p:spPr>
            <a:xfrm>
              <a:off x="6174295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AAE1E90-3DB6-D132-1919-EA4DE31C21D7}"/>
                </a:ext>
              </a:extLst>
            </p:cNvPr>
            <p:cNvSpPr/>
            <p:nvPr/>
          </p:nvSpPr>
          <p:spPr>
            <a:xfrm>
              <a:off x="6247256" y="3518058"/>
              <a:ext cx="91439" cy="94107"/>
            </a:xfrm>
            <a:custGeom>
              <a:avLst/>
              <a:gdLst>
                <a:gd name="connsiteX0" fmla="*/ 55435 w 91439"/>
                <a:gd name="connsiteY0" fmla="*/ 0 h 94107"/>
                <a:gd name="connsiteX1" fmla="*/ 91440 w 91439"/>
                <a:gd name="connsiteY1" fmla="*/ 94107 h 94107"/>
                <a:gd name="connsiteX2" fmla="*/ 71533 w 91439"/>
                <a:gd name="connsiteY2" fmla="*/ 94107 h 94107"/>
                <a:gd name="connsiteX3" fmla="*/ 63151 w 91439"/>
                <a:gd name="connsiteY3" fmla="*/ 71438 h 94107"/>
                <a:gd name="connsiteX4" fmla="*/ 27908 w 91439"/>
                <a:gd name="connsiteY4" fmla="*/ 71438 h 94107"/>
                <a:gd name="connsiteX5" fmla="*/ 19621 w 91439"/>
                <a:gd name="connsiteY5" fmla="*/ 94107 h 94107"/>
                <a:gd name="connsiteX6" fmla="*/ 0 w 91439"/>
                <a:gd name="connsiteY6" fmla="*/ 94107 h 94107"/>
                <a:gd name="connsiteX7" fmla="*/ 36004 w 91439"/>
                <a:gd name="connsiteY7" fmla="*/ 0 h 94107"/>
                <a:gd name="connsiteX8" fmla="*/ 55435 w 91439"/>
                <a:gd name="connsiteY8" fmla="*/ 0 h 94107"/>
                <a:gd name="connsiteX9" fmla="*/ 34004 w 91439"/>
                <a:gd name="connsiteY9" fmla="*/ 54864 h 94107"/>
                <a:gd name="connsiteX10" fmla="*/ 56959 w 91439"/>
                <a:gd name="connsiteY10" fmla="*/ 54864 h 94107"/>
                <a:gd name="connsiteX11" fmla="*/ 45434 w 91439"/>
                <a:gd name="connsiteY11" fmla="*/ 23622 h 94107"/>
                <a:gd name="connsiteX12" fmla="*/ 33909 w 91439"/>
                <a:gd name="connsiteY12" fmla="*/ 54864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439" h="94107">
                  <a:moveTo>
                    <a:pt x="55435" y="0"/>
                  </a:moveTo>
                  <a:lnTo>
                    <a:pt x="91440" y="94107"/>
                  </a:lnTo>
                  <a:lnTo>
                    <a:pt x="71533" y="94107"/>
                  </a:lnTo>
                  <a:lnTo>
                    <a:pt x="63151" y="71438"/>
                  </a:lnTo>
                  <a:lnTo>
                    <a:pt x="27908" y="71438"/>
                  </a:lnTo>
                  <a:lnTo>
                    <a:pt x="19621" y="94107"/>
                  </a:lnTo>
                  <a:lnTo>
                    <a:pt x="0" y="94107"/>
                  </a:lnTo>
                  <a:lnTo>
                    <a:pt x="36004" y="0"/>
                  </a:lnTo>
                  <a:lnTo>
                    <a:pt x="55435" y="0"/>
                  </a:lnTo>
                  <a:close/>
                  <a:moveTo>
                    <a:pt x="34004" y="54864"/>
                  </a:moveTo>
                  <a:lnTo>
                    <a:pt x="56959" y="54864"/>
                  </a:lnTo>
                  <a:lnTo>
                    <a:pt x="45434" y="23622"/>
                  </a:lnTo>
                  <a:lnTo>
                    <a:pt x="33909" y="54864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B257BB5-60C0-CC65-61F2-C644A5BD6456}"/>
                </a:ext>
              </a:extLst>
            </p:cNvPr>
            <p:cNvSpPr/>
            <p:nvPr/>
          </p:nvSpPr>
          <p:spPr>
            <a:xfrm>
              <a:off x="6346030" y="3518058"/>
              <a:ext cx="78866" cy="94107"/>
            </a:xfrm>
            <a:custGeom>
              <a:avLst/>
              <a:gdLst>
                <a:gd name="connsiteX0" fmla="*/ 78867 w 78866"/>
                <a:gd name="connsiteY0" fmla="*/ 94107 h 94107"/>
                <a:gd name="connsiteX1" fmla="*/ 63341 w 78866"/>
                <a:gd name="connsiteY1" fmla="*/ 94107 h 94107"/>
                <a:gd name="connsiteX2" fmla="*/ 18859 w 78866"/>
                <a:gd name="connsiteY2" fmla="*/ 31433 h 94107"/>
                <a:gd name="connsiteX3" fmla="*/ 18859 w 78866"/>
                <a:gd name="connsiteY3" fmla="*/ 94107 h 94107"/>
                <a:gd name="connsiteX4" fmla="*/ 0 w 78866"/>
                <a:gd name="connsiteY4" fmla="*/ 94107 h 94107"/>
                <a:gd name="connsiteX5" fmla="*/ 0 w 78866"/>
                <a:gd name="connsiteY5" fmla="*/ 0 h 94107"/>
                <a:gd name="connsiteX6" fmla="*/ 18383 w 78866"/>
                <a:gd name="connsiteY6" fmla="*/ 0 h 94107"/>
                <a:gd name="connsiteX7" fmla="*/ 59912 w 78866"/>
                <a:gd name="connsiteY7" fmla="*/ 59531 h 94107"/>
                <a:gd name="connsiteX8" fmla="*/ 59912 w 78866"/>
                <a:gd name="connsiteY8" fmla="*/ 0 h 94107"/>
                <a:gd name="connsiteX9" fmla="*/ 78772 w 78866"/>
                <a:gd name="connsiteY9" fmla="*/ 0 h 94107"/>
                <a:gd name="connsiteX10" fmla="*/ 78772 w 78866"/>
                <a:gd name="connsiteY10" fmla="*/ 94107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866" h="94107">
                  <a:moveTo>
                    <a:pt x="78867" y="94107"/>
                  </a:moveTo>
                  <a:lnTo>
                    <a:pt x="63341" y="94107"/>
                  </a:lnTo>
                  <a:lnTo>
                    <a:pt x="18859" y="31433"/>
                  </a:lnTo>
                  <a:lnTo>
                    <a:pt x="18859" y="94107"/>
                  </a:lnTo>
                  <a:lnTo>
                    <a:pt x="0" y="94107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59912" y="59531"/>
                  </a:lnTo>
                  <a:lnTo>
                    <a:pt x="59912" y="0"/>
                  </a:lnTo>
                  <a:lnTo>
                    <a:pt x="78772" y="0"/>
                  </a:lnTo>
                  <a:lnTo>
                    <a:pt x="78772" y="94107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CC23A6D-07E7-7536-F4D9-571EF5D902C1}"/>
                </a:ext>
              </a:extLst>
            </p:cNvPr>
            <p:cNvSpPr/>
            <p:nvPr/>
          </p:nvSpPr>
          <p:spPr>
            <a:xfrm>
              <a:off x="6433851" y="3518058"/>
              <a:ext cx="80391" cy="94107"/>
            </a:xfrm>
            <a:custGeom>
              <a:avLst/>
              <a:gdLst>
                <a:gd name="connsiteX0" fmla="*/ 95 w 80391"/>
                <a:gd name="connsiteY0" fmla="*/ 0 h 94107"/>
                <a:gd name="connsiteX1" fmla="*/ 80391 w 80391"/>
                <a:gd name="connsiteY1" fmla="*/ 0 h 94107"/>
                <a:gd name="connsiteX2" fmla="*/ 80391 w 80391"/>
                <a:gd name="connsiteY2" fmla="*/ 17145 h 94107"/>
                <a:gd name="connsiteX3" fmla="*/ 50006 w 80391"/>
                <a:gd name="connsiteY3" fmla="*/ 17145 h 94107"/>
                <a:gd name="connsiteX4" fmla="*/ 50006 w 80391"/>
                <a:gd name="connsiteY4" fmla="*/ 94107 h 94107"/>
                <a:gd name="connsiteX5" fmla="*/ 30194 w 80391"/>
                <a:gd name="connsiteY5" fmla="*/ 94107 h 94107"/>
                <a:gd name="connsiteX6" fmla="*/ 30194 w 80391"/>
                <a:gd name="connsiteY6" fmla="*/ 17145 h 94107"/>
                <a:gd name="connsiteX7" fmla="*/ 0 w 80391"/>
                <a:gd name="connsiteY7" fmla="*/ 17145 h 94107"/>
                <a:gd name="connsiteX8" fmla="*/ 0 w 80391"/>
                <a:gd name="connsiteY8" fmla="*/ 0 h 9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391" h="94107">
                  <a:moveTo>
                    <a:pt x="95" y="0"/>
                  </a:moveTo>
                  <a:lnTo>
                    <a:pt x="80391" y="0"/>
                  </a:lnTo>
                  <a:lnTo>
                    <a:pt x="80391" y="17145"/>
                  </a:lnTo>
                  <a:lnTo>
                    <a:pt x="50006" y="17145"/>
                  </a:lnTo>
                  <a:lnTo>
                    <a:pt x="50006" y="94107"/>
                  </a:lnTo>
                  <a:lnTo>
                    <a:pt x="30194" y="94107"/>
                  </a:lnTo>
                  <a:lnTo>
                    <a:pt x="30194" y="17145"/>
                  </a:lnTo>
                  <a:lnTo>
                    <a:pt x="0" y="17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9B9397F-B30D-92C9-25E0-A14CF121E40D}"/>
                </a:ext>
              </a:extLst>
            </p:cNvPr>
            <p:cNvSpPr/>
            <p:nvPr/>
          </p:nvSpPr>
          <p:spPr>
            <a:xfrm>
              <a:off x="6518909" y="3516534"/>
              <a:ext cx="67246" cy="97155"/>
            </a:xfrm>
            <a:custGeom>
              <a:avLst/>
              <a:gdLst>
                <a:gd name="connsiteX0" fmla="*/ 1238 w 67246"/>
                <a:gd name="connsiteY0" fmla="*/ 69914 h 97155"/>
                <a:gd name="connsiteX1" fmla="*/ 31337 w 67246"/>
                <a:gd name="connsiteY1" fmla="*/ 80296 h 97155"/>
                <a:gd name="connsiteX2" fmla="*/ 48006 w 67246"/>
                <a:gd name="connsiteY2" fmla="*/ 70009 h 97155"/>
                <a:gd name="connsiteX3" fmla="*/ 36957 w 67246"/>
                <a:gd name="connsiteY3" fmla="*/ 58960 h 97155"/>
                <a:gd name="connsiteX4" fmla="*/ 23146 w 67246"/>
                <a:gd name="connsiteY4" fmla="*/ 54388 h 97155"/>
                <a:gd name="connsiteX5" fmla="*/ 0 w 67246"/>
                <a:gd name="connsiteY5" fmla="*/ 26956 h 97155"/>
                <a:gd name="connsiteX6" fmla="*/ 33433 w 67246"/>
                <a:gd name="connsiteY6" fmla="*/ 0 h 97155"/>
                <a:gd name="connsiteX7" fmla="*/ 61913 w 67246"/>
                <a:gd name="connsiteY7" fmla="*/ 7334 h 97155"/>
                <a:gd name="connsiteX8" fmla="*/ 61913 w 67246"/>
                <a:gd name="connsiteY8" fmla="*/ 26480 h 97155"/>
                <a:gd name="connsiteX9" fmla="*/ 34004 w 67246"/>
                <a:gd name="connsiteY9" fmla="*/ 16669 h 97155"/>
                <a:gd name="connsiteX10" fmla="*/ 19145 w 67246"/>
                <a:gd name="connsiteY10" fmla="*/ 26003 h 97155"/>
                <a:gd name="connsiteX11" fmla="*/ 29528 w 67246"/>
                <a:gd name="connsiteY11" fmla="*/ 36290 h 97155"/>
                <a:gd name="connsiteX12" fmla="*/ 44291 w 67246"/>
                <a:gd name="connsiteY12" fmla="*/ 41339 h 97155"/>
                <a:gd name="connsiteX13" fmla="*/ 67247 w 67246"/>
                <a:gd name="connsiteY13" fmla="*/ 69247 h 97155"/>
                <a:gd name="connsiteX14" fmla="*/ 31528 w 67246"/>
                <a:gd name="connsiteY14" fmla="*/ 97155 h 97155"/>
                <a:gd name="connsiteX15" fmla="*/ 1143 w 67246"/>
                <a:gd name="connsiteY15" fmla="*/ 89154 h 97155"/>
                <a:gd name="connsiteX16" fmla="*/ 1143 w 67246"/>
                <a:gd name="connsiteY16" fmla="*/ 69818 h 9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46" h="97155">
                  <a:moveTo>
                    <a:pt x="1238" y="69914"/>
                  </a:moveTo>
                  <a:cubicBezTo>
                    <a:pt x="9716" y="76200"/>
                    <a:pt x="20383" y="80296"/>
                    <a:pt x="31337" y="80296"/>
                  </a:cubicBezTo>
                  <a:cubicBezTo>
                    <a:pt x="40862" y="80296"/>
                    <a:pt x="48006" y="77343"/>
                    <a:pt x="48006" y="70009"/>
                  </a:cubicBezTo>
                  <a:cubicBezTo>
                    <a:pt x="48006" y="63913"/>
                    <a:pt x="44006" y="61532"/>
                    <a:pt x="36957" y="58960"/>
                  </a:cubicBezTo>
                  <a:lnTo>
                    <a:pt x="23146" y="54388"/>
                  </a:lnTo>
                  <a:cubicBezTo>
                    <a:pt x="9239" y="49816"/>
                    <a:pt x="0" y="42577"/>
                    <a:pt x="0" y="26956"/>
                  </a:cubicBezTo>
                  <a:cubicBezTo>
                    <a:pt x="0" y="9525"/>
                    <a:pt x="15050" y="0"/>
                    <a:pt x="33433" y="0"/>
                  </a:cubicBezTo>
                  <a:cubicBezTo>
                    <a:pt x="44958" y="0"/>
                    <a:pt x="54293" y="2762"/>
                    <a:pt x="61913" y="7334"/>
                  </a:cubicBezTo>
                  <a:lnTo>
                    <a:pt x="61913" y="26480"/>
                  </a:lnTo>
                  <a:cubicBezTo>
                    <a:pt x="53816" y="20479"/>
                    <a:pt x="44863" y="16669"/>
                    <a:pt x="34004" y="16669"/>
                  </a:cubicBezTo>
                  <a:cubicBezTo>
                    <a:pt x="25527" y="16669"/>
                    <a:pt x="19145" y="19622"/>
                    <a:pt x="19145" y="26003"/>
                  </a:cubicBezTo>
                  <a:cubicBezTo>
                    <a:pt x="19145" y="31814"/>
                    <a:pt x="22955" y="34100"/>
                    <a:pt x="29528" y="36290"/>
                  </a:cubicBezTo>
                  <a:lnTo>
                    <a:pt x="44291" y="41339"/>
                  </a:lnTo>
                  <a:cubicBezTo>
                    <a:pt x="60103" y="46673"/>
                    <a:pt x="67247" y="55245"/>
                    <a:pt x="67247" y="69247"/>
                  </a:cubicBezTo>
                  <a:cubicBezTo>
                    <a:pt x="67247" y="87821"/>
                    <a:pt x="51435" y="97155"/>
                    <a:pt x="31528" y="97155"/>
                  </a:cubicBezTo>
                  <a:cubicBezTo>
                    <a:pt x="18955" y="97155"/>
                    <a:pt x="7906" y="93440"/>
                    <a:pt x="1143" y="89154"/>
                  </a:cubicBezTo>
                  <a:lnTo>
                    <a:pt x="1143" y="69818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A10EC4-15B0-AB50-781B-7BE9FD1575C8}"/>
                </a:ext>
              </a:extLst>
            </p:cNvPr>
            <p:cNvSpPr/>
            <p:nvPr/>
          </p:nvSpPr>
          <p:spPr>
            <a:xfrm>
              <a:off x="6701408" y="3243548"/>
              <a:ext cx="9525" cy="370141"/>
            </a:xfrm>
            <a:custGeom>
              <a:avLst/>
              <a:gdLst>
                <a:gd name="connsiteX0" fmla="*/ 0 w 9525"/>
                <a:gd name="connsiteY0" fmla="*/ 0 h 370141"/>
                <a:gd name="connsiteX1" fmla="*/ 0 w 9525"/>
                <a:gd name="connsiteY1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70141">
                  <a:moveTo>
                    <a:pt x="0" y="0"/>
                  </a:moveTo>
                  <a:lnTo>
                    <a:pt x="0" y="370142"/>
                  </a:lnTo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4C4D005-ACFB-644D-3328-71BE68B4576D}"/>
                </a:ext>
              </a:extLst>
            </p:cNvPr>
            <p:cNvSpPr/>
            <p:nvPr/>
          </p:nvSpPr>
          <p:spPr>
            <a:xfrm>
              <a:off x="6697217" y="3243548"/>
              <a:ext cx="8477" cy="370141"/>
            </a:xfrm>
            <a:custGeom>
              <a:avLst/>
              <a:gdLst>
                <a:gd name="connsiteX0" fmla="*/ 0 w 8477"/>
                <a:gd name="connsiteY0" fmla="*/ 0 h 370141"/>
                <a:gd name="connsiteX1" fmla="*/ 8477 w 8477"/>
                <a:gd name="connsiteY1" fmla="*/ 0 h 370141"/>
                <a:gd name="connsiteX2" fmla="*/ 8477 w 8477"/>
                <a:gd name="connsiteY2" fmla="*/ 370142 h 370141"/>
                <a:gd name="connsiteX3" fmla="*/ 0 w 8477"/>
                <a:gd name="connsiteY3" fmla="*/ 370142 h 37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7" h="370141">
                  <a:moveTo>
                    <a:pt x="0" y="0"/>
                  </a:moveTo>
                  <a:lnTo>
                    <a:pt x="8477" y="0"/>
                  </a:lnTo>
                  <a:lnTo>
                    <a:pt x="8477" y="370142"/>
                  </a:lnTo>
                  <a:lnTo>
                    <a:pt x="0" y="370142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565ECF5-4D2A-8CF2-112C-67FAA703C3D9}"/>
                </a:ext>
              </a:extLst>
            </p:cNvPr>
            <p:cNvSpPr/>
            <p:nvPr/>
          </p:nvSpPr>
          <p:spPr>
            <a:xfrm>
              <a:off x="6740841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C5ED363-F3DF-B07A-1E41-2DC110246755}"/>
                </a:ext>
              </a:extLst>
            </p:cNvPr>
            <p:cNvSpPr/>
            <p:nvPr/>
          </p:nvSpPr>
          <p:spPr>
            <a:xfrm>
              <a:off x="6804469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EEC29F2-2051-C6C8-9215-806801E999E9}"/>
                </a:ext>
              </a:extLst>
            </p:cNvPr>
            <p:cNvSpPr/>
            <p:nvPr/>
          </p:nvSpPr>
          <p:spPr>
            <a:xfrm>
              <a:off x="6874096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6047010-1BDD-B4F4-5BDA-27B5CD402B50}"/>
                </a:ext>
              </a:extLst>
            </p:cNvPr>
            <p:cNvSpPr/>
            <p:nvPr/>
          </p:nvSpPr>
          <p:spPr>
            <a:xfrm>
              <a:off x="6935723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6 w 56006"/>
                <a:gd name="connsiteY7" fmla="*/ 26384 h 83248"/>
                <a:gd name="connsiteX8" fmla="*/ 2096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D6E7B25-F208-7B1C-F6A8-6C561E315E94}"/>
                </a:ext>
              </a:extLst>
            </p:cNvPr>
            <p:cNvSpPr/>
            <p:nvPr/>
          </p:nvSpPr>
          <p:spPr>
            <a:xfrm>
              <a:off x="7028306" y="3421380"/>
              <a:ext cx="52673" cy="12191"/>
            </a:xfrm>
            <a:custGeom>
              <a:avLst/>
              <a:gdLst>
                <a:gd name="connsiteX0" fmla="*/ 0 w 52673"/>
                <a:gd name="connsiteY0" fmla="*/ 0 h 12191"/>
                <a:gd name="connsiteX1" fmla="*/ 52673 w 52673"/>
                <a:gd name="connsiteY1" fmla="*/ 0 h 12191"/>
                <a:gd name="connsiteX2" fmla="*/ 52673 w 52673"/>
                <a:gd name="connsiteY2" fmla="*/ 12192 h 12191"/>
                <a:gd name="connsiteX3" fmla="*/ 0 w 52673"/>
                <a:gd name="connsiteY3" fmla="*/ 12192 h 12191"/>
                <a:gd name="connsiteX4" fmla="*/ 0 w 52673"/>
                <a:gd name="connsiteY4" fmla="*/ 0 h 1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73" h="12191">
                  <a:moveTo>
                    <a:pt x="0" y="0"/>
                  </a:moveTo>
                  <a:lnTo>
                    <a:pt x="52673" y="0"/>
                  </a:lnTo>
                  <a:lnTo>
                    <a:pt x="52673" y="12192"/>
                  </a:lnTo>
                  <a:lnTo>
                    <a:pt x="0" y="12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8E0CCD5-75D1-60F1-9E31-ABC622D1C41D}"/>
                </a:ext>
              </a:extLst>
            </p:cNvPr>
            <p:cNvSpPr/>
            <p:nvPr/>
          </p:nvSpPr>
          <p:spPr>
            <a:xfrm>
              <a:off x="7116603" y="3384137"/>
              <a:ext cx="56007" cy="83248"/>
            </a:xfrm>
            <a:custGeom>
              <a:avLst/>
              <a:gdLst>
                <a:gd name="connsiteX0" fmla="*/ 56007 w 56007"/>
                <a:gd name="connsiteY0" fmla="*/ 68485 h 83248"/>
                <a:gd name="connsiteX1" fmla="*/ 56007 w 56007"/>
                <a:gd name="connsiteY1" fmla="*/ 83248 h 83248"/>
                <a:gd name="connsiteX2" fmla="*/ 0 w 56007"/>
                <a:gd name="connsiteY2" fmla="*/ 83248 h 83248"/>
                <a:gd name="connsiteX3" fmla="*/ 0 w 56007"/>
                <a:gd name="connsiteY3" fmla="*/ 82677 h 83248"/>
                <a:gd name="connsiteX4" fmla="*/ 23908 w 56007"/>
                <a:gd name="connsiteY4" fmla="*/ 51435 h 83248"/>
                <a:gd name="connsiteX5" fmla="*/ 36957 w 56007"/>
                <a:gd name="connsiteY5" fmla="*/ 26384 h 83248"/>
                <a:gd name="connsiteX6" fmla="*/ 25051 w 56007"/>
                <a:gd name="connsiteY6" fmla="*/ 15716 h 83248"/>
                <a:gd name="connsiteX7" fmla="*/ 2096 w 56007"/>
                <a:gd name="connsiteY7" fmla="*/ 26384 h 83248"/>
                <a:gd name="connsiteX8" fmla="*/ 2096 w 56007"/>
                <a:gd name="connsiteY8" fmla="*/ 9715 h 83248"/>
                <a:gd name="connsiteX9" fmla="*/ 28099 w 56007"/>
                <a:gd name="connsiteY9" fmla="*/ 0 h 83248"/>
                <a:gd name="connsiteX10" fmla="*/ 54102 w 56007"/>
                <a:gd name="connsiteY10" fmla="*/ 24289 h 83248"/>
                <a:gd name="connsiteX11" fmla="*/ 39338 w 56007"/>
                <a:gd name="connsiteY11" fmla="*/ 55340 h 83248"/>
                <a:gd name="connsiteX12" fmla="*/ 29337 w 56007"/>
                <a:gd name="connsiteY12" fmla="*/ 68390 h 83248"/>
                <a:gd name="connsiteX13" fmla="*/ 56007 w 56007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7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6" y="26384"/>
                  </a:cubicBezTo>
                  <a:lnTo>
                    <a:pt x="2096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6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BB9EDCC-0E68-C1E0-68C5-1ABDA60787C4}"/>
                </a:ext>
              </a:extLst>
            </p:cNvPr>
            <p:cNvSpPr/>
            <p:nvPr/>
          </p:nvSpPr>
          <p:spPr>
            <a:xfrm>
              <a:off x="7180230" y="3384137"/>
              <a:ext cx="64579" cy="84581"/>
            </a:xfrm>
            <a:custGeom>
              <a:avLst/>
              <a:gdLst>
                <a:gd name="connsiteX0" fmla="*/ 0 w 64579"/>
                <a:gd name="connsiteY0" fmla="*/ 42291 h 84581"/>
                <a:gd name="connsiteX1" fmla="*/ 32290 w 64579"/>
                <a:gd name="connsiteY1" fmla="*/ 0 h 84581"/>
                <a:gd name="connsiteX2" fmla="*/ 64579 w 64579"/>
                <a:gd name="connsiteY2" fmla="*/ 42291 h 84581"/>
                <a:gd name="connsiteX3" fmla="*/ 32290 w 64579"/>
                <a:gd name="connsiteY3" fmla="*/ 84582 h 84581"/>
                <a:gd name="connsiteX4" fmla="*/ 0 w 64579"/>
                <a:gd name="connsiteY4" fmla="*/ 42291 h 84581"/>
                <a:gd name="connsiteX5" fmla="*/ 16669 w 64579"/>
                <a:gd name="connsiteY5" fmla="*/ 42291 h 84581"/>
                <a:gd name="connsiteX6" fmla="*/ 32290 w 64579"/>
                <a:gd name="connsiteY6" fmla="*/ 69342 h 84581"/>
                <a:gd name="connsiteX7" fmla="*/ 47911 w 64579"/>
                <a:gd name="connsiteY7" fmla="*/ 42291 h 84581"/>
                <a:gd name="connsiteX8" fmla="*/ 32290 w 64579"/>
                <a:gd name="connsiteY8" fmla="*/ 15240 h 84581"/>
                <a:gd name="connsiteX9" fmla="*/ 16669 w 64579"/>
                <a:gd name="connsiteY9" fmla="*/ 42291 h 84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579" h="84581">
                  <a:moveTo>
                    <a:pt x="0" y="42291"/>
                  </a:moveTo>
                  <a:cubicBezTo>
                    <a:pt x="0" y="17335"/>
                    <a:pt x="13049" y="0"/>
                    <a:pt x="32290" y="0"/>
                  </a:cubicBezTo>
                  <a:cubicBezTo>
                    <a:pt x="51530" y="0"/>
                    <a:pt x="64579" y="17335"/>
                    <a:pt x="64579" y="42291"/>
                  </a:cubicBezTo>
                  <a:cubicBezTo>
                    <a:pt x="64579" y="67246"/>
                    <a:pt x="51530" y="84582"/>
                    <a:pt x="32290" y="84582"/>
                  </a:cubicBezTo>
                  <a:cubicBezTo>
                    <a:pt x="13049" y="84582"/>
                    <a:pt x="0" y="67246"/>
                    <a:pt x="0" y="42291"/>
                  </a:cubicBezTo>
                  <a:close/>
                  <a:moveTo>
                    <a:pt x="16669" y="42291"/>
                  </a:moveTo>
                  <a:cubicBezTo>
                    <a:pt x="16669" y="57531"/>
                    <a:pt x="21241" y="69342"/>
                    <a:pt x="32290" y="69342"/>
                  </a:cubicBezTo>
                  <a:cubicBezTo>
                    <a:pt x="43339" y="69342"/>
                    <a:pt x="47911" y="57436"/>
                    <a:pt x="47911" y="42291"/>
                  </a:cubicBezTo>
                  <a:cubicBezTo>
                    <a:pt x="47911" y="27146"/>
                    <a:pt x="43243" y="15240"/>
                    <a:pt x="32290" y="15240"/>
                  </a:cubicBezTo>
                  <a:cubicBezTo>
                    <a:pt x="21336" y="15240"/>
                    <a:pt x="16669" y="27146"/>
                    <a:pt x="16669" y="42291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D234059-4D5F-74E0-7D6B-69DA2B62B832}"/>
                </a:ext>
              </a:extLst>
            </p:cNvPr>
            <p:cNvSpPr/>
            <p:nvPr/>
          </p:nvSpPr>
          <p:spPr>
            <a:xfrm>
              <a:off x="7249858" y="3384137"/>
              <a:ext cx="56006" cy="83248"/>
            </a:xfrm>
            <a:custGeom>
              <a:avLst/>
              <a:gdLst>
                <a:gd name="connsiteX0" fmla="*/ 56007 w 56006"/>
                <a:gd name="connsiteY0" fmla="*/ 68485 h 83248"/>
                <a:gd name="connsiteX1" fmla="*/ 56007 w 56006"/>
                <a:gd name="connsiteY1" fmla="*/ 83248 h 83248"/>
                <a:gd name="connsiteX2" fmla="*/ 0 w 56006"/>
                <a:gd name="connsiteY2" fmla="*/ 83248 h 83248"/>
                <a:gd name="connsiteX3" fmla="*/ 0 w 56006"/>
                <a:gd name="connsiteY3" fmla="*/ 82677 h 83248"/>
                <a:gd name="connsiteX4" fmla="*/ 23908 w 56006"/>
                <a:gd name="connsiteY4" fmla="*/ 51435 h 83248"/>
                <a:gd name="connsiteX5" fmla="*/ 36957 w 56006"/>
                <a:gd name="connsiteY5" fmla="*/ 26384 h 83248"/>
                <a:gd name="connsiteX6" fmla="*/ 25051 w 56006"/>
                <a:gd name="connsiteY6" fmla="*/ 15716 h 83248"/>
                <a:gd name="connsiteX7" fmla="*/ 2095 w 56006"/>
                <a:gd name="connsiteY7" fmla="*/ 26384 h 83248"/>
                <a:gd name="connsiteX8" fmla="*/ 2095 w 56006"/>
                <a:gd name="connsiteY8" fmla="*/ 9715 h 83248"/>
                <a:gd name="connsiteX9" fmla="*/ 28099 w 56006"/>
                <a:gd name="connsiteY9" fmla="*/ 0 h 83248"/>
                <a:gd name="connsiteX10" fmla="*/ 54102 w 56006"/>
                <a:gd name="connsiteY10" fmla="*/ 24289 h 83248"/>
                <a:gd name="connsiteX11" fmla="*/ 39338 w 56006"/>
                <a:gd name="connsiteY11" fmla="*/ 55340 h 83248"/>
                <a:gd name="connsiteX12" fmla="*/ 29337 w 56006"/>
                <a:gd name="connsiteY12" fmla="*/ 68390 h 83248"/>
                <a:gd name="connsiteX13" fmla="*/ 56007 w 56006"/>
                <a:gd name="connsiteY13" fmla="*/ 6839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6" h="83248">
                  <a:moveTo>
                    <a:pt x="56007" y="68485"/>
                  </a:moveTo>
                  <a:lnTo>
                    <a:pt x="56007" y="83248"/>
                  </a:lnTo>
                  <a:lnTo>
                    <a:pt x="0" y="83248"/>
                  </a:lnTo>
                  <a:lnTo>
                    <a:pt x="0" y="82677"/>
                  </a:lnTo>
                  <a:lnTo>
                    <a:pt x="23908" y="51435"/>
                  </a:lnTo>
                  <a:cubicBezTo>
                    <a:pt x="31528" y="41529"/>
                    <a:pt x="36957" y="34862"/>
                    <a:pt x="36957" y="26384"/>
                  </a:cubicBezTo>
                  <a:cubicBezTo>
                    <a:pt x="36957" y="20002"/>
                    <a:pt x="32861" y="15716"/>
                    <a:pt x="25051" y="15716"/>
                  </a:cubicBezTo>
                  <a:cubicBezTo>
                    <a:pt x="16097" y="15716"/>
                    <a:pt x="7620" y="21336"/>
                    <a:pt x="2095" y="26384"/>
                  </a:cubicBezTo>
                  <a:lnTo>
                    <a:pt x="2095" y="9715"/>
                  </a:lnTo>
                  <a:cubicBezTo>
                    <a:pt x="8001" y="4191"/>
                    <a:pt x="17526" y="0"/>
                    <a:pt x="28099" y="0"/>
                  </a:cubicBezTo>
                  <a:cubicBezTo>
                    <a:pt x="44005" y="0"/>
                    <a:pt x="54102" y="9430"/>
                    <a:pt x="54102" y="24289"/>
                  </a:cubicBezTo>
                  <a:cubicBezTo>
                    <a:pt x="54102" y="35052"/>
                    <a:pt x="47149" y="44863"/>
                    <a:pt x="39338" y="55340"/>
                  </a:cubicBezTo>
                  <a:lnTo>
                    <a:pt x="29337" y="68390"/>
                  </a:lnTo>
                  <a:lnTo>
                    <a:pt x="56007" y="6839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1B9A25A-6B0C-98D6-9DD6-166D6DED5F18}"/>
                </a:ext>
              </a:extLst>
            </p:cNvPr>
            <p:cNvSpPr/>
            <p:nvPr/>
          </p:nvSpPr>
          <p:spPr>
            <a:xfrm>
              <a:off x="7315009" y="3385375"/>
              <a:ext cx="53149" cy="83343"/>
            </a:xfrm>
            <a:custGeom>
              <a:avLst/>
              <a:gdLst>
                <a:gd name="connsiteX0" fmla="*/ 53149 w 53149"/>
                <a:gd name="connsiteY0" fmla="*/ 56102 h 83343"/>
                <a:gd name="connsiteX1" fmla="*/ 22193 w 53149"/>
                <a:gd name="connsiteY1" fmla="*/ 83344 h 83343"/>
                <a:gd name="connsiteX2" fmla="*/ 0 w 53149"/>
                <a:gd name="connsiteY2" fmla="*/ 76676 h 83343"/>
                <a:gd name="connsiteX3" fmla="*/ 0 w 53149"/>
                <a:gd name="connsiteY3" fmla="*/ 60103 h 83343"/>
                <a:gd name="connsiteX4" fmla="*/ 20955 w 53149"/>
                <a:gd name="connsiteY4" fmla="*/ 69056 h 83343"/>
                <a:gd name="connsiteX5" fmla="*/ 37243 w 53149"/>
                <a:gd name="connsiteY5" fmla="*/ 56102 h 83343"/>
                <a:gd name="connsiteX6" fmla="*/ 20574 w 53149"/>
                <a:gd name="connsiteY6" fmla="*/ 43053 h 83343"/>
                <a:gd name="connsiteX7" fmla="*/ 2667 w 53149"/>
                <a:gd name="connsiteY7" fmla="*/ 46482 h 83343"/>
                <a:gd name="connsiteX8" fmla="*/ 2667 w 53149"/>
                <a:gd name="connsiteY8" fmla="*/ 0 h 83343"/>
                <a:gd name="connsiteX9" fmla="*/ 48863 w 53149"/>
                <a:gd name="connsiteY9" fmla="*/ 0 h 83343"/>
                <a:gd name="connsiteX10" fmla="*/ 48863 w 53149"/>
                <a:gd name="connsiteY10" fmla="*/ 14954 h 83343"/>
                <a:gd name="connsiteX11" fmla="*/ 16288 w 53149"/>
                <a:gd name="connsiteY11" fmla="*/ 14954 h 83343"/>
                <a:gd name="connsiteX12" fmla="*/ 16288 w 53149"/>
                <a:gd name="connsiteY12" fmla="*/ 29623 h 83343"/>
                <a:gd name="connsiteX13" fmla="*/ 23336 w 53149"/>
                <a:gd name="connsiteY13" fmla="*/ 28956 h 83343"/>
                <a:gd name="connsiteX14" fmla="*/ 53054 w 53149"/>
                <a:gd name="connsiteY14" fmla="*/ 56007 h 8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149" h="83343">
                  <a:moveTo>
                    <a:pt x="53149" y="56102"/>
                  </a:moveTo>
                  <a:cubicBezTo>
                    <a:pt x="53149" y="73152"/>
                    <a:pt x="39814" y="83344"/>
                    <a:pt x="22193" y="83344"/>
                  </a:cubicBezTo>
                  <a:cubicBezTo>
                    <a:pt x="12573" y="83344"/>
                    <a:pt x="5524" y="80677"/>
                    <a:pt x="0" y="76676"/>
                  </a:cubicBezTo>
                  <a:lnTo>
                    <a:pt x="0" y="60103"/>
                  </a:lnTo>
                  <a:cubicBezTo>
                    <a:pt x="5715" y="65532"/>
                    <a:pt x="12954" y="69056"/>
                    <a:pt x="20955" y="69056"/>
                  </a:cubicBezTo>
                  <a:cubicBezTo>
                    <a:pt x="29908" y="69056"/>
                    <a:pt x="37243" y="64770"/>
                    <a:pt x="37243" y="56102"/>
                  </a:cubicBezTo>
                  <a:cubicBezTo>
                    <a:pt x="37243" y="47435"/>
                    <a:pt x="30004" y="43053"/>
                    <a:pt x="20574" y="43053"/>
                  </a:cubicBezTo>
                  <a:cubicBezTo>
                    <a:pt x="13811" y="43053"/>
                    <a:pt x="8287" y="44291"/>
                    <a:pt x="2667" y="46482"/>
                  </a:cubicBezTo>
                  <a:lnTo>
                    <a:pt x="2667" y="0"/>
                  </a:lnTo>
                  <a:lnTo>
                    <a:pt x="48863" y="0"/>
                  </a:lnTo>
                  <a:lnTo>
                    <a:pt x="48863" y="14954"/>
                  </a:lnTo>
                  <a:lnTo>
                    <a:pt x="16288" y="14954"/>
                  </a:lnTo>
                  <a:lnTo>
                    <a:pt x="16288" y="29623"/>
                  </a:lnTo>
                  <a:cubicBezTo>
                    <a:pt x="18193" y="29051"/>
                    <a:pt x="20669" y="28956"/>
                    <a:pt x="23336" y="28956"/>
                  </a:cubicBezTo>
                  <a:cubicBezTo>
                    <a:pt x="40005" y="28956"/>
                    <a:pt x="53054" y="38671"/>
                    <a:pt x="53054" y="56007"/>
                  </a:cubicBez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837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19230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663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7489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4892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5748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ontent Placeholder 25">
            <a:extLst>
              <a:ext uri="{FF2B5EF4-FFF2-40B4-BE49-F238E27FC236}">
                <a16:creationId xmlns:a16="http://schemas.microsoft.com/office/drawing/2014/main" id="{43321E27-7B62-48F1-B46D-2FDE1B4D445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81000" y="433151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BAB0D16-D0D7-4F1B-904F-7CBC77B64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106" y="424007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8927ED1C-95ED-4951-91EE-26BEC69FF1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81000" y="501410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4E4B0A4B-9B72-4FC4-9A6A-C632BF92EC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106" y="492266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CE347C3E-33C4-6607-5EF4-1B83754293F1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96875" y="56966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B1559-C9A9-58CC-0853-471C9D922E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2981" y="56052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009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612556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837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19230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663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7489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4892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5748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ontent Placeholder 25">
            <a:extLst>
              <a:ext uri="{FF2B5EF4-FFF2-40B4-BE49-F238E27FC236}">
                <a16:creationId xmlns:a16="http://schemas.microsoft.com/office/drawing/2014/main" id="{43321E27-7B62-48F1-B46D-2FDE1B4D445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81000" y="433151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BAB0D16-D0D7-4F1B-904F-7CBC77B64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106" y="424007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8927ED1C-95ED-4951-91EE-26BEC69FF1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81000" y="501410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4E4B0A4B-9B72-4FC4-9A6A-C632BF92EC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106" y="492266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CE347C3E-33C4-6607-5EF4-1B83754293F1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96875" y="56966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B1559-C9A9-58CC-0853-471C9D922E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2981" y="56052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AE1208-C6B7-287B-DD96-4E54BB2A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DBF7D3-0095-FDF3-B2B3-725C7B87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CCA51A-BFDD-FB97-F4E7-9847797D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8BD4F4-5DB3-7D68-E166-17B5BB94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B4CA73-68AC-987A-C015-D22088DF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0B8CA2-B242-A45A-4C80-C40FED7A5B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E9D7CF6-C61D-C157-F604-FB5800EF9F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17EAAE0-5069-4A31-0682-7EC7C51222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271F511-B06F-1719-0FC4-4979A96C55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1000" y="4482204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5BF683B-038E-3D3B-FB55-479DB6B0BA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994" y="4482204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 lIns="72000">
            <a:normAutofit/>
          </a:bodyPr>
          <a:lstStyle>
            <a:lvl1pPr marL="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/>
              <a:t>Click to 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/>
              <a:t>Third level</a:t>
            </a:r>
          </a:p>
          <a:p>
            <a:pPr marL="9144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/>
              <a:t>Fourth level</a:t>
            </a:r>
          </a:p>
          <a:p>
            <a:pPr marL="11430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 lIns="72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999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94258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07517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0999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4258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07517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8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53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85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53500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54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0633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60266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9899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0633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0265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49897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39531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DCB5F0D-C136-0E07-F651-2F5233B7F4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3953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0279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313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527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8740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8954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640A1-3AA7-1A1B-BD34-F5F077109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891677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9FE6158-DCB2-D7B3-CEEA-A4289F73E2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91677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68B6803-2A05-CA78-5E00-151F31089C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8954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23E06C-0384-91B3-3759-82771AD57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8740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FAF9E9C-5A31-0F33-B687-8650F8F134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8527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F44C8-1B8A-6FC8-4267-1E100202D9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8313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3536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7820746-DCA6-3F9A-E3B3-FEB9F7347C3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EEF0640-51B7-331B-C0BA-9E9AD07471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10262" y="1749425"/>
            <a:ext cx="8600738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93EF91E-0F25-7463-0E57-E925F75A3AA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 Placeholder 48">
            <a:extLst>
              <a:ext uri="{FF2B5EF4-FFF2-40B4-BE49-F238E27FC236}">
                <a16:creationId xmlns:a16="http://schemas.microsoft.com/office/drawing/2014/main" id="{EE562151-B88E-11D5-6DDC-644CEA3BC03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D9896-BF00-FC38-9E58-749F6EE9968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78C5E6EA-B261-6D17-1653-58D2D20AC5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43852E-C3F8-2105-E9DF-E147CA2F117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F97B36C0-9503-EA34-D9A6-4D2873B967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3E4116C-DAFA-DE4A-333A-D42F8B2578E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EAD9CE87-92D8-9C15-C954-C99CED644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C08B94E-DEE1-D22B-71AE-DCDADAC7234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Text Placeholder 48">
            <a:extLst>
              <a:ext uri="{FF2B5EF4-FFF2-40B4-BE49-F238E27FC236}">
                <a16:creationId xmlns:a16="http://schemas.microsoft.com/office/drawing/2014/main" id="{84F44BFB-A778-D972-6FE2-9945A46858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3E0939-6088-9965-5464-7E2066B2CC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E01A33E3-A189-2F8F-B20D-1ABCC3C719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73AF73C-B480-2BF7-7559-DB0AD1214DC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0B8CF66-536E-A8B4-16C2-7FE99A55F05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72DA4DE-C05D-9A8F-8499-9D99A6D8F2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73F137C5-58D7-F282-9936-62199614E4B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1E8034C-1F71-D6EA-AEC8-82573F1F3B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5779D320-3D39-27C3-44F7-4E619627FFD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DEDE89D-F8FD-9682-15FD-32A6A59920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9875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419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963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E061F0-50D9-5E8F-1289-74E749216F32}"/>
              </a:ext>
            </a:extLst>
          </p:cNvPr>
          <p:cNvGrpSpPr/>
          <p:nvPr userDrawn="1"/>
        </p:nvGrpSpPr>
        <p:grpSpPr>
          <a:xfrm>
            <a:off x="381001" y="1861583"/>
            <a:ext cx="11429998" cy="3517668"/>
            <a:chOff x="381001" y="1861583"/>
            <a:chExt cx="11429998" cy="3517668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 userDrawn="1"/>
          </p:nvGrpSpPr>
          <p:grpSpPr>
            <a:xfrm>
              <a:off x="381001" y="3351205"/>
              <a:ext cx="3900072" cy="1989161"/>
              <a:chOff x="1585475" y="5701396"/>
              <a:chExt cx="4362157" cy="2937153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70" y="5805726"/>
                <a:ext cx="0" cy="246760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51" y="8365440"/>
                <a:ext cx="277498" cy="252093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900" y="829362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97" y="8619135"/>
                <a:ext cx="3588413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30" y="860851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78" y="8345338"/>
                <a:ext cx="251463" cy="27685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900" y="5732797"/>
                <a:ext cx="4330732" cy="2905752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1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4274006" y="2113506"/>
              <a:ext cx="0" cy="2964914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F3B8A2-2C6F-2675-F46A-C6B901703101}"/>
                </a:ext>
              </a:extLst>
            </p:cNvPr>
            <p:cNvGrpSpPr/>
            <p:nvPr userDrawn="1"/>
          </p:nvGrpSpPr>
          <p:grpSpPr>
            <a:xfrm>
              <a:off x="4314505" y="1872371"/>
              <a:ext cx="226409" cy="227045"/>
              <a:chOff x="4201300" y="1872371"/>
              <a:chExt cx="226409" cy="227045"/>
            </a:xfrm>
          </p:grpSpPr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4212408" y="1880471"/>
                <a:ext cx="187388" cy="170283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4201300" y="1872371"/>
                <a:ext cx="226409" cy="227045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4521652" y="1861583"/>
              <a:ext cx="3417867" cy="227038"/>
              <a:chOff x="6313950" y="3517524"/>
              <a:chExt cx="3780200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50" y="3527987"/>
                <a:ext cx="3424556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44" y="3533965"/>
                <a:ext cx="251460" cy="277494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69" y="3517524"/>
                <a:ext cx="335281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7939521" y="2134832"/>
              <a:ext cx="0" cy="2964989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3F369AE-E95B-BD23-7CCD-1C222A8A082E}"/>
                </a:ext>
              </a:extLst>
            </p:cNvPr>
            <p:cNvGrpSpPr/>
            <p:nvPr userDrawn="1"/>
          </p:nvGrpSpPr>
          <p:grpSpPr>
            <a:xfrm>
              <a:off x="7939519" y="5110319"/>
              <a:ext cx="3848603" cy="268932"/>
              <a:chOff x="7939519" y="5110319"/>
              <a:chExt cx="3848603" cy="268932"/>
            </a:xfrm>
          </p:grpSpPr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7950309" y="5162429"/>
                <a:ext cx="182064" cy="170287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7939519" y="5113830"/>
                <a:ext cx="219977" cy="227051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8207403" y="5333532"/>
                <a:ext cx="628435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27" name="object 33">
                <a:extLst>
                  <a:ext uri="{FF2B5EF4-FFF2-40B4-BE49-F238E27FC236}">
                    <a16:creationId xmlns:a16="http://schemas.microsoft.com/office/drawing/2014/main" id="{897E395E-A42B-F93A-89D3-E4E38620C2DA}"/>
                  </a:ext>
                </a:extLst>
              </p:cNvPr>
              <p:cNvGrpSpPr/>
              <p:nvPr userDrawn="1"/>
            </p:nvGrpSpPr>
            <p:grpSpPr>
              <a:xfrm flipV="1">
                <a:off x="8835837" y="5110319"/>
                <a:ext cx="2952285" cy="227038"/>
                <a:chOff x="14607412" y="3517524"/>
                <a:chExt cx="3873908" cy="335280"/>
              </a:xfrm>
            </p:grpSpPr>
            <p:sp>
              <p:nvSpPr>
                <p:cNvPr id="40" name="object 34">
                  <a:extLst>
                    <a:ext uri="{FF2B5EF4-FFF2-40B4-BE49-F238E27FC236}">
                      <a16:creationId xmlns:a16="http://schemas.microsoft.com/office/drawing/2014/main" id="{A72F11A5-F3CB-EBCF-33D6-C86B7A8F2542}"/>
                    </a:ext>
                  </a:extLst>
                </p:cNvPr>
                <p:cNvSpPr/>
                <p:nvPr/>
              </p:nvSpPr>
              <p:spPr>
                <a:xfrm>
                  <a:off x="14607412" y="3527987"/>
                  <a:ext cx="351789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900">
                      <a:moveTo>
                        <a:pt x="0" y="0"/>
                      </a:moveTo>
                      <a:lnTo>
                        <a:pt x="3517390" y="0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35">
                  <a:extLst>
                    <a:ext uri="{FF2B5EF4-FFF2-40B4-BE49-F238E27FC236}">
                      <a16:creationId xmlns:a16="http://schemas.microsoft.com/office/drawing/2014/main" id="{E9FBEA00-C184-8D4E-59C3-200048294678}"/>
                    </a:ext>
                  </a:extLst>
                </p:cNvPr>
                <p:cNvSpPr/>
                <p:nvPr/>
              </p:nvSpPr>
              <p:spPr>
                <a:xfrm>
                  <a:off x="18217785" y="3533965"/>
                  <a:ext cx="251460" cy="27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59" h="277495">
                      <a:moveTo>
                        <a:pt x="0" y="0"/>
                      </a:moveTo>
                      <a:lnTo>
                        <a:pt x="48810" y="13860"/>
                      </a:lnTo>
                      <a:lnTo>
                        <a:pt x="94040" y="35055"/>
                      </a:lnTo>
                      <a:lnTo>
                        <a:pt x="134994" y="62889"/>
                      </a:lnTo>
                      <a:lnTo>
                        <a:pt x="170979" y="96669"/>
                      </a:lnTo>
                      <a:lnTo>
                        <a:pt x="201299" y="135700"/>
                      </a:lnTo>
                      <a:lnTo>
                        <a:pt x="225261" y="179287"/>
                      </a:lnTo>
                      <a:lnTo>
                        <a:pt x="242170" y="226736"/>
                      </a:lnTo>
                      <a:lnTo>
                        <a:pt x="251332" y="277352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DB1DF6D1-9675-BFD5-7522-A5686653BAC9}"/>
                    </a:ext>
                  </a:extLst>
                </p:cNvPr>
                <p:cNvSpPr/>
                <p:nvPr/>
              </p:nvSpPr>
              <p:spPr>
                <a:xfrm>
                  <a:off x="18146041" y="3517524"/>
                  <a:ext cx="335279" cy="335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280" h="335279">
                      <a:moveTo>
                        <a:pt x="20942" y="10464"/>
                      </a:moveTo>
                      <a:lnTo>
                        <a:pt x="17881" y="3060"/>
                      </a:lnTo>
                      <a:lnTo>
                        <a:pt x="10477" y="0"/>
                      </a:lnTo>
                      <a:lnTo>
                        <a:pt x="3073" y="3060"/>
                      </a:lnTo>
                      <a:lnTo>
                        <a:pt x="0" y="10464"/>
                      </a:lnTo>
                      <a:lnTo>
                        <a:pt x="3073" y="17868"/>
                      </a:lnTo>
                      <a:lnTo>
                        <a:pt x="10477" y="20942"/>
                      </a:lnTo>
                      <a:lnTo>
                        <a:pt x="17881" y="17868"/>
                      </a:lnTo>
                      <a:lnTo>
                        <a:pt x="20942" y="10464"/>
                      </a:lnTo>
                      <a:close/>
                    </a:path>
                    <a:path w="335280" h="335279">
                      <a:moveTo>
                        <a:pt x="335076" y="324599"/>
                      </a:moveTo>
                      <a:lnTo>
                        <a:pt x="332003" y="317195"/>
                      </a:lnTo>
                      <a:lnTo>
                        <a:pt x="324599" y="314121"/>
                      </a:lnTo>
                      <a:lnTo>
                        <a:pt x="317195" y="317195"/>
                      </a:lnTo>
                      <a:lnTo>
                        <a:pt x="314134" y="324599"/>
                      </a:lnTo>
                      <a:lnTo>
                        <a:pt x="317195" y="332003"/>
                      </a:lnTo>
                      <a:lnTo>
                        <a:pt x="324599" y="335064"/>
                      </a:lnTo>
                      <a:lnTo>
                        <a:pt x="332003" y="332003"/>
                      </a:lnTo>
                      <a:lnTo>
                        <a:pt x="335076" y="324599"/>
                      </a:lnTo>
                      <a:close/>
                    </a:path>
                  </a:pathLst>
                </a:custGeom>
                <a:solidFill>
                  <a:srgbClr val="1A0F5C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 userDrawn="1"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25885" y="2740569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83341" y="2750635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40797" y="2746418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18825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76281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8333737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75AD6B4D-56CD-CBD5-1D27-42052B48904C}"/>
              </a:ext>
            </a:extLst>
          </p:cNvPr>
          <p:cNvSpPr/>
          <p:nvPr/>
        </p:nvSpPr>
        <p:spPr>
          <a:xfrm>
            <a:off x="663543" y="5326991"/>
            <a:ext cx="2423176" cy="6020"/>
          </a:xfrm>
          <a:custGeom>
            <a:avLst/>
            <a:gdLst/>
            <a:ahLst/>
            <a:cxnLst/>
            <a:rect l="l" t="t" r="r" b="b"/>
            <a:pathLst>
              <a:path w="3588385" h="8890">
                <a:moveTo>
                  <a:pt x="0" y="0"/>
                </a:moveTo>
                <a:lnTo>
                  <a:pt x="3587786" y="8711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10">
            <a:extLst>
              <a:ext uri="{FF2B5EF4-FFF2-40B4-BE49-F238E27FC236}">
                <a16:creationId xmlns:a16="http://schemas.microsoft.com/office/drawing/2014/main" id="{D7C8A975-CA69-0CBC-BA39-90E954E29B65}"/>
              </a:ext>
            </a:extLst>
          </p:cNvPr>
          <p:cNvSpPr/>
          <p:nvPr/>
        </p:nvSpPr>
        <p:spPr>
          <a:xfrm>
            <a:off x="3148757" y="5141587"/>
            <a:ext cx="169807" cy="187478"/>
          </a:xfrm>
          <a:custGeom>
            <a:avLst/>
            <a:gdLst/>
            <a:ahLst/>
            <a:cxnLst/>
            <a:rect l="l" t="t" r="r" b="b"/>
            <a:pathLst>
              <a:path w="251460" h="276859">
                <a:moveTo>
                  <a:pt x="0" y="276766"/>
                </a:moveTo>
                <a:lnTo>
                  <a:pt x="48818" y="263026"/>
                </a:lnTo>
                <a:lnTo>
                  <a:pt x="94055" y="241941"/>
                </a:lnTo>
                <a:lnTo>
                  <a:pt x="135016" y="214203"/>
                </a:lnTo>
                <a:lnTo>
                  <a:pt x="171006" y="180507"/>
                </a:lnTo>
                <a:lnTo>
                  <a:pt x="201330" y="141545"/>
                </a:lnTo>
                <a:lnTo>
                  <a:pt x="225295" y="98011"/>
                </a:lnTo>
                <a:lnTo>
                  <a:pt x="242204" y="50598"/>
                </a:lnTo>
                <a:lnTo>
                  <a:pt x="251364" y="0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402212" y="3372478"/>
            <a:ext cx="292444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8C64DD-30BB-D19A-63AF-B086BC80A464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1BF65D0E-0627-F234-B1E9-DAF71F8731CB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6">
              <a:extLst>
                <a:ext uri="{FF2B5EF4-FFF2-40B4-BE49-F238E27FC236}">
                  <a16:creationId xmlns:a16="http://schemas.microsoft.com/office/drawing/2014/main" id="{DC32E038-6AD5-5D99-0B7E-155514E82E9D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7">
              <a:extLst>
                <a:ext uri="{FF2B5EF4-FFF2-40B4-BE49-F238E27FC236}">
                  <a16:creationId xmlns:a16="http://schemas.microsoft.com/office/drawing/2014/main" id="{6559E618-A26D-63F7-F1CA-FCA4249795C8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9">
              <a:extLst>
                <a:ext uri="{FF2B5EF4-FFF2-40B4-BE49-F238E27FC236}">
                  <a16:creationId xmlns:a16="http://schemas.microsoft.com/office/drawing/2014/main" id="{1B562921-8B76-0027-F506-8F88B6F6D1A6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12">
              <a:extLst>
                <a:ext uri="{FF2B5EF4-FFF2-40B4-BE49-F238E27FC236}">
                  <a16:creationId xmlns:a16="http://schemas.microsoft.com/office/drawing/2014/main" id="{E0943846-5820-FB6C-9E9E-7981A949FD6C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7E5B0826-F496-42D4-2ABF-A97CDA263D6D}"/>
              </a:ext>
            </a:extLst>
          </p:cNvPr>
          <p:cNvGrpSpPr/>
          <p:nvPr/>
        </p:nvGrpSpPr>
        <p:grpSpPr>
          <a:xfrm>
            <a:off x="3312435" y="1872371"/>
            <a:ext cx="226409" cy="3206049"/>
            <a:chOff x="5926521" y="3517515"/>
            <a:chExt cx="335280" cy="473456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5936992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5942968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5926518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3574055" y="1872371"/>
            <a:ext cx="2552674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6112477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6374097" y="5113658"/>
            <a:ext cx="255267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8912518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9174512" y="1872371"/>
            <a:ext cx="2616138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37">
            <a:extLst>
              <a:ext uri="{FF2B5EF4-FFF2-40B4-BE49-F238E27FC236}">
                <a16:creationId xmlns:a16="http://schemas.microsoft.com/office/drawing/2014/main" id="{628F4EC7-BC30-BDE7-8951-7946439D516A}"/>
              </a:ext>
            </a:extLst>
          </p:cNvPr>
          <p:cNvGrpSpPr/>
          <p:nvPr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02C09891-3C21-02C6-D9EB-D6D62ACAA23D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151E7C42-172D-6132-7624-738CC62D3ECC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982D1E67-ADDC-FDB4-C1BE-B34D2B83D864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2276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v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89DCF6-CF26-4FFB-A1EA-F88B34B7DDB1}"/>
              </a:ext>
            </a:extLst>
          </p:cNvPr>
          <p:cNvGrpSpPr/>
          <p:nvPr userDrawn="1"/>
        </p:nvGrpSpPr>
        <p:grpSpPr>
          <a:xfrm>
            <a:off x="381000" y="1872371"/>
            <a:ext cx="11429999" cy="3468510"/>
            <a:chOff x="381000" y="1872371"/>
            <a:chExt cx="11429999" cy="346851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C957A38C-3E1D-517B-6C30-EE3551C364E1}"/>
                </a:ext>
              </a:extLst>
            </p:cNvPr>
            <p:cNvGrpSpPr/>
            <p:nvPr userDrawn="1"/>
          </p:nvGrpSpPr>
          <p:grpSpPr>
            <a:xfrm>
              <a:off x="608957" y="5141587"/>
              <a:ext cx="2142079" cy="191424"/>
              <a:chOff x="608957" y="5141587"/>
              <a:chExt cx="2142079" cy="191424"/>
            </a:xfrm>
          </p:grpSpPr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608957" y="5326991"/>
                <a:ext cx="1955026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2614035" y="5141587"/>
                <a:ext cx="137001" cy="18747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81BBE61-CFAE-C29F-136F-434DBC361A62}"/>
                </a:ext>
              </a:extLst>
            </p:cNvPr>
            <p:cNvGrpSpPr/>
            <p:nvPr/>
          </p:nvGrpSpPr>
          <p:grpSpPr>
            <a:xfrm>
              <a:off x="2746644" y="1872377"/>
              <a:ext cx="226409" cy="3205947"/>
              <a:chOff x="2746644" y="1872377"/>
              <a:chExt cx="226409" cy="3205947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2752740" y="2113503"/>
                <a:ext cx="0" cy="2964821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2757752" y="1880475"/>
                <a:ext cx="187388" cy="170278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2746644" y="1872377"/>
                <a:ext cx="226409" cy="227038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4972552" y="2134832"/>
              <a:ext cx="226409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2972870" y="1872371"/>
              <a:ext cx="2017087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7202653" y="1872371"/>
              <a:ext cx="226409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5207664" y="5113658"/>
              <a:ext cx="201117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5" name="object 21">
              <a:extLst>
                <a:ext uri="{FF2B5EF4-FFF2-40B4-BE49-F238E27FC236}">
                  <a16:creationId xmlns:a16="http://schemas.microsoft.com/office/drawing/2014/main" id="{0D44E981-C563-5718-7D23-1A8DA363BF6E}"/>
                </a:ext>
              </a:extLst>
            </p:cNvPr>
            <p:cNvGrpSpPr/>
            <p:nvPr/>
          </p:nvGrpSpPr>
          <p:grpSpPr>
            <a:xfrm>
              <a:off x="9431558" y="2134832"/>
              <a:ext cx="226409" cy="3206049"/>
              <a:chOff x="10072992" y="3905106"/>
              <a:chExt cx="335280" cy="4734560"/>
            </a:xfrm>
          </p:grpSpPr>
          <p:sp>
            <p:nvSpPr>
              <p:cNvPr id="126" name="object 22">
                <a:extLst>
                  <a:ext uri="{FF2B5EF4-FFF2-40B4-BE49-F238E27FC236}">
                    <a16:creationId xmlns:a16="http://schemas.microsoft.com/office/drawing/2014/main" id="{E2CDA8C1-2ADB-83C0-D181-0A6D65C64B86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23">
                <a:extLst>
                  <a:ext uri="{FF2B5EF4-FFF2-40B4-BE49-F238E27FC236}">
                    <a16:creationId xmlns:a16="http://schemas.microsoft.com/office/drawing/2014/main" id="{092E7E38-6EA2-443F-91FC-D6EFC36E4A6F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8" name="object 24">
                <a:extLst>
                  <a:ext uri="{FF2B5EF4-FFF2-40B4-BE49-F238E27FC236}">
                    <a16:creationId xmlns:a16="http://schemas.microsoft.com/office/drawing/2014/main" id="{194A8829-614A-48E3-8245-7324410998AC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7437156" y="1872371"/>
              <a:ext cx="2008198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3" name="object 25">
              <a:extLst>
                <a:ext uri="{FF2B5EF4-FFF2-40B4-BE49-F238E27FC236}">
                  <a16:creationId xmlns:a16="http://schemas.microsoft.com/office/drawing/2014/main" id="{3F161B54-AD4C-85B1-BB67-621BB01D9EAB}"/>
                </a:ext>
              </a:extLst>
            </p:cNvPr>
            <p:cNvGrpSpPr/>
            <p:nvPr/>
          </p:nvGrpSpPr>
          <p:grpSpPr>
            <a:xfrm>
              <a:off x="9673169" y="5113660"/>
              <a:ext cx="2117180" cy="227038"/>
              <a:chOff x="10460414" y="8304114"/>
              <a:chExt cx="3780154" cy="335280"/>
            </a:xfrm>
          </p:grpSpPr>
          <p:sp>
            <p:nvSpPr>
              <p:cNvPr id="134" name="object 26">
                <a:extLst>
                  <a:ext uri="{FF2B5EF4-FFF2-40B4-BE49-F238E27FC236}">
                    <a16:creationId xmlns:a16="http://schemas.microsoft.com/office/drawing/2014/main" id="{9451CFDF-F153-76AD-986E-15280AA5146E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27">
                <a:extLst>
                  <a:ext uri="{FF2B5EF4-FFF2-40B4-BE49-F238E27FC236}">
                    <a16:creationId xmlns:a16="http://schemas.microsoft.com/office/drawing/2014/main" id="{250B92D9-DE66-0C02-DF3F-14BDD442E110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28">
                <a:extLst>
                  <a:ext uri="{FF2B5EF4-FFF2-40B4-BE49-F238E27FC236}">
                    <a16:creationId xmlns:a16="http://schemas.microsoft.com/office/drawing/2014/main" id="{B8C855B5-33F6-54A1-70B3-CFCE8F292678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7" name="object 37">
              <a:extLst>
                <a:ext uri="{FF2B5EF4-FFF2-40B4-BE49-F238E27FC236}">
                  <a16:creationId xmlns:a16="http://schemas.microsoft.com/office/drawing/2014/main" id="{BE3790AF-E1FD-4A31-6223-EB6CFE8DAD4F}"/>
                </a:ext>
              </a:extLst>
            </p:cNvPr>
            <p:cNvGrpSpPr/>
            <p:nvPr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138" name="object 38">
                <a:extLst>
                  <a:ext uri="{FF2B5EF4-FFF2-40B4-BE49-F238E27FC236}">
                    <a16:creationId xmlns:a16="http://schemas.microsoft.com/office/drawing/2014/main" id="{2F2F6995-FBFA-89F3-0525-16C1CE03EC8E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9" name="object 39">
                <a:extLst>
                  <a:ext uri="{FF2B5EF4-FFF2-40B4-BE49-F238E27FC236}">
                    <a16:creationId xmlns:a16="http://schemas.microsoft.com/office/drawing/2014/main" id="{5886396A-634F-9ED4-CD65-C2DE0BB01AAD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0" name="object 40">
                <a:extLst>
                  <a:ext uri="{FF2B5EF4-FFF2-40B4-BE49-F238E27FC236}">
                    <a16:creationId xmlns:a16="http://schemas.microsoft.com/office/drawing/2014/main" id="{E2CD1774-1410-439F-BD45-FBF0AB3C976C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277E4B0-CC3B-D16E-BB3D-910AE394C5B7}"/>
                </a:ext>
              </a:extLst>
            </p:cNvPr>
            <p:cNvGrpSpPr/>
            <p:nvPr userDrawn="1"/>
          </p:nvGrpSpPr>
          <p:grpSpPr>
            <a:xfrm>
              <a:off x="381000" y="3351205"/>
              <a:ext cx="247488" cy="1982784"/>
              <a:chOff x="381000" y="3351205"/>
              <a:chExt cx="247488" cy="1982784"/>
            </a:xfrm>
          </p:grpSpPr>
          <p:sp>
            <p:nvSpPr>
              <p:cNvPr id="143" name="object 5">
                <a:extLst>
                  <a:ext uri="{FF2B5EF4-FFF2-40B4-BE49-F238E27FC236}">
                    <a16:creationId xmlns:a16="http://schemas.microsoft.com/office/drawing/2014/main" id="{A1AE2022-DBB5-4B1A-288D-2912782A9854}"/>
                  </a:ext>
                </a:extLst>
              </p:cNvPr>
              <p:cNvSpPr/>
              <p:nvPr/>
            </p:nvSpPr>
            <p:spPr>
              <a:xfrm>
                <a:off x="409283" y="3421862"/>
                <a:ext cx="0" cy="167096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6">
                <a:extLst>
                  <a:ext uri="{FF2B5EF4-FFF2-40B4-BE49-F238E27FC236}">
                    <a16:creationId xmlns:a16="http://schemas.microsoft.com/office/drawing/2014/main" id="{8F66E85C-C235-CB67-5E0A-E3D4C9A29667}"/>
                  </a:ext>
                </a:extLst>
              </p:cNvPr>
              <p:cNvSpPr/>
              <p:nvPr/>
            </p:nvSpPr>
            <p:spPr>
              <a:xfrm>
                <a:off x="413322" y="5155199"/>
                <a:ext cx="187388" cy="170708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5" name="object 7">
                <a:extLst>
                  <a:ext uri="{FF2B5EF4-FFF2-40B4-BE49-F238E27FC236}">
                    <a16:creationId xmlns:a16="http://schemas.microsoft.com/office/drawing/2014/main" id="{A90029A1-DAC4-7F61-F2A2-AEA48A1A6A82}"/>
                  </a:ext>
                </a:extLst>
              </p:cNvPr>
              <p:cNvSpPr/>
              <p:nvPr/>
            </p:nvSpPr>
            <p:spPr>
              <a:xfrm>
                <a:off x="402212" y="5106567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9">
                <a:extLst>
                  <a:ext uri="{FF2B5EF4-FFF2-40B4-BE49-F238E27FC236}">
                    <a16:creationId xmlns:a16="http://schemas.microsoft.com/office/drawing/2014/main" id="{D809730F-0245-E5DB-6075-5FC8AA225054}"/>
                  </a:ext>
                </a:extLst>
              </p:cNvPr>
              <p:cNvSpPr/>
              <p:nvPr/>
            </p:nvSpPr>
            <p:spPr>
              <a:xfrm>
                <a:off x="614337" y="5319799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12">
                <a:extLst>
                  <a:ext uri="{FF2B5EF4-FFF2-40B4-BE49-F238E27FC236}">
                    <a16:creationId xmlns:a16="http://schemas.microsoft.com/office/drawing/2014/main" id="{F4C6135A-2B6C-B286-1CC5-DB75CACC4F95}"/>
                  </a:ext>
                </a:extLst>
              </p:cNvPr>
              <p:cNvSpPr/>
              <p:nvPr/>
            </p:nvSpPr>
            <p:spPr>
              <a:xfrm>
                <a:off x="381000" y="3351205"/>
                <a:ext cx="56602" cy="5675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3677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73169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84693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201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398115" y="3372478"/>
            <a:ext cx="2359454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43221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54745" y="2740569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84237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172713" y="2746418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9028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108520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567504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796996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14185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13729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338012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</p:spTree>
    <p:extLst>
      <p:ext uri="{BB962C8B-B14F-4D97-AF65-F5344CB8AC3E}">
        <p14:creationId xmlns:p14="http://schemas.microsoft.com/office/powerpoint/2010/main" val="20287635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x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object 25">
            <a:extLst>
              <a:ext uri="{FF2B5EF4-FFF2-40B4-BE49-F238E27FC236}">
                <a16:creationId xmlns:a16="http://schemas.microsoft.com/office/drawing/2014/main" id="{3F161B54-AD4C-85B1-BB67-621BB01D9EAB}"/>
              </a:ext>
            </a:extLst>
          </p:cNvPr>
          <p:cNvGrpSpPr/>
          <p:nvPr/>
        </p:nvGrpSpPr>
        <p:grpSpPr>
          <a:xfrm>
            <a:off x="8170488" y="5113660"/>
            <a:ext cx="1625445" cy="227038"/>
            <a:chOff x="10460414" y="8304114"/>
            <a:chExt cx="3780154" cy="335280"/>
          </a:xfrm>
        </p:grpSpPr>
        <p:sp>
          <p:nvSpPr>
            <p:cNvPr id="134" name="object 26">
              <a:extLst>
                <a:ext uri="{FF2B5EF4-FFF2-40B4-BE49-F238E27FC236}">
                  <a16:creationId xmlns:a16="http://schemas.microsoft.com/office/drawing/2014/main" id="{9451CFDF-F153-76AD-986E-15280AA5146E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27">
              <a:extLst>
                <a:ext uri="{FF2B5EF4-FFF2-40B4-BE49-F238E27FC236}">
                  <a16:creationId xmlns:a16="http://schemas.microsoft.com/office/drawing/2014/main" id="{250B92D9-DE66-0C02-DF3F-14BDD442E110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28">
              <a:extLst>
                <a:ext uri="{FF2B5EF4-FFF2-40B4-BE49-F238E27FC236}">
                  <a16:creationId xmlns:a16="http://schemas.microsoft.com/office/drawing/2014/main" id="{B8C855B5-33F6-54A1-70B3-CFCE8F292678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6278643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997479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582487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3440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 userDrawn="1"/>
        </p:nvSpPr>
        <p:spPr>
          <a:xfrm>
            <a:off x="398115" y="3372478"/>
            <a:ext cx="200922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698641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154407" y="2740569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3002485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394797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 userDrawn="1">
            <p:ph sz="half" idx="1" hasCustomPrompt="1"/>
          </p:nvPr>
        </p:nvSpPr>
        <p:spPr>
          <a:xfrm>
            <a:off x="83851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 userDrawn="1">
            <p:ph sz="half" idx="20" hasCustomPrompt="1"/>
          </p:nvPr>
        </p:nvSpPr>
        <p:spPr>
          <a:xfrm>
            <a:off x="2686596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 userDrawn="1">
            <p:ph sz="half" idx="21" hasCustomPrompt="1"/>
          </p:nvPr>
        </p:nvSpPr>
        <p:spPr>
          <a:xfrm>
            <a:off x="6382752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 userDrawn="1">
            <p:ph sz="half" idx="22" hasCustomPrompt="1"/>
          </p:nvPr>
        </p:nvSpPr>
        <p:spPr>
          <a:xfrm>
            <a:off x="1007890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4430565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 userDrawn="1">
            <p:ph type="pic" sz="quarter" idx="28" hasCustomPrompt="1"/>
          </p:nvPr>
        </p:nvSpPr>
        <p:spPr>
          <a:xfrm>
            <a:off x="4850563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 userDrawn="1">
            <p:ph sz="half" idx="29" hasCustomPrompt="1"/>
          </p:nvPr>
        </p:nvSpPr>
        <p:spPr>
          <a:xfrm>
            <a:off x="4534674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D1EC21B-78EA-B0EA-B6D4-F71FDF8B2F38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8126721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EDB2EB8-8435-D418-96D3-31D7A5B2A01A}"/>
              </a:ext>
            </a:extLst>
          </p:cNvPr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8546719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E80F9A-AEF5-434A-FADF-9F6B619AD534}"/>
              </a:ext>
            </a:extLst>
          </p:cNvPr>
          <p:cNvSpPr>
            <a:spLocks noGrp="1"/>
          </p:cNvSpPr>
          <p:nvPr userDrawn="1">
            <p:ph sz="half" idx="33" hasCustomPrompt="1"/>
          </p:nvPr>
        </p:nvSpPr>
        <p:spPr>
          <a:xfrm>
            <a:off x="8230830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81BBE61-CFAE-C29F-136F-434DBC361A62}"/>
              </a:ext>
            </a:extLst>
          </p:cNvPr>
          <p:cNvGrpSpPr/>
          <p:nvPr userDrawn="1"/>
        </p:nvGrpSpPr>
        <p:grpSpPr>
          <a:xfrm>
            <a:off x="2394618" y="1872377"/>
            <a:ext cx="226409" cy="3205947"/>
            <a:chOff x="2746644" y="1872377"/>
            <a:chExt cx="226409" cy="3205947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2752740" y="2113503"/>
              <a:ext cx="0" cy="2964821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2757752" y="1880475"/>
              <a:ext cx="187388" cy="170278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2746644" y="1872377"/>
              <a:ext cx="226409" cy="227038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277E4B0-CC3B-D16E-BB3D-910AE394C5B7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143" name="object 5">
              <a:extLst>
                <a:ext uri="{FF2B5EF4-FFF2-40B4-BE49-F238E27FC236}">
                  <a16:creationId xmlns:a16="http://schemas.microsoft.com/office/drawing/2014/main" id="{A1AE2022-DBB5-4B1A-288D-2912782A9854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6">
              <a:extLst>
                <a:ext uri="{FF2B5EF4-FFF2-40B4-BE49-F238E27FC236}">
                  <a16:creationId xmlns:a16="http://schemas.microsoft.com/office/drawing/2014/main" id="{8F66E85C-C235-CB67-5E0A-E3D4C9A29667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7">
              <a:extLst>
                <a:ext uri="{FF2B5EF4-FFF2-40B4-BE49-F238E27FC236}">
                  <a16:creationId xmlns:a16="http://schemas.microsoft.com/office/drawing/2014/main" id="{A90029A1-DAC4-7F61-F2A2-AEA48A1A6A82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9">
              <a:extLst>
                <a:ext uri="{FF2B5EF4-FFF2-40B4-BE49-F238E27FC236}">
                  <a16:creationId xmlns:a16="http://schemas.microsoft.com/office/drawing/2014/main" id="{D809730F-0245-E5DB-6075-5FC8AA225054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2">
              <a:extLst>
                <a:ext uri="{FF2B5EF4-FFF2-40B4-BE49-F238E27FC236}">
                  <a16:creationId xmlns:a16="http://schemas.microsoft.com/office/drawing/2014/main" id="{F4C6135A-2B6C-B286-1CC5-DB75CACC4F95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854E72-9F64-73AF-CA82-3096A85C5440}"/>
              </a:ext>
            </a:extLst>
          </p:cNvPr>
          <p:cNvGrpSpPr/>
          <p:nvPr userDrawn="1"/>
        </p:nvGrpSpPr>
        <p:grpSpPr>
          <a:xfrm>
            <a:off x="608958" y="5141587"/>
            <a:ext cx="1796116" cy="191424"/>
            <a:chOff x="608957" y="5141587"/>
            <a:chExt cx="2142079" cy="191424"/>
          </a:xfrm>
        </p:grpSpPr>
        <p:sp>
          <p:nvSpPr>
            <p:cNvPr id="61" name="object 8">
              <a:extLst>
                <a:ext uri="{FF2B5EF4-FFF2-40B4-BE49-F238E27FC236}">
                  <a16:creationId xmlns:a16="http://schemas.microsoft.com/office/drawing/2014/main" id="{75AD6B4D-56CD-CBD5-1D27-42052B48904C}"/>
                </a:ext>
              </a:extLst>
            </p:cNvPr>
            <p:cNvSpPr/>
            <p:nvPr/>
          </p:nvSpPr>
          <p:spPr>
            <a:xfrm>
              <a:off x="608957" y="5326991"/>
              <a:ext cx="1955026" cy="6020"/>
            </a:xfrm>
            <a:custGeom>
              <a:avLst/>
              <a:gdLst/>
              <a:ahLst/>
              <a:cxnLst/>
              <a:rect l="l" t="t" r="r" b="b"/>
              <a:pathLst>
                <a:path w="3588385" h="8890">
                  <a:moveTo>
                    <a:pt x="0" y="0"/>
                  </a:moveTo>
                  <a:lnTo>
                    <a:pt x="3587786" y="871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0">
              <a:extLst>
                <a:ext uri="{FF2B5EF4-FFF2-40B4-BE49-F238E27FC236}">
                  <a16:creationId xmlns:a16="http://schemas.microsoft.com/office/drawing/2014/main" id="{D7C8A975-CA69-0CBC-BA39-90E954E29B65}"/>
                </a:ext>
              </a:extLst>
            </p:cNvPr>
            <p:cNvSpPr/>
            <p:nvPr/>
          </p:nvSpPr>
          <p:spPr>
            <a:xfrm>
              <a:off x="2614035" y="5141587"/>
              <a:ext cx="137001" cy="187478"/>
            </a:xfrm>
            <a:custGeom>
              <a:avLst/>
              <a:gdLst/>
              <a:ahLst/>
              <a:cxnLst/>
              <a:rect l="l" t="t" r="r" b="b"/>
              <a:pathLst>
                <a:path w="251460" h="276859">
                  <a:moveTo>
                    <a:pt x="0" y="276766"/>
                  </a:moveTo>
                  <a:lnTo>
                    <a:pt x="48818" y="263026"/>
                  </a:lnTo>
                  <a:lnTo>
                    <a:pt x="94055" y="241941"/>
                  </a:lnTo>
                  <a:lnTo>
                    <a:pt x="135016" y="214203"/>
                  </a:lnTo>
                  <a:lnTo>
                    <a:pt x="171006" y="180507"/>
                  </a:lnTo>
                  <a:lnTo>
                    <a:pt x="201330" y="141545"/>
                  </a:lnTo>
                  <a:lnTo>
                    <a:pt x="225295" y="98011"/>
                  </a:lnTo>
                  <a:lnTo>
                    <a:pt x="242204" y="50598"/>
                  </a:lnTo>
                  <a:lnTo>
                    <a:pt x="251364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4240298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2629119" y="1872371"/>
            <a:ext cx="1626896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6086644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4474333" y="5113658"/>
            <a:ext cx="162378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10037234" y="1872371"/>
            <a:ext cx="1753116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21">
            <a:extLst>
              <a:ext uri="{FF2B5EF4-FFF2-40B4-BE49-F238E27FC236}">
                <a16:creationId xmlns:a16="http://schemas.microsoft.com/office/drawing/2014/main" id="{0D44E981-C563-5718-7D23-1A8DA363BF6E}"/>
              </a:ext>
            </a:extLst>
          </p:cNvPr>
          <p:cNvGrpSpPr/>
          <p:nvPr/>
        </p:nvGrpSpPr>
        <p:grpSpPr>
          <a:xfrm>
            <a:off x="7937117" y="2134832"/>
            <a:ext cx="226409" cy="3206049"/>
            <a:chOff x="10072992" y="3905106"/>
            <a:chExt cx="335280" cy="4734560"/>
          </a:xfrm>
        </p:grpSpPr>
        <p:sp>
          <p:nvSpPr>
            <p:cNvPr id="126" name="object 22">
              <a:extLst>
                <a:ext uri="{FF2B5EF4-FFF2-40B4-BE49-F238E27FC236}">
                  <a16:creationId xmlns:a16="http://schemas.microsoft.com/office/drawing/2014/main" id="{E2CDA8C1-2ADB-83C0-D181-0A6D65C64B86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23">
              <a:extLst>
                <a:ext uri="{FF2B5EF4-FFF2-40B4-BE49-F238E27FC236}">
                  <a16:creationId xmlns:a16="http://schemas.microsoft.com/office/drawing/2014/main" id="{092E7E38-6EA2-443F-91FC-D6EFC36E4A6F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24">
              <a:extLst>
                <a:ext uri="{FF2B5EF4-FFF2-40B4-BE49-F238E27FC236}">
                  <a16:creationId xmlns:a16="http://schemas.microsoft.com/office/drawing/2014/main" id="{194A8829-614A-48E3-8245-7324410998AC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29">
            <a:extLst>
              <a:ext uri="{FF2B5EF4-FFF2-40B4-BE49-F238E27FC236}">
                <a16:creationId xmlns:a16="http://schemas.microsoft.com/office/drawing/2014/main" id="{A65EE313-D4BD-A8B9-A760-7A7B7E4E9C92}"/>
              </a:ext>
            </a:extLst>
          </p:cNvPr>
          <p:cNvGrpSpPr/>
          <p:nvPr userDrawn="1"/>
        </p:nvGrpSpPr>
        <p:grpSpPr>
          <a:xfrm>
            <a:off x="9782172" y="1872371"/>
            <a:ext cx="226409" cy="3206049"/>
            <a:chOff x="14219462" y="3517515"/>
            <a:chExt cx="335280" cy="4734560"/>
          </a:xfrm>
        </p:grpSpPr>
        <p:sp>
          <p:nvSpPr>
            <p:cNvPr id="115" name="object 30">
              <a:extLst>
                <a:ext uri="{FF2B5EF4-FFF2-40B4-BE49-F238E27FC236}">
                  <a16:creationId xmlns:a16="http://schemas.microsoft.com/office/drawing/2014/main" id="{D191635E-3F23-F10A-4EE6-3D72465D44B0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31">
              <a:extLst>
                <a:ext uri="{FF2B5EF4-FFF2-40B4-BE49-F238E27FC236}">
                  <a16:creationId xmlns:a16="http://schemas.microsoft.com/office/drawing/2014/main" id="{CC0FA61B-64BA-6BBD-2C2D-FDB7906BB0B2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32">
              <a:extLst>
                <a:ext uri="{FF2B5EF4-FFF2-40B4-BE49-F238E27FC236}">
                  <a16:creationId xmlns:a16="http://schemas.microsoft.com/office/drawing/2014/main" id="{C13FA14E-F2D1-9FE6-849D-B47A290EE7A2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" name="object 37">
            <a:extLst>
              <a:ext uri="{FF2B5EF4-FFF2-40B4-BE49-F238E27FC236}">
                <a16:creationId xmlns:a16="http://schemas.microsoft.com/office/drawing/2014/main" id="{B1F20906-1084-D86F-0059-AC2F74060E4E}"/>
              </a:ext>
            </a:extLst>
          </p:cNvPr>
          <p:cNvGrpSpPr/>
          <p:nvPr userDrawn="1"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119" name="object 38">
              <a:extLst>
                <a:ext uri="{FF2B5EF4-FFF2-40B4-BE49-F238E27FC236}">
                  <a16:creationId xmlns:a16="http://schemas.microsoft.com/office/drawing/2014/main" id="{AEEAF466-16BF-11CE-FE47-CA95F1D4E6F4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39">
              <a:extLst>
                <a:ext uri="{FF2B5EF4-FFF2-40B4-BE49-F238E27FC236}">
                  <a16:creationId xmlns:a16="http://schemas.microsoft.com/office/drawing/2014/main" id="{F52EBCCC-9F1D-BF94-AB26-49AD5504994D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40">
              <a:extLst>
                <a:ext uri="{FF2B5EF4-FFF2-40B4-BE49-F238E27FC236}">
                  <a16:creationId xmlns:a16="http://schemas.microsoft.com/office/drawing/2014/main" id="{762BA1B8-20B6-7C54-CF55-BA3E86A3DE78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33">
            <a:extLst>
              <a:ext uri="{FF2B5EF4-FFF2-40B4-BE49-F238E27FC236}">
                <a16:creationId xmlns:a16="http://schemas.microsoft.com/office/drawing/2014/main" id="{497EADDE-E9EC-BF0D-F241-B5B0AF8E7D44}"/>
              </a:ext>
            </a:extLst>
          </p:cNvPr>
          <p:cNvGrpSpPr/>
          <p:nvPr userDrawn="1"/>
        </p:nvGrpSpPr>
        <p:grpSpPr>
          <a:xfrm>
            <a:off x="6354143" y="1872371"/>
            <a:ext cx="1588843" cy="227038"/>
            <a:chOff x="14607437" y="3517515"/>
            <a:chExt cx="3874135" cy="335280"/>
          </a:xfrm>
        </p:grpSpPr>
        <p:sp>
          <p:nvSpPr>
            <p:cNvPr id="123" name="object 34">
              <a:extLst>
                <a:ext uri="{FF2B5EF4-FFF2-40B4-BE49-F238E27FC236}">
                  <a16:creationId xmlns:a16="http://schemas.microsoft.com/office/drawing/2014/main" id="{1E5BDDCE-EC54-71D9-2899-21997D5A50C3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5">
              <a:extLst>
                <a:ext uri="{FF2B5EF4-FFF2-40B4-BE49-F238E27FC236}">
                  <a16:creationId xmlns:a16="http://schemas.microsoft.com/office/drawing/2014/main" id="{A7EFF38A-5974-CACC-40EF-982F195EB72D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6">
              <a:extLst>
                <a:ext uri="{FF2B5EF4-FFF2-40B4-BE49-F238E27FC236}">
                  <a16:creationId xmlns:a16="http://schemas.microsoft.com/office/drawing/2014/main" id="{C1492C11-00B7-4340-F031-C00DAAFADA06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724681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B8D7-D6D2-A8F8-ADF4-92D590E7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99B9-AE44-6B11-D220-CB347A6CD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CB130-80B1-D6BB-E325-8B0E7D7D18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7088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942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2028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87430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95990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8056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89129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488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6"/>
            <a:ext cx="11430000" cy="405870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98275-7669-438E-B32D-CA45C5603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909732"/>
            <a:ext cx="11430000" cy="249767"/>
          </a:xfrm>
        </p:spPr>
        <p:txBody>
          <a:bodyPr anchor="ctr"/>
          <a:lstStyle>
            <a:lvl1pPr marL="0" indent="0">
              <a:buNone/>
              <a:defRPr sz="800" i="1"/>
            </a:lvl1pPr>
          </a:lstStyle>
          <a:p>
            <a:pPr lvl="0"/>
            <a:r>
              <a:rPr lang="en-US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5427052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ags" Target="../tags/tag17.xml"/><Relationship Id="rId5" Type="http://schemas.openxmlformats.org/officeDocument/2006/relationships/slideLayout" Target="../slideLayouts/slideLayout17.xml"/><Relationship Id="rId10" Type="http://schemas.openxmlformats.org/officeDocument/2006/relationships/tags" Target="../tags/tag16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Relationship Id="rId14" Type="http://schemas.openxmlformats.org/officeDocument/2006/relationships/image" Target="../media/image3.sv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6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60.xml"/><Relationship Id="rId45" Type="http://schemas.openxmlformats.org/officeDocument/2006/relationships/oleObject" Target="../embeddings/oleObject3.bin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51.xml"/><Relationship Id="rId44" Type="http://schemas.openxmlformats.org/officeDocument/2006/relationships/tags" Target="../tags/tag26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55.xml"/><Relationship Id="rId43" Type="http://schemas.openxmlformats.org/officeDocument/2006/relationships/theme" Target="../theme/theme3.xml"/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6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tags" Target="../tags/tag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FDD4959-39B2-356D-F152-A33F930E1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66908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04" imgH="405" progId="TCLayout.ActiveDocument.1">
                  <p:embed/>
                </p:oleObj>
              </mc:Choice>
              <mc:Fallback>
                <p:oleObj name="think-cell Slide" r:id="rId1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DD4959-39B2-356D-F152-A33F930E1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ADDC-A1DD-46B3-89BE-C6244EF0A8E6}" type="datetime4">
              <a:rPr lang="en-GB" smtClean="0"/>
              <a:t>12 May 2026</a:t>
            </a:fld>
            <a:endParaRPr lang="en-GB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  <p:sldLayoutId id="2147483754" r:id="rId11"/>
    <p:sldLayoutId id="2147483755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2752FD6-79F9-E32F-0E6E-B468E849A2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4029601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4" imgH="405" progId="TCLayout.ActiveDocument.1">
                  <p:embed/>
                </p:oleObj>
              </mc:Choice>
              <mc:Fallback>
                <p:oleObj name="think-cell Slide" r:id="rId12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752FD6-79F9-E32F-0E6E-B468E849A2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FD57331-9859-CB16-6E4A-A5BA9846D25D}"/>
              </a:ext>
            </a:extLst>
          </p:cNvPr>
          <p:cNvGraphicFramePr>
            <a:graphicFrameLocks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21830356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04" imgH="405" progId="TCLayout.ActiveDocument.1">
                  <p:embed/>
                </p:oleObj>
              </mc:Choice>
              <mc:Fallback>
                <p:oleObj name="think-cell Slide" r:id="rId45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D57331-9859-CB16-6E4A-A5BA9846D2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44" r:id="rId15"/>
    <p:sldLayoutId id="2147483742" r:id="rId16"/>
    <p:sldLayoutId id="2147483743" r:id="rId17"/>
    <p:sldLayoutId id="2147483715" r:id="rId18"/>
    <p:sldLayoutId id="2147483692" r:id="rId19"/>
    <p:sldLayoutId id="2147483717" r:id="rId20"/>
    <p:sldLayoutId id="2147483739" r:id="rId21"/>
    <p:sldLayoutId id="2147483718" r:id="rId22"/>
    <p:sldLayoutId id="2147483740" r:id="rId23"/>
    <p:sldLayoutId id="2147483719" r:id="rId24"/>
    <p:sldLayoutId id="2147483741" r:id="rId25"/>
    <p:sldLayoutId id="2147483720" r:id="rId26"/>
    <p:sldLayoutId id="2147483696" r:id="rId27"/>
    <p:sldLayoutId id="2147483711" r:id="rId28"/>
    <p:sldLayoutId id="2147483745" r:id="rId29"/>
    <p:sldLayoutId id="2147483746" r:id="rId30"/>
    <p:sldLayoutId id="2147483747" r:id="rId31"/>
    <p:sldLayoutId id="2147483693" r:id="rId32"/>
    <p:sldLayoutId id="2147483694" r:id="rId33"/>
    <p:sldLayoutId id="2147483695" r:id="rId34"/>
    <p:sldLayoutId id="2147483698" r:id="rId35"/>
    <p:sldLayoutId id="2147483697" r:id="rId36"/>
    <p:sldLayoutId id="2147483681" r:id="rId37"/>
    <p:sldLayoutId id="2147483682" r:id="rId38"/>
    <p:sldLayoutId id="2147483683" r:id="rId39"/>
    <p:sldLayoutId id="2147483750" r:id="rId40"/>
    <p:sldLayoutId id="2147483751" r:id="rId41"/>
    <p:sldLayoutId id="2147483753" r:id="rId4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9E209D0-32D6-B856-99CD-FB03D517C7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682164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E209D0-32D6-B856-99CD-FB03D517C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tags" Target="../tags/tag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2.xml"/><Relationship Id="rId1" Type="http://schemas.openxmlformats.org/officeDocument/2006/relationships/tags" Target="../tags/tag36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Market Position &amp; Share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r>
              <a:rPr lang="en-GB" noProof="0" dirty="0"/>
              <a:t>May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E8A72B2-5262-1CE7-5542-EA0740DB94C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Problem Statement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FA3706D-67B6-E33E-3B71-E776AFD8F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0F3B49F-003A-B09C-1B9C-CF388421A578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FED79EE-F6F6-400A-740C-110861582E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6AF1AA2-5A8A-732E-9561-E0A797F9D6CC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Various segments of revenue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9A8F084-8906-5B02-3EC8-DC43A34317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9D2BB5FF-E627-C64D-3EA5-873559414D0E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Strategic Segment Mastery vs. 2025 Retention Challenges</a:t>
            </a:r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F39BFB1-5E9E-BB8E-4D4D-D9C8399579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119D625-2643-1609-1012-0802E4D34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7BAC6DA-17B9-ACE3-077B-24F7C9B1678F}"/>
              </a:ext>
            </a:extLst>
          </p:cNvPr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Key findings after analysis</a:t>
            </a:r>
            <a:endParaRPr lang="en-US" dirty="0"/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0C191CC-0E99-BB98-38DA-D03174113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2" name="Content Placeholder 25">
            <a:extLst>
              <a:ext uri="{FF2B5EF4-FFF2-40B4-BE49-F238E27FC236}">
                <a16:creationId xmlns:a16="http://schemas.microsoft.com/office/drawing/2014/main" id="{025EC57D-F05C-FD43-4679-3CFC200C35C4}"/>
              </a:ext>
            </a:extLst>
          </p:cNvPr>
          <p:cNvSpPr txBox="1">
            <a:spLocks/>
          </p:cNvSpPr>
          <p:nvPr/>
        </p:nvSpPr>
        <p:spPr>
          <a:xfrm>
            <a:off x="309114" y="51055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1051560" tIns="90000" rIns="90000" bIns="90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Executive Summary and Conclusion</a:t>
            </a:r>
            <a:endParaRPr lang="en-US" dirty="0"/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681D017-AB67-E7CC-E958-D2BF984F0E91}"/>
              </a:ext>
            </a:extLst>
          </p:cNvPr>
          <p:cNvSpPr txBox="1">
            <a:spLocks/>
          </p:cNvSpPr>
          <p:nvPr/>
        </p:nvSpPr>
        <p:spPr>
          <a:xfrm>
            <a:off x="587106" y="4982528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vert="horz" lIns="45720" tIns="90000" rIns="45720" bIns="9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93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8091BE-DB06-7B6F-4BD4-86B03288C466}"/>
              </a:ext>
            </a:extLst>
          </p:cNvPr>
          <p:cNvSpPr txBox="1"/>
          <p:nvPr/>
        </p:nvSpPr>
        <p:spPr>
          <a:xfrm>
            <a:off x="310101" y="182880"/>
            <a:ext cx="11338560" cy="5899868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algn="l"/>
            <a:r>
              <a:rPr 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l"/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As a key stakeholder, there was a need to gain a </a:t>
            </a:r>
            <a:r>
              <a:rPr lang="en-IN" b="1" dirty="0"/>
              <a:t>clear and objective understanding of the company’s true market position.</a:t>
            </a:r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Existing internal reports lacked visibility into critical market-level indicators, including:</a:t>
            </a:r>
          </a:p>
          <a:p>
            <a:endParaRPr lang="en-IN" dirty="0"/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total addressable market</a:t>
            </a:r>
            <a:r>
              <a:rPr lang="en-IN" dirty="0"/>
              <a:t> and how many customers had been captured.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number of </a:t>
            </a:r>
            <a:r>
              <a:rPr lang="en-IN" b="1" dirty="0"/>
              <a:t>active customers</a:t>
            </a:r>
            <a:r>
              <a:rPr lang="en-IN" dirty="0"/>
              <a:t>, defined as customers generating </a:t>
            </a:r>
            <a:r>
              <a:rPr lang="en-IN" b="1" dirty="0"/>
              <a:t>Last Twelve Months (LTM) revenue greater than zero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company’s </a:t>
            </a:r>
            <a:r>
              <a:rPr lang="en-IN" b="1" dirty="0"/>
              <a:t>share of total market revenue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raised concerns that </a:t>
            </a:r>
            <a:r>
              <a:rPr lang="en-IN" b="1" dirty="0"/>
              <a:t>revenue growth alone does not necessarily reflect market strength</a:t>
            </a:r>
            <a:r>
              <a:rPr lang="en-IN" dirty="0"/>
              <a:t>, competitiveness, or long-term sustainability.</a:t>
            </a:r>
            <a:endParaRPr lang="en-US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IN" sz="1800" kern="100" dirty="0">
              <a:solidFill>
                <a:srgbClr val="1D1C1C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l"/>
            <a:br>
              <a:rPr lang="en-US" sz="1400" b="1" dirty="0">
                <a:solidFill>
                  <a:schemeClr val="bg2"/>
                </a:solidFill>
              </a:rPr>
            </a:br>
            <a:r>
              <a:rPr lang="en-US" sz="1400" b="1" dirty="0">
                <a:solidFill>
                  <a:schemeClr val="bg2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41699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BF47-A11A-6157-AB89-8C3B3B78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BC9D-2684-CAF6-5A38-C83B88C5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4592"/>
            <a:ext cx="11430000" cy="958265"/>
          </a:xfrm>
        </p:spPr>
        <p:txBody>
          <a:bodyPr/>
          <a:lstStyle/>
          <a:p>
            <a:r>
              <a:rPr lang="en-GB" dirty="0"/>
              <a:t>Overview</a:t>
            </a:r>
            <a:endParaRPr lang="en-GB" sz="2300" noProof="0" dirty="0">
              <a:cs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856AD7-4640-91B0-02F8-B6F6C28800AB}"/>
              </a:ext>
            </a:extLst>
          </p:cNvPr>
          <p:cNvSpPr/>
          <p:nvPr/>
        </p:nvSpPr>
        <p:spPr>
          <a:xfrm>
            <a:off x="472440" y="1481328"/>
            <a:ext cx="2237232" cy="79552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     $40.01M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 Current Revenue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D0B686-DCD2-D5D9-7602-1AFED8D3720D}"/>
              </a:ext>
            </a:extLst>
          </p:cNvPr>
          <p:cNvSpPr/>
          <p:nvPr/>
        </p:nvSpPr>
        <p:spPr>
          <a:xfrm>
            <a:off x="3349752" y="1465757"/>
            <a:ext cx="2237232" cy="86868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           890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  Active customers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27143-9E64-B198-39EF-F6E4160BABE1}"/>
              </a:ext>
            </a:extLst>
          </p:cNvPr>
          <p:cNvSpPr txBox="1"/>
          <p:nvPr/>
        </p:nvSpPr>
        <p:spPr>
          <a:xfrm>
            <a:off x="472440" y="2880360"/>
            <a:ext cx="6550152" cy="3255264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Our company is managing </a:t>
            </a:r>
            <a:r>
              <a:rPr lang="en-US" sz="1400" b="1" dirty="0"/>
              <a:t>890 active accounts</a:t>
            </a:r>
            <a:r>
              <a:rPr lang="en-US" sz="1400" dirty="0"/>
              <a:t> with a premium average value of </a:t>
            </a:r>
            <a:r>
              <a:rPr lang="en-US" sz="1400" b="1" dirty="0"/>
              <a:t>$44.9K</a:t>
            </a:r>
            <a:r>
              <a:rPr lang="en-US" sz="1400" dirty="0"/>
              <a:t> per client.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Despite a solid </a:t>
            </a:r>
            <a:r>
              <a:rPr lang="en-US" sz="1400" b="1" dirty="0"/>
              <a:t>$40M revenue base</a:t>
            </a:r>
            <a:r>
              <a:rPr lang="en-US" sz="1400" dirty="0"/>
              <a:t>, we are facing a </a:t>
            </a:r>
            <a:r>
              <a:rPr lang="en-US" sz="1400" b="1" dirty="0"/>
              <a:t>6.55% annual decline</a:t>
            </a:r>
            <a:r>
              <a:rPr lang="en-US" sz="1400" dirty="0"/>
              <a:t> driven by a </a:t>
            </a:r>
            <a:r>
              <a:rPr lang="en-US" sz="1400" b="1" dirty="0"/>
              <a:t>$20M churn leak</a:t>
            </a:r>
            <a:r>
              <a:rPr lang="en-US" sz="1400" dirty="0"/>
              <a:t>, primarily within the Healthcare sector.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Our strategic roadmap targets a </a:t>
            </a:r>
            <a:r>
              <a:rPr lang="en-US" sz="1400" b="1" dirty="0"/>
              <a:t>$53M revenue goal</a:t>
            </a:r>
            <a:r>
              <a:rPr lang="en-US" sz="1400" dirty="0"/>
              <a:t> and a </a:t>
            </a:r>
            <a:r>
              <a:rPr lang="en-US" sz="1400" b="1" dirty="0"/>
              <a:t>6% market share</a:t>
            </a:r>
            <a:r>
              <a:rPr lang="en-US" sz="1400" dirty="0"/>
              <a:t> by aggressively reactivating inactive accounts and capturing high-value growth opportunities.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37433CC-1305-7513-78A3-0F874D7C5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289069"/>
            <a:ext cx="4800600" cy="445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3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42BF-9E1B-97F4-8A79-A7D43E4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4A7C-A2D5-FCDA-77A2-B5373D48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4592"/>
            <a:ext cx="11430000" cy="958265"/>
          </a:xfrm>
        </p:spPr>
        <p:txBody>
          <a:bodyPr/>
          <a:lstStyle/>
          <a:p>
            <a:r>
              <a:rPr lang="en-GB" sz="2300" noProof="0" dirty="0">
                <a:cs typeface="Arial"/>
              </a:rPr>
              <a:t>Various segments of revenue</a:t>
            </a:r>
            <a:endParaRPr lang="en-GB" sz="2300" b="0" noProof="0" dirty="0"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9BACA1-42D1-3563-2A27-4ECB8885DB78}"/>
              </a:ext>
            </a:extLst>
          </p:cNvPr>
          <p:cNvSpPr/>
          <p:nvPr/>
        </p:nvSpPr>
        <p:spPr>
          <a:xfrm>
            <a:off x="474378" y="1201858"/>
            <a:ext cx="5285232" cy="90964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1800"/>
              </a:spcAft>
            </a:pPr>
            <a:r>
              <a:rPr lang="en-GB" sz="1200" b="1" noProof="0" dirty="0">
                <a:solidFill>
                  <a:srgbClr val="19105B"/>
                </a:solidFill>
              </a:rPr>
              <a:t>Industry Types</a:t>
            </a:r>
            <a:endParaRPr lang="en-GB" sz="1100" b="1" noProof="0" dirty="0">
              <a:solidFill>
                <a:srgbClr val="19105B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CCE603-1F2A-2AF9-C614-5336EF4BF683}"/>
              </a:ext>
            </a:extLst>
          </p:cNvPr>
          <p:cNvCxnSpPr>
            <a:cxnSpLocks/>
          </p:cNvCxnSpPr>
          <p:nvPr/>
        </p:nvCxnSpPr>
        <p:spPr>
          <a:xfrm>
            <a:off x="6093829" y="2240657"/>
            <a:ext cx="0" cy="423367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94E152-BAC1-788F-DA9B-0CC0A2EEA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36743"/>
              </p:ext>
            </p:extLst>
          </p:nvPr>
        </p:nvGraphicFramePr>
        <p:xfrm>
          <a:off x="381000" y="2240658"/>
          <a:ext cx="5529008" cy="34154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0897">
                  <a:extLst>
                    <a:ext uri="{9D8B030D-6E8A-4147-A177-3AD203B41FA5}">
                      <a16:colId xmlns:a16="http://schemas.microsoft.com/office/drawing/2014/main" val="1049566815"/>
                    </a:ext>
                  </a:extLst>
                </a:gridCol>
                <a:gridCol w="4198111">
                  <a:extLst>
                    <a:ext uri="{9D8B030D-6E8A-4147-A177-3AD203B41FA5}">
                      <a16:colId xmlns:a16="http://schemas.microsoft.com/office/drawing/2014/main" val="482555761"/>
                    </a:ext>
                  </a:extLst>
                </a:gridCol>
              </a:tblGrid>
              <a:tr h="912038"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chemeClr val="accent1"/>
                          </a:solidFill>
                        </a:rPr>
                        <a:t>Healthcare (Critical Risk)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Our largest sector, but currently the most volatile. It holds the highest churn leak of $4.9M.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95979"/>
                  </a:ext>
                </a:extLst>
              </a:tr>
              <a:tr h="624316"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chemeClr val="accent1"/>
                          </a:solidFill>
                        </a:rPr>
                        <a:t>Manufacturing (Strategic Core)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A stable high-value segment with a churn risk of $3.9M, requiring defensive retention strategies.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021594"/>
                  </a:ext>
                </a:extLst>
              </a:tr>
              <a:tr h="660235"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chemeClr val="accent1"/>
                          </a:solidFill>
                        </a:rPr>
                        <a:t>Retail (Growth Opportunity)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  <a:p>
                      <a:pPr marL="171450" indent="-171450" algn="l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Currently facing a $3.8M churn, but identified as a key area for high-value account recovery.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46883"/>
                  </a:ext>
                </a:extLst>
              </a:tr>
              <a:tr h="1218895"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chemeClr val="accent1"/>
                          </a:solidFill>
                        </a:rPr>
                        <a:t>Finance &amp; Technology (The Anchors)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bg2"/>
                        </a:solidFill>
                      </a:endParaRP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These are our most stable industries. While they still face some churn (~$3.7M), they show the highest ARPU resilience and are the primary targets for our $1.8M offensive growth pipeline.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602498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AEB08008-EF27-FFCF-A2C5-8EA6BE476AEA}"/>
              </a:ext>
            </a:extLst>
          </p:cNvPr>
          <p:cNvSpPr/>
          <p:nvPr/>
        </p:nvSpPr>
        <p:spPr>
          <a:xfrm>
            <a:off x="6432390" y="1201858"/>
            <a:ext cx="5285232" cy="89447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1800"/>
              </a:spcAft>
            </a:pPr>
            <a:r>
              <a:rPr lang="en-GB" sz="1200" b="1" dirty="0">
                <a:solidFill>
                  <a:srgbClr val="19105B"/>
                </a:solidFill>
              </a:rPr>
              <a:t>Regions</a:t>
            </a:r>
            <a:endParaRPr lang="en-GB" sz="1100" b="1" noProof="0" dirty="0">
              <a:solidFill>
                <a:srgbClr val="19105B"/>
              </a:solidFill>
            </a:endParaRP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DA393E53-58E9-B20A-0584-25150FB03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84411"/>
              </p:ext>
            </p:extLst>
          </p:nvPr>
        </p:nvGraphicFramePr>
        <p:xfrm>
          <a:off x="6278880" y="2240658"/>
          <a:ext cx="553212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5024">
                  <a:extLst>
                    <a:ext uri="{9D8B030D-6E8A-4147-A177-3AD203B41FA5}">
                      <a16:colId xmlns:a16="http://schemas.microsoft.com/office/drawing/2014/main" val="1049566815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482555761"/>
                    </a:ext>
                  </a:extLst>
                </a:gridCol>
              </a:tblGrid>
              <a:tr h="5896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>
                          <a:solidFill>
                            <a:schemeClr val="accent1"/>
                          </a:solidFill>
                        </a:rPr>
                        <a:t>The "South" Dominance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Total Revenue: $10.57M</a:t>
                      </a:r>
                    </a:p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This region likely contains your most loyal "Enterprise" clients. It is the best place to pilot your upselling strategies because the relationship trust here is the highest.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95979"/>
                  </a:ext>
                </a:extLst>
              </a:tr>
              <a:tr h="524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The East: High-Value Growth Hub</a:t>
                      </a:r>
                      <a:endParaRPr lang="en-GB" sz="11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Total Revenue: $9.87M</a:t>
                      </a:r>
                    </a:p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It generates nearly as much as the South but potentially with a smaller team or lower operational costs. It is the benchmark for regional productivity.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021594"/>
                  </a:ext>
                </a:extLst>
              </a:tr>
              <a:tr h="484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The North: The Resilience Sector</a:t>
                      </a:r>
                      <a:endParaRPr lang="en-GB" sz="11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100" dirty="0">
                          <a:solidFill>
                            <a:schemeClr val="bg2"/>
                          </a:solidFill>
                        </a:rPr>
                        <a:t>Total Revenue: $9.85M</a:t>
                      </a:r>
                    </a:p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Because the performance is so consistent (only a 0.2% difference from the East), this region represents your "Proven Market." It is resistant to volatility and provides the most predictable quarterly forecasts.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946883"/>
                  </a:ext>
                </a:extLst>
              </a:tr>
              <a:tr h="967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The West: The Untapped Potential</a:t>
                      </a:r>
                      <a:endParaRPr lang="en-GB" sz="11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Total Revenue: $9.73M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Don't view this as a "weak" region; view it as your biggest expansion opportunity. Because it is already hitting 120% efficiency, adding more resources (Sales/Marketing) to the West could yield the fastest return on investment to help hit that $53M total goal</a:t>
                      </a:r>
                      <a:endParaRPr lang="en-GB" sz="11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602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86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7AD6-1DE4-643F-5BB4-285128A0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CA795-981D-3054-AC89-4960425A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60" y="637696"/>
            <a:ext cx="11430000" cy="958265"/>
          </a:xfrm>
        </p:spPr>
        <p:txBody>
          <a:bodyPr/>
          <a:lstStyle/>
          <a:p>
            <a:r>
              <a:rPr lang="en-GB" noProof="0" dirty="0">
                <a:cs typeface="Arial"/>
              </a:rPr>
              <a:t>Comparing the revenue over time</a:t>
            </a:r>
            <a:endParaRPr lang="en-GB" b="0" i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1D1A1-4F82-1CEC-6218-752176C6D912}"/>
              </a:ext>
            </a:extLst>
          </p:cNvPr>
          <p:cNvSpPr/>
          <p:nvPr/>
        </p:nvSpPr>
        <p:spPr>
          <a:xfrm>
            <a:off x="380999" y="2669328"/>
            <a:ext cx="5486400" cy="35768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business maintained an average account value of $22,507. Stability was the primary characteristic of the top-tier base.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business was effectively the "Baseline." The performance was stable, and the growth metrics were positive as you built the $40M foundation.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7F8C62-F2CB-F501-52B0-66DB473FD486}"/>
              </a:ext>
            </a:extLst>
          </p:cNvPr>
          <p:cNvSpPr/>
          <p:nvPr/>
        </p:nvSpPr>
        <p:spPr>
          <a:xfrm>
            <a:off x="6320260" y="2562953"/>
            <a:ext cx="5486400" cy="35768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>
              <a:spcAft>
                <a:spcPts val="600"/>
              </a:spcAft>
            </a:pPr>
            <a:endParaRPr lang="en-US" dirty="0">
              <a:solidFill>
                <a:srgbClr val="19105B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9105B"/>
                </a:solidFill>
              </a:rPr>
              <a:t>ARPU dropped to $21,717 (-3.51%). This indicates a dilution of account value alongside customer churn.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noProof="0" dirty="0">
              <a:solidFill>
                <a:srgbClr val="19105B"/>
              </a:solidFill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9105B"/>
                </a:solidFill>
              </a:rPr>
              <a:t>We hit the -6.55% annual decline . The data shows a "Volume Leak" where accounts are closing faster</a:t>
            </a:r>
            <a:endParaRPr lang="en-GB" noProof="0" dirty="0">
              <a:solidFill>
                <a:srgbClr val="19105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2F58A4-C2ED-D4DD-9061-49F035096275}"/>
              </a:ext>
            </a:extLst>
          </p:cNvPr>
          <p:cNvSpPr/>
          <p:nvPr/>
        </p:nvSpPr>
        <p:spPr>
          <a:xfrm>
            <a:off x="1174008" y="1688151"/>
            <a:ext cx="5285232" cy="71593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000" dirty="0">
                <a:solidFill>
                  <a:schemeClr val="bg2"/>
                </a:solidFill>
              </a:rPr>
              <a:t> 2024 Baseline: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CFC8F-646C-5BBF-D2D3-E2083CA438B4}"/>
              </a:ext>
            </a:extLst>
          </p:cNvPr>
          <p:cNvSpPr/>
          <p:nvPr/>
        </p:nvSpPr>
        <p:spPr>
          <a:xfrm>
            <a:off x="7053605" y="1797318"/>
            <a:ext cx="5285232" cy="4975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Aft>
                <a:spcPts val="1800"/>
              </a:spcAft>
            </a:pPr>
            <a:r>
              <a:rPr lang="en-GB" sz="2000" dirty="0">
                <a:solidFill>
                  <a:srgbClr val="19105B"/>
                </a:solidFill>
              </a:rPr>
              <a:t>2025 Value Slide</a:t>
            </a:r>
            <a:endParaRPr lang="en-GB" sz="2000" noProof="0" dirty="0">
              <a:solidFill>
                <a:srgbClr val="19105B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96CA6-3DF7-B644-13E8-D4AD1D70056E}"/>
              </a:ext>
            </a:extLst>
          </p:cNvPr>
          <p:cNvCxnSpPr>
            <a:cxnSpLocks/>
          </p:cNvCxnSpPr>
          <p:nvPr/>
        </p:nvCxnSpPr>
        <p:spPr>
          <a:xfrm>
            <a:off x="6091660" y="2404083"/>
            <a:ext cx="0" cy="348489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Downward trend graph with solid fill">
            <a:extLst>
              <a:ext uri="{FF2B5EF4-FFF2-40B4-BE49-F238E27FC236}">
                <a16:creationId xmlns:a16="http://schemas.microsoft.com/office/drawing/2014/main" id="{F3A34A59-88B6-D169-6714-B98289765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0682" y="1857657"/>
            <a:ext cx="411481" cy="411481"/>
          </a:xfrm>
          <a:prstGeom prst="rect">
            <a:avLst/>
          </a:prstGeom>
        </p:spPr>
      </p:pic>
      <p:pic>
        <p:nvPicPr>
          <p:cNvPr id="12" name="Graphic 11" descr="Hockey Stick Curve Graph with solid fill">
            <a:extLst>
              <a:ext uri="{FF2B5EF4-FFF2-40B4-BE49-F238E27FC236}">
                <a16:creationId xmlns:a16="http://schemas.microsoft.com/office/drawing/2014/main" id="{095C0298-026C-758E-8111-0B0B0FC99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755" y="1823096"/>
            <a:ext cx="446042" cy="4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B7EC-1ED2-56FC-ABC7-06664259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DB47-699A-181A-9D8B-6FDE9EFD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8783"/>
            <a:ext cx="11430000" cy="958265"/>
          </a:xfrm>
        </p:spPr>
        <p:txBody>
          <a:bodyPr/>
          <a:lstStyle/>
          <a:p>
            <a:r>
              <a:rPr lang="en-US" dirty="0"/>
              <a:t>Strategic Segment Mastery vs. 2025 Retention Challenges</a:t>
            </a:r>
            <a:endParaRPr lang="en-GB" b="0" i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AA7B66-B443-0BB7-EE72-5957B58A139F}"/>
              </a:ext>
            </a:extLst>
          </p:cNvPr>
          <p:cNvSpPr/>
          <p:nvPr/>
        </p:nvSpPr>
        <p:spPr>
          <a:xfrm>
            <a:off x="5980956" y="2340144"/>
            <a:ext cx="5486400" cy="35768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Winning: Our high-value model ($45K ARPU) is stable.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Losing: We have lost 45% of our customer volume in the last 6 months.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Action: We must pivot from 'Acquisition' to 'Retention' immediately to hit the $53M target.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53F346-8775-80C9-36C6-CD2F1BC71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76" y="1495714"/>
            <a:ext cx="4513892" cy="2104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3EEFA3-BD68-554C-2FAD-EA7BFF619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16" y="3929793"/>
            <a:ext cx="4405652" cy="233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7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C1E5-A348-4A5D-D095-82BA9243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12BC-8531-23A6-1806-9D82BC0C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8783"/>
            <a:ext cx="11430000" cy="958265"/>
          </a:xfrm>
        </p:spPr>
        <p:txBody>
          <a:bodyPr/>
          <a:lstStyle/>
          <a:p>
            <a:r>
              <a:rPr lang="en-US" dirty="0"/>
              <a:t>Strategic Segment Mastery vs. 2025 Retention Challenges</a:t>
            </a:r>
            <a:endParaRPr lang="en-GB" b="0" i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071CF-8089-6E82-EC8E-80221149E503}"/>
              </a:ext>
            </a:extLst>
          </p:cNvPr>
          <p:cNvSpPr/>
          <p:nvPr/>
        </p:nvSpPr>
        <p:spPr>
          <a:xfrm>
            <a:off x="5980955" y="1989162"/>
            <a:ext cx="5486400" cy="35768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heatmap highlights that Healthcare is the strongest industry performer (0.44), while the North/Retail and South/Healthcare cells show the highest localized penetration.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The area chart reveals a critical collapse across all subscription types in 2025, with Yearly, Monthly, and Quarterly counts all converging at their lowest historical levels.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F9367-A1E1-5BB4-BC46-1004452DC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43" y="1706892"/>
            <a:ext cx="4854119" cy="1574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8ED900-A890-0A09-5A88-6C90DA5A2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45" y="3517221"/>
            <a:ext cx="4854119" cy="263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2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B53C-A9E0-AA9F-BF2C-872087B0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31E1-2061-10D0-5C73-3F5FF076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findings after analysis</a:t>
            </a:r>
            <a:endParaRPr lang="en-GB" b="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969CEC-5123-48A1-E26F-FDF4861D7BD0}"/>
              </a:ext>
            </a:extLst>
          </p:cNvPr>
          <p:cNvGrpSpPr/>
          <p:nvPr/>
        </p:nvGrpSpPr>
        <p:grpSpPr>
          <a:xfrm>
            <a:off x="511169" y="1178678"/>
            <a:ext cx="10615170" cy="565009"/>
            <a:chOff x="511169" y="1178678"/>
            <a:chExt cx="10615170" cy="565009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44FBDB63-DCE9-563C-B776-0C70ADE7643C}"/>
                </a:ext>
              </a:extLst>
            </p:cNvPr>
            <p:cNvSpPr txBox="1">
              <a:spLocks/>
            </p:cNvSpPr>
            <p:nvPr/>
          </p:nvSpPr>
          <p:spPr>
            <a:xfrm>
              <a:off x="1209567" y="1202772"/>
              <a:ext cx="9916772" cy="540915"/>
            </a:xfrm>
            <a:prstGeom prst="rect">
              <a:avLst/>
            </a:prstGeom>
            <a:noFill/>
            <a:ln>
              <a:noFill/>
            </a:ln>
          </p:spPr>
          <p:txBody>
            <a:bodyPr lIns="36000" tIns="36000" rIns="36000" bIns="36000" anchor="ctr">
              <a:noAutofit/>
            </a:bodyPr>
            <a:lstStyle>
              <a:defPPr>
                <a:defRPr lang="en-US"/>
              </a:defPPr>
              <a:lvl1pPr indent="0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None/>
                <a:defRPr sz="1600" b="1" baseline="0">
                  <a:solidFill>
                    <a:schemeClr val="bg2"/>
                  </a:solidFill>
                  <a:cs typeface="Arial" panose="020B0604020202020204" pitchFamily="34" charset="0"/>
                </a:defRPr>
              </a:lvl1pPr>
              <a:lvl2pPr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200" baseline="0">
                  <a:solidFill>
                    <a:schemeClr val="bg2"/>
                  </a:solidFill>
                  <a:cs typeface="Arial" panose="020B0604020202020204" pitchFamily="34" charset="0"/>
                </a:defRPr>
              </a:lvl2pPr>
              <a:lvl3pPr marL="68580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200" baseline="0">
                  <a:solidFill>
                    <a:schemeClr val="bg2"/>
                  </a:solidFill>
                  <a:cs typeface="Arial" panose="020B0604020202020204" pitchFamily="34" charset="0"/>
                </a:defRPr>
              </a:lvl3pPr>
              <a:lvl4pPr marL="91440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200" baseline="0">
                  <a:solidFill>
                    <a:schemeClr val="bg2"/>
                  </a:solidFill>
                  <a:cs typeface="Arial" panose="020B0604020202020204" pitchFamily="34" charset="0"/>
                </a:defRPr>
              </a:lvl4pPr>
              <a:lvl5pPr marL="114300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200" baseline="0">
                  <a:solidFill>
                    <a:schemeClr val="bg2"/>
                  </a:solidFill>
                  <a:cs typeface="Arial" panose="020B0604020202020204" pitchFamily="34" charset="0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GB" sz="1100" dirty="0">
                  <a:cs typeface="+mn-cs"/>
                </a:rPr>
                <a:t>The various graphs below show that we need to increase the customer count to move to a better position in the market.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6CE29E-6FC2-DE50-A700-4276AA73E8C6}"/>
                </a:ext>
              </a:extLst>
            </p:cNvPr>
            <p:cNvGrpSpPr/>
            <p:nvPr/>
          </p:nvGrpSpPr>
          <p:grpSpPr>
            <a:xfrm>
              <a:off x="511169" y="1178678"/>
              <a:ext cx="512333" cy="540916"/>
              <a:chOff x="1003005" y="1058388"/>
              <a:chExt cx="680565" cy="71853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6991950-5F46-FE9B-4F0C-5822937F8F1D}"/>
                  </a:ext>
                </a:extLst>
              </p:cNvPr>
              <p:cNvGrpSpPr/>
              <p:nvPr/>
            </p:nvGrpSpPr>
            <p:grpSpPr>
              <a:xfrm rot="21058880">
                <a:off x="1095324" y="1179168"/>
                <a:ext cx="574748" cy="568460"/>
                <a:chOff x="1568916" y="1194809"/>
                <a:chExt cx="638388" cy="631407"/>
              </a:xfrm>
            </p:grpSpPr>
            <p:sp>
              <p:nvSpPr>
                <p:cNvPr id="12" name="Freeform: Shape 20">
                  <a:extLst>
                    <a:ext uri="{FF2B5EF4-FFF2-40B4-BE49-F238E27FC236}">
                      <a16:creationId xmlns:a16="http://schemas.microsoft.com/office/drawing/2014/main" id="{FDACAADA-CE88-3869-8E52-8215216DBCA4}"/>
                    </a:ext>
                  </a:extLst>
                </p:cNvPr>
                <p:cNvSpPr/>
                <p:nvPr/>
              </p:nvSpPr>
              <p:spPr>
                <a:xfrm>
                  <a:off x="1568916" y="1251343"/>
                  <a:ext cx="575107" cy="574873"/>
                </a:xfrm>
                <a:custGeom>
                  <a:avLst/>
                  <a:gdLst>
                    <a:gd name="connsiteX0" fmla="*/ 992133 w 1053954"/>
                    <a:gd name="connsiteY0" fmla="*/ 279264 h 1053528"/>
                    <a:gd name="connsiteX1" fmla="*/ 1053955 w 1053954"/>
                    <a:gd name="connsiteY1" fmla="*/ 526551 h 1053528"/>
                    <a:gd name="connsiteX2" fmla="*/ 526977 w 1053954"/>
                    <a:gd name="connsiteY2" fmla="*/ 1053529 h 1053528"/>
                    <a:gd name="connsiteX3" fmla="*/ 0 w 1053954"/>
                    <a:gd name="connsiteY3" fmla="*/ 526977 h 1053528"/>
                    <a:gd name="connsiteX4" fmla="*/ 526977 w 1053954"/>
                    <a:gd name="connsiteY4" fmla="*/ 0 h 1053528"/>
                    <a:gd name="connsiteX5" fmla="*/ 782365 w 1053954"/>
                    <a:gd name="connsiteY5" fmla="*/ 65659 h 1053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3954" h="1053528">
                      <a:moveTo>
                        <a:pt x="992133" y="279264"/>
                      </a:moveTo>
                      <a:cubicBezTo>
                        <a:pt x="1031358" y="353024"/>
                        <a:pt x="1053955" y="437442"/>
                        <a:pt x="1053955" y="526551"/>
                      </a:cubicBezTo>
                      <a:cubicBezTo>
                        <a:pt x="1053955" y="817753"/>
                        <a:pt x="818179" y="1053529"/>
                        <a:pt x="526977" y="1053529"/>
                      </a:cubicBezTo>
                      <a:cubicBezTo>
                        <a:pt x="235776" y="1053529"/>
                        <a:pt x="0" y="817753"/>
                        <a:pt x="0" y="526977"/>
                      </a:cubicBezTo>
                      <a:cubicBezTo>
                        <a:pt x="0" y="236202"/>
                        <a:pt x="235776" y="0"/>
                        <a:pt x="526977" y="0"/>
                      </a:cubicBezTo>
                      <a:cubicBezTo>
                        <a:pt x="619497" y="0"/>
                        <a:pt x="706474" y="23876"/>
                        <a:pt x="782365" y="65659"/>
                      </a:cubicBezTo>
                    </a:path>
                  </a:pathLst>
                </a:custGeom>
                <a:noFill/>
                <a:ln w="12700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3" name="Freeform: Shape 21">
                  <a:extLst>
                    <a:ext uri="{FF2B5EF4-FFF2-40B4-BE49-F238E27FC236}">
                      <a16:creationId xmlns:a16="http://schemas.microsoft.com/office/drawing/2014/main" id="{20D1FCA9-2676-ECFA-BCD3-7E4F2A18B2A9}"/>
                    </a:ext>
                  </a:extLst>
                </p:cNvPr>
                <p:cNvSpPr/>
                <p:nvPr/>
              </p:nvSpPr>
              <p:spPr>
                <a:xfrm>
                  <a:off x="1756432" y="1438856"/>
                  <a:ext cx="200077" cy="200077"/>
                </a:xfrm>
                <a:custGeom>
                  <a:avLst/>
                  <a:gdLst>
                    <a:gd name="connsiteX0" fmla="*/ 366667 w 366667"/>
                    <a:gd name="connsiteY0" fmla="*/ 183334 h 366667"/>
                    <a:gd name="connsiteX1" fmla="*/ 183334 w 366667"/>
                    <a:gd name="connsiteY1" fmla="*/ 366667 h 366667"/>
                    <a:gd name="connsiteX2" fmla="*/ 0 w 366667"/>
                    <a:gd name="connsiteY2" fmla="*/ 183334 h 366667"/>
                    <a:gd name="connsiteX3" fmla="*/ 183334 w 366667"/>
                    <a:gd name="connsiteY3" fmla="*/ 0 h 366667"/>
                    <a:gd name="connsiteX4" fmla="*/ 366667 w 366667"/>
                    <a:gd name="connsiteY4" fmla="*/ 183334 h 36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667" h="366667">
                      <a:moveTo>
                        <a:pt x="366667" y="183334"/>
                      </a:moveTo>
                      <a:cubicBezTo>
                        <a:pt x="366667" y="284586"/>
                        <a:pt x="284586" y="366667"/>
                        <a:pt x="183334" y="366667"/>
                      </a:cubicBezTo>
                      <a:cubicBezTo>
                        <a:pt x="82081" y="366667"/>
                        <a:pt x="0" y="284586"/>
                        <a:pt x="0" y="183334"/>
                      </a:cubicBezTo>
                      <a:cubicBezTo>
                        <a:pt x="0" y="82081"/>
                        <a:pt x="82081" y="0"/>
                        <a:pt x="183334" y="0"/>
                      </a:cubicBezTo>
                      <a:cubicBezTo>
                        <a:pt x="284586" y="0"/>
                        <a:pt x="366667" y="82081"/>
                        <a:pt x="366667" y="183334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4" name="Freeform: Shape 22">
                  <a:extLst>
                    <a:ext uri="{FF2B5EF4-FFF2-40B4-BE49-F238E27FC236}">
                      <a16:creationId xmlns:a16="http://schemas.microsoft.com/office/drawing/2014/main" id="{105366A0-77C6-04A4-01B9-B67C9A8C3DA8}"/>
                    </a:ext>
                  </a:extLst>
                </p:cNvPr>
                <p:cNvSpPr/>
                <p:nvPr/>
              </p:nvSpPr>
              <p:spPr>
                <a:xfrm>
                  <a:off x="1877873" y="1418616"/>
                  <a:ext cx="97014" cy="98177"/>
                </a:xfrm>
                <a:custGeom>
                  <a:avLst/>
                  <a:gdLst>
                    <a:gd name="connsiteX0" fmla="*/ 0 w 177790"/>
                    <a:gd name="connsiteY0" fmla="*/ 179923 h 179922"/>
                    <a:gd name="connsiteX1" fmla="*/ 177791 w 177790"/>
                    <a:gd name="connsiteY1" fmla="*/ 0 h 1799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7790" h="179922">
                      <a:moveTo>
                        <a:pt x="0" y="179923"/>
                      </a:moveTo>
                      <a:lnTo>
                        <a:pt x="177791" y="0"/>
                      </a:lnTo>
                    </a:path>
                  </a:pathLst>
                </a:custGeom>
                <a:ln w="12700" cap="flat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5" name="Freeform: Shape 23">
                  <a:extLst>
                    <a:ext uri="{FF2B5EF4-FFF2-40B4-BE49-F238E27FC236}">
                      <a16:creationId xmlns:a16="http://schemas.microsoft.com/office/drawing/2014/main" id="{D382F492-1EB0-E04D-7AB7-081D6771FDBC}"/>
                    </a:ext>
                  </a:extLst>
                </p:cNvPr>
                <p:cNvSpPr/>
                <p:nvPr/>
              </p:nvSpPr>
              <p:spPr>
                <a:xfrm>
                  <a:off x="1972561" y="1194809"/>
                  <a:ext cx="234743" cy="226134"/>
                </a:xfrm>
                <a:custGeom>
                  <a:avLst/>
                  <a:gdLst>
                    <a:gd name="connsiteX0" fmla="*/ 272016 w 430194"/>
                    <a:gd name="connsiteY0" fmla="*/ 159458 h 414419"/>
                    <a:gd name="connsiteX1" fmla="*/ 255388 w 430194"/>
                    <a:gd name="connsiteY1" fmla="*/ 0 h 414419"/>
                    <a:gd name="connsiteX2" fmla="*/ 11512 w 430194"/>
                    <a:gd name="connsiteY2" fmla="*/ 227248 h 414419"/>
                    <a:gd name="connsiteX3" fmla="*/ 0 w 430194"/>
                    <a:gd name="connsiteY3" fmla="*/ 413566 h 414419"/>
                    <a:gd name="connsiteX4" fmla="*/ 186318 w 430194"/>
                    <a:gd name="connsiteY4" fmla="*/ 414419 h 414419"/>
                    <a:gd name="connsiteX5" fmla="*/ 430194 w 430194"/>
                    <a:gd name="connsiteY5" fmla="*/ 187171 h 414419"/>
                    <a:gd name="connsiteX6" fmla="*/ 272016 w 430194"/>
                    <a:gd name="connsiteY6" fmla="*/ 159458 h 414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0194" h="414419">
                      <a:moveTo>
                        <a:pt x="272016" y="159458"/>
                      </a:moveTo>
                      <a:lnTo>
                        <a:pt x="255388" y="0"/>
                      </a:lnTo>
                      <a:lnTo>
                        <a:pt x="11512" y="227248"/>
                      </a:lnTo>
                      <a:lnTo>
                        <a:pt x="0" y="413566"/>
                      </a:lnTo>
                      <a:lnTo>
                        <a:pt x="186318" y="414419"/>
                      </a:lnTo>
                      <a:lnTo>
                        <a:pt x="430194" y="187171"/>
                      </a:lnTo>
                      <a:lnTo>
                        <a:pt x="272016" y="159458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6" name="Freeform: Shape 24">
                  <a:extLst>
                    <a:ext uri="{FF2B5EF4-FFF2-40B4-BE49-F238E27FC236}">
                      <a16:creationId xmlns:a16="http://schemas.microsoft.com/office/drawing/2014/main" id="{2D8DD593-8A94-A4D0-C9C9-FE7A97C68D87}"/>
                    </a:ext>
                  </a:extLst>
                </p:cNvPr>
                <p:cNvSpPr/>
                <p:nvPr/>
              </p:nvSpPr>
              <p:spPr>
                <a:xfrm>
                  <a:off x="1856703" y="1504230"/>
                  <a:ext cx="33502" cy="33734"/>
                </a:xfrm>
                <a:custGeom>
                  <a:avLst/>
                  <a:gdLst>
                    <a:gd name="connsiteX0" fmla="*/ 0 w 61395"/>
                    <a:gd name="connsiteY0" fmla="*/ 61822 h 61821"/>
                    <a:gd name="connsiteX1" fmla="*/ 8101 w 61395"/>
                    <a:gd name="connsiteY1" fmla="*/ 30698 h 61821"/>
                    <a:gd name="connsiteX2" fmla="*/ 16202 w 61395"/>
                    <a:gd name="connsiteY2" fmla="*/ 0 h 61821"/>
                    <a:gd name="connsiteX3" fmla="*/ 39225 w 61395"/>
                    <a:gd name="connsiteY3" fmla="*/ 22597 h 61821"/>
                    <a:gd name="connsiteX4" fmla="*/ 61395 w 61395"/>
                    <a:gd name="connsiteY4" fmla="*/ 45620 h 61821"/>
                    <a:gd name="connsiteX5" fmla="*/ 31124 w 61395"/>
                    <a:gd name="connsiteY5" fmla="*/ 53295 h 61821"/>
                    <a:gd name="connsiteX6" fmla="*/ 0 w 61395"/>
                    <a:gd name="connsiteY6" fmla="*/ 61822 h 61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395" h="61821">
                      <a:moveTo>
                        <a:pt x="0" y="61822"/>
                      </a:moveTo>
                      <a:lnTo>
                        <a:pt x="8101" y="30698"/>
                      </a:lnTo>
                      <a:lnTo>
                        <a:pt x="16202" y="0"/>
                      </a:lnTo>
                      <a:lnTo>
                        <a:pt x="39225" y="22597"/>
                      </a:lnTo>
                      <a:lnTo>
                        <a:pt x="61395" y="45620"/>
                      </a:lnTo>
                      <a:lnTo>
                        <a:pt x="31124" y="53295"/>
                      </a:lnTo>
                      <a:lnTo>
                        <a:pt x="0" y="61822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7" name="Freeform: Shape 25">
                  <a:extLst>
                    <a:ext uri="{FF2B5EF4-FFF2-40B4-BE49-F238E27FC236}">
                      <a16:creationId xmlns:a16="http://schemas.microsoft.com/office/drawing/2014/main" id="{E05938AB-1566-8759-B283-7E6016DB1F1D}"/>
                    </a:ext>
                  </a:extLst>
                </p:cNvPr>
                <p:cNvSpPr/>
                <p:nvPr/>
              </p:nvSpPr>
              <p:spPr>
                <a:xfrm>
                  <a:off x="1568916" y="1251343"/>
                  <a:ext cx="575107" cy="574873"/>
                </a:xfrm>
                <a:custGeom>
                  <a:avLst/>
                  <a:gdLst>
                    <a:gd name="connsiteX0" fmla="*/ 992133 w 1053954"/>
                    <a:gd name="connsiteY0" fmla="*/ 279264 h 1053528"/>
                    <a:gd name="connsiteX1" fmla="*/ 1053955 w 1053954"/>
                    <a:gd name="connsiteY1" fmla="*/ 526551 h 1053528"/>
                    <a:gd name="connsiteX2" fmla="*/ 526977 w 1053954"/>
                    <a:gd name="connsiteY2" fmla="*/ 1053529 h 1053528"/>
                    <a:gd name="connsiteX3" fmla="*/ 0 w 1053954"/>
                    <a:gd name="connsiteY3" fmla="*/ 526977 h 1053528"/>
                    <a:gd name="connsiteX4" fmla="*/ 526977 w 1053954"/>
                    <a:gd name="connsiteY4" fmla="*/ 0 h 1053528"/>
                    <a:gd name="connsiteX5" fmla="*/ 782365 w 1053954"/>
                    <a:gd name="connsiteY5" fmla="*/ 65659 h 1053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3954" h="1053528">
                      <a:moveTo>
                        <a:pt x="992133" y="279264"/>
                      </a:moveTo>
                      <a:cubicBezTo>
                        <a:pt x="1031358" y="353024"/>
                        <a:pt x="1053955" y="437442"/>
                        <a:pt x="1053955" y="526551"/>
                      </a:cubicBezTo>
                      <a:cubicBezTo>
                        <a:pt x="1053955" y="817753"/>
                        <a:pt x="818179" y="1053529"/>
                        <a:pt x="526977" y="1053529"/>
                      </a:cubicBezTo>
                      <a:cubicBezTo>
                        <a:pt x="235776" y="1053529"/>
                        <a:pt x="0" y="817753"/>
                        <a:pt x="0" y="526977"/>
                      </a:cubicBezTo>
                      <a:cubicBezTo>
                        <a:pt x="0" y="236202"/>
                        <a:pt x="235776" y="0"/>
                        <a:pt x="526977" y="0"/>
                      </a:cubicBezTo>
                      <a:cubicBezTo>
                        <a:pt x="619497" y="0"/>
                        <a:pt x="706474" y="23876"/>
                        <a:pt x="782365" y="65659"/>
                      </a:cubicBezTo>
                    </a:path>
                  </a:pathLst>
                </a:custGeom>
                <a:noFill/>
                <a:ln w="12700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8" name="Freeform: Shape 26">
                  <a:extLst>
                    <a:ext uri="{FF2B5EF4-FFF2-40B4-BE49-F238E27FC236}">
                      <a16:creationId xmlns:a16="http://schemas.microsoft.com/office/drawing/2014/main" id="{EBB3CE33-35A9-238C-6029-7FEA6871DD36}"/>
                    </a:ext>
                  </a:extLst>
                </p:cNvPr>
                <p:cNvSpPr/>
                <p:nvPr/>
              </p:nvSpPr>
              <p:spPr>
                <a:xfrm>
                  <a:off x="1756432" y="1438741"/>
                  <a:ext cx="200077" cy="200077"/>
                </a:xfrm>
                <a:custGeom>
                  <a:avLst/>
                  <a:gdLst>
                    <a:gd name="connsiteX0" fmla="*/ 366667 w 366667"/>
                    <a:gd name="connsiteY0" fmla="*/ 183334 h 366667"/>
                    <a:gd name="connsiteX1" fmla="*/ 183334 w 366667"/>
                    <a:gd name="connsiteY1" fmla="*/ 366667 h 366667"/>
                    <a:gd name="connsiteX2" fmla="*/ 0 w 366667"/>
                    <a:gd name="connsiteY2" fmla="*/ 183334 h 366667"/>
                    <a:gd name="connsiteX3" fmla="*/ 183334 w 366667"/>
                    <a:gd name="connsiteY3" fmla="*/ 0 h 366667"/>
                    <a:gd name="connsiteX4" fmla="*/ 366667 w 366667"/>
                    <a:gd name="connsiteY4" fmla="*/ 183334 h 36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667" h="366667">
                      <a:moveTo>
                        <a:pt x="366667" y="183334"/>
                      </a:moveTo>
                      <a:cubicBezTo>
                        <a:pt x="366667" y="284586"/>
                        <a:pt x="284586" y="366667"/>
                        <a:pt x="183334" y="366667"/>
                      </a:cubicBezTo>
                      <a:cubicBezTo>
                        <a:pt x="82081" y="366667"/>
                        <a:pt x="0" y="284586"/>
                        <a:pt x="0" y="183334"/>
                      </a:cubicBezTo>
                      <a:cubicBezTo>
                        <a:pt x="0" y="82081"/>
                        <a:pt x="82081" y="0"/>
                        <a:pt x="183334" y="0"/>
                      </a:cubicBezTo>
                      <a:cubicBezTo>
                        <a:pt x="284586" y="0"/>
                        <a:pt x="366667" y="82081"/>
                        <a:pt x="366667" y="18333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9" name="Freeform: Shape 27">
                  <a:extLst>
                    <a:ext uri="{FF2B5EF4-FFF2-40B4-BE49-F238E27FC236}">
                      <a16:creationId xmlns:a16="http://schemas.microsoft.com/office/drawing/2014/main" id="{537AE021-F06D-0F4E-2937-9808DB629E44}"/>
                    </a:ext>
                  </a:extLst>
                </p:cNvPr>
                <p:cNvSpPr/>
                <p:nvPr/>
              </p:nvSpPr>
              <p:spPr>
                <a:xfrm>
                  <a:off x="1877873" y="1418616"/>
                  <a:ext cx="97014" cy="98177"/>
                </a:xfrm>
                <a:custGeom>
                  <a:avLst/>
                  <a:gdLst>
                    <a:gd name="connsiteX0" fmla="*/ 0 w 177790"/>
                    <a:gd name="connsiteY0" fmla="*/ 179923 h 179922"/>
                    <a:gd name="connsiteX1" fmla="*/ 177791 w 177790"/>
                    <a:gd name="connsiteY1" fmla="*/ 0 h 1799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7790" h="179922">
                      <a:moveTo>
                        <a:pt x="0" y="179923"/>
                      </a:moveTo>
                      <a:lnTo>
                        <a:pt x="177791" y="0"/>
                      </a:lnTo>
                    </a:path>
                  </a:pathLst>
                </a:custGeom>
                <a:ln w="12700" cap="flat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0" name="Freeform: Shape 28">
                  <a:extLst>
                    <a:ext uri="{FF2B5EF4-FFF2-40B4-BE49-F238E27FC236}">
                      <a16:creationId xmlns:a16="http://schemas.microsoft.com/office/drawing/2014/main" id="{356C4204-8D46-F565-3A81-BAD39A7EF797}"/>
                    </a:ext>
                  </a:extLst>
                </p:cNvPr>
                <p:cNvSpPr/>
                <p:nvPr/>
              </p:nvSpPr>
              <p:spPr>
                <a:xfrm>
                  <a:off x="1972561" y="1194809"/>
                  <a:ext cx="234743" cy="226134"/>
                </a:xfrm>
                <a:custGeom>
                  <a:avLst/>
                  <a:gdLst>
                    <a:gd name="connsiteX0" fmla="*/ 272016 w 430194"/>
                    <a:gd name="connsiteY0" fmla="*/ 159458 h 414419"/>
                    <a:gd name="connsiteX1" fmla="*/ 255388 w 430194"/>
                    <a:gd name="connsiteY1" fmla="*/ 0 h 414419"/>
                    <a:gd name="connsiteX2" fmla="*/ 11512 w 430194"/>
                    <a:gd name="connsiteY2" fmla="*/ 227248 h 414419"/>
                    <a:gd name="connsiteX3" fmla="*/ 0 w 430194"/>
                    <a:gd name="connsiteY3" fmla="*/ 413566 h 414419"/>
                    <a:gd name="connsiteX4" fmla="*/ 186318 w 430194"/>
                    <a:gd name="connsiteY4" fmla="*/ 414419 h 414419"/>
                    <a:gd name="connsiteX5" fmla="*/ 430194 w 430194"/>
                    <a:gd name="connsiteY5" fmla="*/ 187171 h 414419"/>
                    <a:gd name="connsiteX6" fmla="*/ 272016 w 430194"/>
                    <a:gd name="connsiteY6" fmla="*/ 159458 h 414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0194" h="414419">
                      <a:moveTo>
                        <a:pt x="272016" y="159458"/>
                      </a:moveTo>
                      <a:lnTo>
                        <a:pt x="255388" y="0"/>
                      </a:lnTo>
                      <a:lnTo>
                        <a:pt x="11512" y="227248"/>
                      </a:lnTo>
                      <a:lnTo>
                        <a:pt x="0" y="413566"/>
                      </a:lnTo>
                      <a:lnTo>
                        <a:pt x="186318" y="414419"/>
                      </a:lnTo>
                      <a:lnTo>
                        <a:pt x="430194" y="187171"/>
                      </a:lnTo>
                      <a:lnTo>
                        <a:pt x="272016" y="159458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1" name="Freeform: Shape 29">
                  <a:extLst>
                    <a:ext uri="{FF2B5EF4-FFF2-40B4-BE49-F238E27FC236}">
                      <a16:creationId xmlns:a16="http://schemas.microsoft.com/office/drawing/2014/main" id="{171460FC-0EC7-C722-3BE0-4641BBE3FBB1}"/>
                    </a:ext>
                  </a:extLst>
                </p:cNvPr>
                <p:cNvSpPr/>
                <p:nvPr/>
              </p:nvSpPr>
              <p:spPr>
                <a:xfrm>
                  <a:off x="1856703" y="1504230"/>
                  <a:ext cx="33502" cy="33734"/>
                </a:xfrm>
                <a:custGeom>
                  <a:avLst/>
                  <a:gdLst>
                    <a:gd name="connsiteX0" fmla="*/ 0 w 61395"/>
                    <a:gd name="connsiteY0" fmla="*/ 61822 h 61821"/>
                    <a:gd name="connsiteX1" fmla="*/ 8101 w 61395"/>
                    <a:gd name="connsiteY1" fmla="*/ 30698 h 61821"/>
                    <a:gd name="connsiteX2" fmla="*/ 16202 w 61395"/>
                    <a:gd name="connsiteY2" fmla="*/ 0 h 61821"/>
                    <a:gd name="connsiteX3" fmla="*/ 39225 w 61395"/>
                    <a:gd name="connsiteY3" fmla="*/ 22597 h 61821"/>
                    <a:gd name="connsiteX4" fmla="*/ 61395 w 61395"/>
                    <a:gd name="connsiteY4" fmla="*/ 45620 h 61821"/>
                    <a:gd name="connsiteX5" fmla="*/ 31124 w 61395"/>
                    <a:gd name="connsiteY5" fmla="*/ 53295 h 61821"/>
                    <a:gd name="connsiteX6" fmla="*/ 0 w 61395"/>
                    <a:gd name="connsiteY6" fmla="*/ 61822 h 61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395" h="61821">
                      <a:moveTo>
                        <a:pt x="0" y="61822"/>
                      </a:moveTo>
                      <a:lnTo>
                        <a:pt x="8101" y="30698"/>
                      </a:lnTo>
                      <a:lnTo>
                        <a:pt x="16202" y="0"/>
                      </a:lnTo>
                      <a:lnTo>
                        <a:pt x="39225" y="22597"/>
                      </a:lnTo>
                      <a:lnTo>
                        <a:pt x="61395" y="45620"/>
                      </a:lnTo>
                      <a:lnTo>
                        <a:pt x="31124" y="53295"/>
                      </a:lnTo>
                      <a:lnTo>
                        <a:pt x="0" y="61822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22" name="Freeform: Shape 31">
                  <a:extLst>
                    <a:ext uri="{FF2B5EF4-FFF2-40B4-BE49-F238E27FC236}">
                      <a16:creationId xmlns:a16="http://schemas.microsoft.com/office/drawing/2014/main" id="{8283EE88-8A6D-D6CE-F2B5-810B604A3149}"/>
                    </a:ext>
                  </a:extLst>
                </p:cNvPr>
                <p:cNvSpPr/>
                <p:nvPr/>
              </p:nvSpPr>
              <p:spPr>
                <a:xfrm>
                  <a:off x="1672999" y="1355314"/>
                  <a:ext cx="366938" cy="366934"/>
                </a:xfrm>
                <a:custGeom>
                  <a:avLst/>
                  <a:gdLst>
                    <a:gd name="connsiteX0" fmla="*/ 366667 w 366667"/>
                    <a:gd name="connsiteY0" fmla="*/ 183334 h 366667"/>
                    <a:gd name="connsiteX1" fmla="*/ 183334 w 366667"/>
                    <a:gd name="connsiteY1" fmla="*/ 366667 h 366667"/>
                    <a:gd name="connsiteX2" fmla="*/ 0 w 366667"/>
                    <a:gd name="connsiteY2" fmla="*/ 183334 h 366667"/>
                    <a:gd name="connsiteX3" fmla="*/ 183334 w 366667"/>
                    <a:gd name="connsiteY3" fmla="*/ 0 h 366667"/>
                    <a:gd name="connsiteX4" fmla="*/ 366667 w 366667"/>
                    <a:gd name="connsiteY4" fmla="*/ 183334 h 36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667" h="366667">
                      <a:moveTo>
                        <a:pt x="366667" y="183334"/>
                      </a:moveTo>
                      <a:cubicBezTo>
                        <a:pt x="366667" y="284586"/>
                        <a:pt x="284586" y="366667"/>
                        <a:pt x="183334" y="366667"/>
                      </a:cubicBezTo>
                      <a:cubicBezTo>
                        <a:pt x="82081" y="366667"/>
                        <a:pt x="0" y="284586"/>
                        <a:pt x="0" y="183334"/>
                      </a:cubicBezTo>
                      <a:cubicBezTo>
                        <a:pt x="0" y="82081"/>
                        <a:pt x="82081" y="0"/>
                        <a:pt x="183334" y="0"/>
                      </a:cubicBezTo>
                      <a:cubicBezTo>
                        <a:pt x="284586" y="0"/>
                        <a:pt x="366667" y="82081"/>
                        <a:pt x="366667" y="183334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2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 noProof="0">
                    <a:solidFill>
                      <a:schemeClr val="bg2"/>
                    </a:solidFill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096972C-AC64-2C07-0DAE-378EFEC1C953}"/>
                  </a:ext>
                </a:extLst>
              </p:cNvPr>
              <p:cNvGrpSpPr/>
              <p:nvPr/>
            </p:nvGrpSpPr>
            <p:grpSpPr>
              <a:xfrm>
                <a:off x="1003005" y="1058388"/>
                <a:ext cx="680565" cy="718533"/>
                <a:chOff x="8714515" y="5209443"/>
                <a:chExt cx="680565" cy="718533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2EA9EB90-4CE5-FFC6-42A2-83A53FCE67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14515" y="5352087"/>
                  <a:ext cx="114132" cy="172699"/>
                </a:xfrm>
                <a:prstGeom prst="line">
                  <a:avLst/>
                </a:prstGeom>
                <a:ln w="1270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59CDFF2-3AFF-200E-5D40-B745EB1C4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">
                  <a:off x="9395080" y="5612087"/>
                  <a:ext cx="0" cy="315889"/>
                </a:xfrm>
                <a:prstGeom prst="line">
                  <a:avLst/>
                </a:prstGeom>
                <a:ln w="1270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67183B48-6321-3C1F-C93D-4AE4E9BCC5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">
                  <a:off x="9082821" y="5209443"/>
                  <a:ext cx="0" cy="129789"/>
                </a:xfrm>
                <a:prstGeom prst="line">
                  <a:avLst/>
                </a:prstGeom>
                <a:ln w="1270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C5D1478-66DF-ED33-37C5-EAD80B74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54639" y="1922915"/>
            <a:ext cx="7882721" cy="3954326"/>
          </a:xfrm>
          <a:prstGeom prst="rect">
            <a:avLst/>
          </a:prstGeom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AB9065A0-BF62-0DD9-DFA2-9F083906D941}"/>
              </a:ext>
            </a:extLst>
          </p:cNvPr>
          <p:cNvSpPr/>
          <p:nvPr/>
        </p:nvSpPr>
        <p:spPr>
          <a:xfrm>
            <a:off x="232110" y="3429000"/>
            <a:ext cx="1701685" cy="819200"/>
          </a:xfrm>
          <a:prstGeom prst="wedgeRectCallout">
            <a:avLst>
              <a:gd name="adj1" fmla="val 197980"/>
              <a:gd name="adj2" fmla="val 17392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/>
          <a:lstStyle/>
          <a:p>
            <a:r>
              <a:rPr lang="en-GB" sz="1100" b="1" dirty="0">
                <a:solidFill>
                  <a:schemeClr val="bg2"/>
                </a:solidFill>
              </a:rPr>
              <a:t>Customer status </a:t>
            </a:r>
          </a:p>
          <a:p>
            <a:r>
              <a:rPr lang="en-GB" sz="1100" dirty="0">
                <a:solidFill>
                  <a:schemeClr val="bg2"/>
                </a:solidFill>
              </a:rPr>
              <a:t>The number of Active customers is lesser than the number of inactive customers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46B2C5B2-0D8A-F160-2DC2-3774E16F107B}"/>
              </a:ext>
            </a:extLst>
          </p:cNvPr>
          <p:cNvSpPr/>
          <p:nvPr/>
        </p:nvSpPr>
        <p:spPr>
          <a:xfrm>
            <a:off x="409039" y="5010300"/>
            <a:ext cx="1701685" cy="1034674"/>
          </a:xfrm>
          <a:prstGeom prst="wedgeRectCallout">
            <a:avLst>
              <a:gd name="adj1" fmla="val 75442"/>
              <a:gd name="adj2" fmla="val 1294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0000" tIns="90000" rIns="90000" bIns="90000" rtlCol="0" anchor="ctr"/>
          <a:lstStyle/>
          <a:p>
            <a:r>
              <a:rPr lang="en-GB" sz="1100" b="1" dirty="0">
                <a:solidFill>
                  <a:schemeClr val="bg2"/>
                </a:solidFill>
              </a:rPr>
              <a:t>Active customers</a:t>
            </a:r>
          </a:p>
          <a:p>
            <a:r>
              <a:rPr lang="en-GB" sz="1100" dirty="0">
                <a:solidFill>
                  <a:schemeClr val="bg2"/>
                </a:solidFill>
              </a:rPr>
              <a:t>The active customers is decreasing , whereas the captured customers count is same which should be improved</a:t>
            </a:r>
          </a:p>
        </p:txBody>
      </p:sp>
      <p:sp>
        <p:nvSpPr>
          <p:cNvPr id="52" name="Speech Bubble: Rectangle 51">
            <a:extLst>
              <a:ext uri="{FF2B5EF4-FFF2-40B4-BE49-F238E27FC236}">
                <a16:creationId xmlns:a16="http://schemas.microsoft.com/office/drawing/2014/main" id="{4A6558A4-09B6-B927-EBB8-4276EA39928A}"/>
              </a:ext>
            </a:extLst>
          </p:cNvPr>
          <p:cNvSpPr/>
          <p:nvPr/>
        </p:nvSpPr>
        <p:spPr>
          <a:xfrm>
            <a:off x="365124" y="1807674"/>
            <a:ext cx="1454531" cy="1045661"/>
          </a:xfrm>
          <a:prstGeom prst="wedgeRectCallout">
            <a:avLst>
              <a:gd name="adj1" fmla="val 119513"/>
              <a:gd name="adj2" fmla="val 44845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/>
          <a:lstStyle/>
          <a:p>
            <a:endParaRPr lang="en-GB" sz="1100" b="1" dirty="0">
              <a:solidFill>
                <a:schemeClr val="bg2"/>
              </a:solidFill>
            </a:endParaRPr>
          </a:p>
          <a:p>
            <a:r>
              <a:rPr lang="en-GB" sz="1100" b="1" dirty="0">
                <a:solidFill>
                  <a:schemeClr val="bg2"/>
                </a:solidFill>
              </a:rPr>
              <a:t>Value Scores</a:t>
            </a:r>
          </a:p>
          <a:p>
            <a:r>
              <a:rPr lang="en-GB" sz="1100" dirty="0">
                <a:solidFill>
                  <a:schemeClr val="bg2"/>
                </a:solidFill>
              </a:rPr>
              <a:t>It shows the overall value scores that we are losing from the other market customers</a:t>
            </a:r>
          </a:p>
          <a:p>
            <a:endParaRPr lang="en-GB" sz="1100" dirty="0">
              <a:solidFill>
                <a:schemeClr val="bg2"/>
              </a:solidFill>
            </a:endParaRPr>
          </a:p>
        </p:txBody>
      </p:sp>
      <p:sp>
        <p:nvSpPr>
          <p:cNvPr id="53" name="Speech Bubble: Rectangle 52">
            <a:extLst>
              <a:ext uri="{FF2B5EF4-FFF2-40B4-BE49-F238E27FC236}">
                <a16:creationId xmlns:a16="http://schemas.microsoft.com/office/drawing/2014/main" id="{2BBC2409-A216-4DD2-02AA-1D749B9E9709}"/>
              </a:ext>
            </a:extLst>
          </p:cNvPr>
          <p:cNvSpPr/>
          <p:nvPr/>
        </p:nvSpPr>
        <p:spPr>
          <a:xfrm>
            <a:off x="10125190" y="2587751"/>
            <a:ext cx="1701685" cy="1139017"/>
          </a:xfrm>
          <a:prstGeom prst="wedgeRectCallout">
            <a:avLst>
              <a:gd name="adj1" fmla="val -121474"/>
              <a:gd name="adj2" fmla="val 74170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/>
          <a:lstStyle/>
          <a:p>
            <a:r>
              <a:rPr lang="en-US" sz="1100" dirty="0">
                <a:solidFill>
                  <a:schemeClr val="bg2"/>
                </a:solidFill>
              </a:rPr>
              <a:t>This table shows the list of customers in the market with higher potential value score who can be attracted to our business .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8542A5F7-60AF-8651-2F6A-89B98ED18CC1}"/>
              </a:ext>
            </a:extLst>
          </p:cNvPr>
          <p:cNvSpPr/>
          <p:nvPr/>
        </p:nvSpPr>
        <p:spPr>
          <a:xfrm>
            <a:off x="3529584" y="6056469"/>
            <a:ext cx="2980944" cy="712442"/>
          </a:xfrm>
          <a:prstGeom prst="wedgeRectCallout">
            <a:avLst>
              <a:gd name="adj1" fmla="val 20356"/>
              <a:gd name="adj2" fmla="val -99683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0000" tIns="90000" rIns="90000" bIns="90000" rtlCol="0" anchor="ctr"/>
          <a:lstStyle/>
          <a:p>
            <a:r>
              <a:rPr lang="en-GB" sz="1100" b="1" dirty="0">
                <a:solidFill>
                  <a:schemeClr val="bg2"/>
                </a:solidFill>
              </a:rPr>
              <a:t>Comparison</a:t>
            </a:r>
          </a:p>
          <a:p>
            <a:r>
              <a:rPr lang="en-GB" sz="1100" dirty="0">
                <a:solidFill>
                  <a:schemeClr val="bg2"/>
                </a:solidFill>
              </a:rPr>
              <a:t>The company is compared with the rest of the market competitors based on the value score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CEEAECBD-116B-E879-8BA3-1532E7DE65C4}"/>
              </a:ext>
            </a:extLst>
          </p:cNvPr>
          <p:cNvSpPr/>
          <p:nvPr/>
        </p:nvSpPr>
        <p:spPr>
          <a:xfrm>
            <a:off x="10363960" y="4529301"/>
            <a:ext cx="1524757" cy="1292866"/>
          </a:xfrm>
          <a:prstGeom prst="wedgeRectCallout">
            <a:avLst>
              <a:gd name="adj1" fmla="val -135629"/>
              <a:gd name="adj2" fmla="val 18089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/>
          <a:lstStyle/>
          <a:p>
            <a:r>
              <a:rPr lang="en-GB" sz="1100" dirty="0">
                <a:solidFill>
                  <a:schemeClr val="bg2"/>
                </a:solidFill>
              </a:rPr>
              <a:t>It shows the proportion of active vs inactive customers based on the revenue earned, industry type , etc</a:t>
            </a:r>
          </a:p>
        </p:txBody>
      </p:sp>
    </p:spTree>
    <p:extLst>
      <p:ext uri="{BB962C8B-B14F-4D97-AF65-F5344CB8AC3E}">
        <p14:creationId xmlns:p14="http://schemas.microsoft.com/office/powerpoint/2010/main" val="185668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 animBg="1"/>
      <p:bldP spid="52" grpId="0" animBg="1"/>
      <p:bldP spid="53" grpId="0" animBg="1"/>
      <p:bldP spid="34" grpId="0" uiExpand="1" build="allAtOnce" animBg="1"/>
      <p:bldP spid="38" grpId="0" uiExpand="1" build="allAtOnce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C51113A-86AC-BFC5-AE1C-5DB756DBC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3908" y="3057158"/>
            <a:ext cx="5623460" cy="1853170"/>
          </a:xfrm>
          <a:solidFill>
            <a:schemeClr val="accent2">
              <a:lumMod val="20000"/>
              <a:lumOff val="80000"/>
            </a:schemeClr>
          </a:solidFill>
          <a:ln w="19050"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High Seasonality &amp; Penetration Dips</a:t>
            </a:r>
          </a:p>
          <a:p>
            <a:pPr marL="0" indent="0">
              <a:buNone/>
            </a:pPr>
            <a:r>
              <a:rPr lang="en-US" dirty="0"/>
              <a:t>The monthly penetration data shows extreme volatility, with sharp "valleys" in </a:t>
            </a:r>
            <a:r>
              <a:rPr lang="en-US" b="1" dirty="0"/>
              <a:t>February and June</a:t>
            </a:r>
            <a:r>
              <a:rPr lang="en-US" dirty="0"/>
              <a:t>.</a:t>
            </a:r>
          </a:p>
          <a:p>
            <a:r>
              <a:rPr lang="en-US" dirty="0"/>
              <a:t>This suggests an inconsistent sales cycle or a "churn-heavy" acquisition model where new customers join but don't stay past the first quarter. </a:t>
            </a:r>
          </a:p>
          <a:p>
            <a:r>
              <a:rPr lang="en-US" dirty="0"/>
              <a:t>This makes quarterly forecasting nearly impossible for the executive team.</a:t>
            </a:r>
          </a:p>
          <a:p>
            <a:endParaRPr lang="en-GB" noProof="0" dirty="0"/>
          </a:p>
          <a:p>
            <a:pPr marL="0" indent="0">
              <a:buNone/>
            </a:pPr>
            <a:endParaRPr lang="en-GB" b="1" noProof="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b="1" noProof="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1A76C1E-1F3E-A92C-24B3-C830036D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GB" b="0" noProof="0" dirty="0">
                <a:cs typeface="Arial"/>
              </a:rPr>
              <a:t>Areas of Improvement – Analysis Results</a:t>
            </a:r>
            <a:endParaRPr lang="en-GB" b="0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9A24F8-1759-BD1B-21AC-0C51E4BA6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7"/>
            <a:ext cx="5620552" cy="1167510"/>
          </a:xfr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Average Revenue Per User (ARPU)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In 2025, the value dropped to </a:t>
            </a:r>
            <a:r>
              <a:rPr lang="en-US" b="1" dirty="0"/>
              <a:t>$21.7K</a:t>
            </a:r>
            <a:r>
              <a:rPr lang="en-US" dirty="0"/>
              <a:t> (a </a:t>
            </a:r>
            <a:r>
              <a:rPr lang="en-US" b="1" dirty="0"/>
              <a:t>3.51%</a:t>
            </a:r>
            <a:r>
              <a:rPr lang="en-US" dirty="0"/>
              <a:t> decrease). This indicates that the customers who stayed are either downgrading their plans or demanding discounts, leading to "Internal Contraction."</a:t>
            </a: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EBF32B-B72E-C0BA-E8FA-BB7B32BE4142}"/>
              </a:ext>
            </a:extLst>
          </p:cNvPr>
          <p:cNvSpPr/>
          <p:nvPr/>
        </p:nvSpPr>
        <p:spPr>
          <a:xfrm>
            <a:off x="381000" y="1288112"/>
            <a:ext cx="5626368" cy="3119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Current Issues</a:t>
            </a:r>
            <a:endParaRPr lang="en-GB" sz="1200" b="1" i="1" noProof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622A6F-70D7-8665-F7B0-3253700DE684}"/>
              </a:ext>
            </a:extLst>
          </p:cNvPr>
          <p:cNvSpPr/>
          <p:nvPr/>
        </p:nvSpPr>
        <p:spPr>
          <a:xfrm>
            <a:off x="6184632" y="1288112"/>
            <a:ext cx="5626368" cy="3119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>
                <a:solidFill>
                  <a:schemeClr val="bg1"/>
                </a:solidFill>
              </a:rPr>
              <a:t>Solutions</a:t>
            </a:r>
            <a:endParaRPr lang="en-GB" sz="1200" b="1" i="1" noProof="0">
              <a:solidFill>
                <a:schemeClr val="bg1"/>
              </a:solidFill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DA65B4D5-39C0-C9A7-D6A1-E7CAA36B4399}"/>
              </a:ext>
            </a:extLst>
          </p:cNvPr>
          <p:cNvSpPr txBox="1">
            <a:spLocks/>
          </p:cNvSpPr>
          <p:nvPr/>
        </p:nvSpPr>
        <p:spPr>
          <a:xfrm>
            <a:off x="6186086" y="1749426"/>
            <a:ext cx="5623460" cy="116751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lIns="90000" tIns="90000" rIns="90000" bIns="9000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reverse the </a:t>
            </a:r>
            <a:r>
              <a:rPr lang="en-US" b="1" dirty="0"/>
              <a:t>3.51% contraction in account value</a:t>
            </a:r>
            <a:r>
              <a:rPr lang="en-US" dirty="0"/>
              <a:t>, we must transition away from broad discounting. We will introduce </a:t>
            </a:r>
            <a:r>
              <a:rPr lang="en-US" b="1" dirty="0"/>
              <a:t>Value-Added Service Bundles</a:t>
            </a:r>
            <a:r>
              <a:rPr lang="en-US" dirty="0"/>
              <a:t> (such as advanced analytics or premium support) that justify a return to 2024 pricing levels. </a:t>
            </a:r>
          </a:p>
          <a:p>
            <a:r>
              <a:rPr lang="en-US" dirty="0"/>
              <a:t>By shifting the conversation from "price" to "ROI," we can stop the internal contraction and encourage existing clients to expand their commitment, moving the ARPU back toward the </a:t>
            </a:r>
            <a:r>
              <a:rPr lang="en-US" b="1" dirty="0"/>
              <a:t>$22.5K baseline</a:t>
            </a:r>
            <a:r>
              <a:rPr lang="en-US" dirty="0"/>
              <a:t>.</a:t>
            </a: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867B507B-FABE-2BCD-6268-32260F7C90D6}"/>
              </a:ext>
            </a:extLst>
          </p:cNvPr>
          <p:cNvSpPr txBox="1">
            <a:spLocks/>
          </p:cNvSpPr>
          <p:nvPr/>
        </p:nvSpPr>
        <p:spPr>
          <a:xfrm>
            <a:off x="6188994" y="3066264"/>
            <a:ext cx="5623460" cy="184406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lIns="90000" tIns="90000" rIns="9000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To solve the </a:t>
            </a:r>
            <a:r>
              <a:rPr lang="en-US" b="1" dirty="0"/>
              <a:t>February and June penetration valleys</a:t>
            </a:r>
            <a:r>
              <a:rPr lang="en-US" dirty="0"/>
              <a:t>, we will move the customer base from Monthly to </a:t>
            </a:r>
            <a:r>
              <a:rPr lang="en-US" b="1" dirty="0"/>
              <a:t>Annual Subscription Models</a:t>
            </a:r>
            <a:r>
              <a:rPr lang="en-US" dirty="0"/>
              <a:t>. </a:t>
            </a:r>
          </a:p>
          <a:p>
            <a:r>
              <a:rPr lang="en-US" dirty="0"/>
              <a:t>We will offer a "Strategic Partnership Discount" (e.g., 10% off for a 12-month commitment) to eliminate the month-to-month churn. </a:t>
            </a:r>
            <a:endParaRPr lang="en-GB" b="1" noProof="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b="1" noProof="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E652CC2B-50E4-9139-1578-5E9F4136D425}"/>
              </a:ext>
            </a:extLst>
          </p:cNvPr>
          <p:cNvSpPr txBox="1">
            <a:spLocks/>
          </p:cNvSpPr>
          <p:nvPr/>
        </p:nvSpPr>
        <p:spPr>
          <a:xfrm>
            <a:off x="382454" y="5059551"/>
            <a:ext cx="5623460" cy="11675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txBody>
          <a:bodyPr vert="horz" lIns="90000" tIns="90000" rIns="90000" bIns="9000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noProof="0" dirty="0">
                <a:solidFill>
                  <a:schemeClr val="accent3">
                    <a:lumMod val="50000"/>
                  </a:schemeClr>
                </a:solidFill>
              </a:rPr>
              <a:t>Customer Churn</a:t>
            </a:r>
          </a:p>
          <a:p>
            <a:r>
              <a:rPr lang="en-US" dirty="0"/>
              <a:t>The most critical issue is that your customer count is falling significantly faster than your revenue. </a:t>
            </a:r>
          </a:p>
          <a:p>
            <a:r>
              <a:rPr lang="en-US" dirty="0"/>
              <a:t>While revenue dipped by </a:t>
            </a:r>
            <a:r>
              <a:rPr lang="en-US" b="1" dirty="0"/>
              <a:t>6.55%</a:t>
            </a:r>
            <a:r>
              <a:rPr lang="en-US" dirty="0"/>
              <a:t>, the customer volume dropped by nearly </a:t>
            </a:r>
            <a:r>
              <a:rPr lang="en-US" b="1" dirty="0"/>
              <a:t>45%</a:t>
            </a:r>
            <a:r>
              <a:rPr lang="en-US" dirty="0"/>
              <a:t> heading into 2025.</a:t>
            </a:r>
            <a:endParaRPr lang="en-GB" noProof="0" dirty="0"/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D36889B6-880D-7F53-233F-561EF8F04073}"/>
              </a:ext>
            </a:extLst>
          </p:cNvPr>
          <p:cNvSpPr txBox="1">
            <a:spLocks/>
          </p:cNvSpPr>
          <p:nvPr/>
        </p:nvSpPr>
        <p:spPr>
          <a:xfrm>
            <a:off x="6187540" y="5059550"/>
            <a:ext cx="5623460" cy="1167513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vert="horz" lIns="90000" tIns="90000" rIns="90000" bIns="9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counter the </a:t>
            </a:r>
            <a:r>
              <a:rPr lang="en-US" b="1" dirty="0"/>
              <a:t>45% drop in customer volume</a:t>
            </a:r>
            <a:r>
              <a:rPr lang="en-US" dirty="0"/>
              <a:t>, we must move beyond just "landing" accounts and focus on "expanding" them.</a:t>
            </a:r>
          </a:p>
          <a:p>
            <a:r>
              <a:rPr lang="en-US" dirty="0"/>
              <a:t>We will implement a </a:t>
            </a:r>
            <a:r>
              <a:rPr lang="en-US" b="1" dirty="0"/>
              <a:t>Customer Success Tiering Model</a:t>
            </a:r>
            <a:r>
              <a:rPr lang="en-US" dirty="0"/>
              <a:t> that provides dedicated account management for our high-value Enterprise clients</a:t>
            </a:r>
            <a:endParaRPr lang="en-GB" b="1" noProof="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80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/>
      <p:bldP spid="10" grpId="0"/>
      <p:bldP spid="11" grpId="0" build="p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AE2E3EC-E2A3-891A-2C9A-4D53D66A1F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0775" y="1138785"/>
            <a:ext cx="3803483" cy="504000"/>
          </a:xfrm>
        </p:spPr>
        <p:txBody>
          <a:bodyPr/>
          <a:lstStyle/>
          <a:p>
            <a:r>
              <a:rPr lang="en-US" dirty="0"/>
              <a:t>A Portfolio at a Crossroads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306D8D-DCF4-12F8-DC0C-5B3022A641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0168" y="1138785"/>
            <a:ext cx="3803483" cy="504000"/>
          </a:xfrm>
        </p:spPr>
        <p:txBody>
          <a:bodyPr/>
          <a:lstStyle/>
          <a:p>
            <a:r>
              <a:rPr lang="en-US" dirty="0"/>
              <a:t>Identifying the $20M Churn Leak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9E7E69-71C8-2568-5AE2-C434DC7100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29561" y="1169138"/>
            <a:ext cx="3803483" cy="504000"/>
          </a:xfrm>
        </p:spPr>
        <p:txBody>
          <a:bodyPr/>
          <a:lstStyle/>
          <a:p>
            <a:r>
              <a:rPr lang="en-US" dirty="0"/>
              <a:t>The Path to $53M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FFEBB8-8578-EC7C-7048-A08D5577555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0999" y="2097049"/>
            <a:ext cx="3667125" cy="4062451"/>
          </a:xfrm>
        </p:spPr>
        <p:txBody>
          <a:bodyPr/>
          <a:lstStyle/>
          <a:p>
            <a:r>
              <a:rPr lang="en-US" dirty="0"/>
              <a:t>Your organization maintains a high-value foundation with </a:t>
            </a:r>
            <a:r>
              <a:rPr lang="en-US" b="1" dirty="0"/>
              <a:t>$40.01M in total revenue</a:t>
            </a:r>
            <a:r>
              <a:rPr lang="en-US" dirty="0"/>
              <a:t> and a commanding </a:t>
            </a:r>
            <a:r>
              <a:rPr lang="en-US" b="1" dirty="0"/>
              <a:t>494% market share</a:t>
            </a:r>
            <a:r>
              <a:rPr lang="en-US" dirty="0"/>
              <a:t> relative to assigned targets.</a:t>
            </a:r>
          </a:p>
          <a:p>
            <a:endParaRPr lang="en-US" dirty="0"/>
          </a:p>
          <a:p>
            <a:r>
              <a:rPr lang="en-US" dirty="0"/>
              <a:t> However, this stability is being tested by a </a:t>
            </a:r>
            <a:r>
              <a:rPr lang="en-US" b="1" dirty="0"/>
              <a:t>-6.55% annual revenue decline</a:t>
            </a:r>
            <a:r>
              <a:rPr lang="en-US" dirty="0"/>
              <a:t> and a sharp </a:t>
            </a:r>
            <a:r>
              <a:rPr lang="en-US" b="1" dirty="0"/>
              <a:t>45% contraction in customer volume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While our core Enterprise relationships remain healthy—maintaining an average account value of nearly </a:t>
            </a:r>
            <a:r>
              <a:rPr lang="en-US" b="1" dirty="0"/>
              <a:t>$45K</a:t>
            </a:r>
            <a:r>
              <a:rPr lang="en-US" dirty="0"/>
              <a:t>—the broader market base is eroding, leading to a "top-heavy" revenue structure that increases our vulnerability to individual client exits.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19984D1-6442-D44A-AB58-5DA71037FE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4258" y="2097051"/>
            <a:ext cx="3667125" cy="4062450"/>
          </a:xfrm>
        </p:spPr>
        <p:txBody>
          <a:bodyPr/>
          <a:lstStyle/>
          <a:p>
            <a:r>
              <a:rPr lang="en-US" dirty="0"/>
              <a:t>Our audit has pinpointed the primary driver of this decline: a massive </a:t>
            </a:r>
            <a:r>
              <a:rPr lang="en-US" b="1" dirty="0"/>
              <a:t>$20M churn leak</a:t>
            </a:r>
            <a:r>
              <a:rPr lang="en-US" dirty="0"/>
              <a:t> heavily concentrated in the </a:t>
            </a:r>
            <a:r>
              <a:rPr lang="en-US" b="1" dirty="0"/>
              <a:t>Healthcare and Manufacturing</a:t>
            </a:r>
            <a:r>
              <a:rPr lang="en-US" dirty="0"/>
              <a:t> sectors. </a:t>
            </a:r>
          </a:p>
          <a:p>
            <a:r>
              <a:rPr lang="en-US" dirty="0"/>
              <a:t>Specifically, the Healthcare vertical alone accounts for a </a:t>
            </a:r>
            <a:r>
              <a:rPr lang="en-US" b="1" dirty="0"/>
              <a:t>$4.9M revenue gap</a:t>
            </a:r>
            <a:r>
              <a:rPr lang="en-US" dirty="0"/>
              <a:t>. </a:t>
            </a:r>
          </a:p>
          <a:p>
            <a:r>
              <a:rPr lang="en-US" dirty="0"/>
              <a:t>This loss is compounded by a </a:t>
            </a:r>
            <a:r>
              <a:rPr lang="en-US" b="1" dirty="0"/>
              <a:t>3.51% slide in Average Revenue Per User (ARPU)</a:t>
            </a:r>
            <a:r>
              <a:rPr lang="en-US" dirty="0"/>
              <a:t> during 2025, suggesting that existing clients are facing pricing pressures or downgrading services.</a:t>
            </a:r>
          </a:p>
          <a:p>
            <a:r>
              <a:rPr lang="en-US" dirty="0"/>
              <a:t> Furthermore, high seasonality in February and June reveals a reliance on short-term commitments that jeopardize long-term stability.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83EFF89-F235-314C-8206-C48857DFC1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07517" y="2097049"/>
            <a:ext cx="3667125" cy="4062451"/>
          </a:xfrm>
        </p:spPr>
        <p:txBody>
          <a:bodyPr/>
          <a:lstStyle/>
          <a:p>
            <a:r>
              <a:rPr lang="en-US" dirty="0"/>
              <a:t>To achieve our "North Star" goal of </a:t>
            </a:r>
            <a:r>
              <a:rPr lang="en-US" b="1" dirty="0"/>
              <a:t>$53M in revenue and a 6.0% market share</a:t>
            </a:r>
            <a:r>
              <a:rPr lang="en-US" dirty="0"/>
              <a:t>, we must pivot from a defensive posture to a dual-track recovery plan. </a:t>
            </a:r>
          </a:p>
          <a:p>
            <a:r>
              <a:rPr lang="en-US" dirty="0"/>
              <a:t>This involves an immediate </a:t>
            </a:r>
            <a:r>
              <a:rPr lang="en-US" b="1" dirty="0"/>
              <a:t>"Win-Back" initiative</a:t>
            </a:r>
            <a:r>
              <a:rPr lang="en-US" dirty="0"/>
              <a:t> for high-potential Healthcare accounts and a structural transition from monthly to </a:t>
            </a:r>
            <a:r>
              <a:rPr lang="en-US" b="1" dirty="0"/>
              <a:t>annual subscription models</a:t>
            </a:r>
            <a:r>
              <a:rPr lang="en-US" dirty="0"/>
              <a:t> to eliminate seasonal volatility. </a:t>
            </a:r>
          </a:p>
          <a:p>
            <a:r>
              <a:rPr lang="en-US" dirty="0"/>
              <a:t>By optimizing our marketing spend toward high-value acquisition channels and aggressively expanding in high-efficiency regions like the </a:t>
            </a:r>
            <a:r>
              <a:rPr lang="en-US" b="1" dirty="0"/>
              <a:t>West</a:t>
            </a:r>
            <a:r>
              <a:rPr lang="en-US" dirty="0"/>
              <a:t>, we will stabilize our volume and reclaim our growth momentum.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1D3D2B-DFD7-4E1C-A13B-58C4C044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75" y="180520"/>
            <a:ext cx="11430000" cy="958265"/>
          </a:xfrm>
        </p:spPr>
        <p:txBody>
          <a:bodyPr/>
          <a:lstStyle/>
          <a:p>
            <a:r>
              <a:rPr lang="en-US" dirty="0"/>
              <a:t>Executive Summary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833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build="p" animBg="1"/>
      <p:bldP spid="12" grpId="0" build="p" animBg="1"/>
      <p:bldP spid="14" grpId="0" build="p"/>
      <p:bldP spid="15" grpId="0" build="p"/>
      <p:bldP spid="16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8E0822AE-008B-40ED-ACF5-5411653E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ECA57C-B8DA-EDE8-8E11-75663529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078" y="2167128"/>
            <a:ext cx="4621076" cy="33243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DDF161-841E-E5B1-5C3C-306E91E14386}"/>
              </a:ext>
            </a:extLst>
          </p:cNvPr>
          <p:cNvSpPr txBox="1"/>
          <p:nvPr/>
        </p:nvSpPr>
        <p:spPr>
          <a:xfrm>
            <a:off x="9834753" y="1649965"/>
            <a:ext cx="2030730" cy="461665"/>
          </a:xfrm>
          <a:prstGeom prst="wedgeRectCallout">
            <a:avLst>
              <a:gd name="adj1" fmla="val -49013"/>
              <a:gd name="adj2" fmla="val 142033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1200" dirty="0">
                <a:solidFill>
                  <a:schemeClr val="bg1"/>
                </a:solidFill>
              </a:rPr>
              <a:t>The action to be taken for reducing the churn revenue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AFFBBD-D3A4-29D1-7CEF-B34AA648387F}"/>
              </a:ext>
            </a:extLst>
          </p:cNvPr>
          <p:cNvSpPr txBox="1"/>
          <p:nvPr/>
        </p:nvSpPr>
        <p:spPr>
          <a:xfrm>
            <a:off x="9877806" y="5491504"/>
            <a:ext cx="2030730" cy="646331"/>
          </a:xfrm>
          <a:prstGeom prst="wedgeRectCallout">
            <a:avLst>
              <a:gd name="adj1" fmla="val -63422"/>
              <a:gd name="adj2" fmla="val -93949"/>
            </a:avLst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solidFill>
                  <a:schemeClr val="bg1"/>
                </a:solidFill>
              </a:rPr>
              <a:t>The action to be taken for acquire the new high value opportunity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E6A5FE-76BC-E919-50F4-8E6CB293B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05" y="2111630"/>
            <a:ext cx="5414466" cy="389434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313520-64D3-7B16-CA26-8E26565E1B39}"/>
              </a:ext>
            </a:extLst>
          </p:cNvPr>
          <p:cNvSpPr txBox="1"/>
          <p:nvPr/>
        </p:nvSpPr>
        <p:spPr>
          <a:xfrm>
            <a:off x="3537585" y="1936295"/>
            <a:ext cx="3271647" cy="461665"/>
          </a:xfrm>
          <a:prstGeom prst="wedgeRectCallout">
            <a:avLst>
              <a:gd name="adj1" fmla="val 9121"/>
              <a:gd name="adj2" fmla="val 144014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GB" sz="1200" dirty="0">
                <a:solidFill>
                  <a:schemeClr val="bg1"/>
                </a:solidFill>
              </a:rPr>
              <a:t>The projected revenue that could be achieved when the provided solutions are carried out 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DC4E44-FFF9-7C4E-4BEB-74DD3B3DCD13}"/>
              </a:ext>
            </a:extLst>
          </p:cNvPr>
          <p:cNvSpPr txBox="1"/>
          <p:nvPr/>
        </p:nvSpPr>
        <p:spPr>
          <a:xfrm>
            <a:off x="510727" y="915152"/>
            <a:ext cx="10991088" cy="797936"/>
          </a:xfrm>
          <a:prstGeom prst="rect">
            <a:avLst/>
          </a:prstGeom>
          <a:noFill/>
        </p:spPr>
        <p:txBody>
          <a:bodyPr wrap="square" lIns="90000" tIns="90000" rIns="90000" bIns="9000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 can implement a high-velocity recovery plan that targets the </a:t>
            </a:r>
            <a:r>
              <a:rPr lang="en-US" sz="1200" b="1" dirty="0"/>
              <a:t>$20M churn leak</a:t>
            </a:r>
            <a:r>
              <a:rPr lang="en-US" sz="1200" dirty="0"/>
              <a:t> through aggressive Healthcare "Win-Back" campaigns.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reallocating resources to high-efficiency regions like the </a:t>
            </a:r>
            <a:r>
              <a:rPr lang="en-US" sz="1200" b="1" dirty="0"/>
              <a:t>West</a:t>
            </a:r>
            <a:r>
              <a:rPr lang="en-US" sz="1200" dirty="0"/>
              <a:t> and optimizing marketing spend toward high-value acquisition channels, we will stabilize our customer volume and secure the path to our </a:t>
            </a:r>
            <a:r>
              <a:rPr lang="en-US" sz="1200" b="1" dirty="0"/>
              <a:t>$53M revenue milestone</a:t>
            </a:r>
            <a:r>
              <a:rPr lang="en-US" sz="1200" dirty="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650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 uiExpand="1" build="allAtOnce" animBg="1"/>
      <p:bldP spid="15" grpId="0" animBg="1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21282-7B3C-E7F0-CFE8-C7B74096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026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TITLE PAGES" val="EfXtb7rC"/>
  <p:tag name="ARTICULATE_DESIGN_ID_2_DIVIDERS" val="ZK4CN9BO"/>
  <p:tag name="ARTICULATE_DESIGN_ID_3_MAIN CONTENT PAGES" val="D9qnVY0J"/>
  <p:tag name="ARTICULATE_PROJECT_OPEN" val="0"/>
  <p:tag name="ARTICULATE_SLIDE_COUNT" val="1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Internal Project Kick-off Template v1.pptx  -  Read-Only" id="{C34F53F5-E7B9-4D9D-8B8A-823F8F046689}" vid="{3211E621-6416-49A2-89D9-09BD7B9357D1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Internal Project Kick-off Template v1.pptx  -  Read-Only" id="{C34F53F5-E7B9-4D9D-8B8A-823F8F046689}" vid="{8C57FA92-DDC5-4F86-9FC5-07EFE31823BC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lIns="90000" tIns="90000" rIns="90000" bIns="90000" rtlCol="0" anchor="t"/>
      <a:lstStyle>
        <a:defPPr algn="l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90000" rIns="90000" bIns="90000" rtlCol="0">
        <a:noAutofit/>
      </a:bodyPr>
      <a:lstStyle>
        <a:defPPr algn="l">
          <a:defRPr sz="12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MAN Internal Project Kick-off Template v1.pptx  -  Read-Only" id="{C34F53F5-E7B9-4D9D-8B8A-823F8F046689}" vid="{F81650C4-2D35-4307-8451-E20BBAB6B73C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Internal Project Kick-off Template v1.pptx  -  Read-Only" id="{C34F53F5-E7B9-4D9D-8B8A-823F8F046689}" vid="{4B72D777-940A-4FF8-9F86-DE6783ED8D5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405374391C1641A168C1236A716607" ma:contentTypeVersion="10" ma:contentTypeDescription="Create a new document." ma:contentTypeScope="" ma:versionID="9040f28cd1bf84cbe318fe6949289fbf">
  <xsd:schema xmlns:xsd="http://www.w3.org/2001/XMLSchema" xmlns:xs="http://www.w3.org/2001/XMLSchema" xmlns:p="http://schemas.microsoft.com/office/2006/metadata/properties" xmlns:ns2="a5b11a77-7788-46fd-9668-95ec4506d6ec" xmlns:ns3="d6ec6e21-06be-401a-af9b-7c1579062cf2" targetNamespace="http://schemas.microsoft.com/office/2006/metadata/properties" ma:root="true" ma:fieldsID="4c5b1c311192f1f4607b2d74600ad70b" ns2:_="" ns3:_="">
    <xsd:import namespace="a5b11a77-7788-46fd-9668-95ec4506d6ec"/>
    <xsd:import namespace="d6ec6e21-06be-401a-af9b-7c1579062c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11a77-7788-46fd-9668-95ec4506d6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c6e21-06be-401a-af9b-7c1579062c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54a59fc-f3fb-48c0-921a-e0f917b12790}" ma:internalName="TaxCatchAll" ma:showField="CatchAllData" ma:web="d6ec6e21-06be-401a-af9b-7c1579062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b11a77-7788-46fd-9668-95ec4506d6ec">
      <Terms xmlns="http://schemas.microsoft.com/office/infopath/2007/PartnerControls"/>
    </lcf76f155ced4ddcb4097134ff3c332f>
    <TaxCatchAll xmlns="d6ec6e21-06be-401a-af9b-7c1579062cf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DAFE48-D798-4D84-8233-600D681B5D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b11a77-7788-46fd-9668-95ec4506d6ec"/>
    <ds:schemaRef ds:uri="d6ec6e21-06be-401a-af9b-7c1579062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F3EB76-8CD1-42DC-A5B4-0C9E7E64B257}">
  <ds:schemaRefs>
    <ds:schemaRef ds:uri="http://purl.org/dc/terms/"/>
    <ds:schemaRef ds:uri="a5b11a77-7788-46fd-9668-95ec4506d6ec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d6ec6e21-06be-401a-af9b-7c1579062cf2"/>
  </ds:schemaRefs>
</ds:datastoreItem>
</file>

<file path=customXml/itemProps3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JMAN Internal Project Kick-off Template v1</Template>
  <TotalTime>374</TotalTime>
  <Words>1656</Words>
  <Application>Microsoft Office PowerPoint</Application>
  <PresentationFormat>Widescreen</PresentationFormat>
  <Paragraphs>163</Paragraphs>
  <Slides>13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1_Title Pages</vt:lpstr>
      <vt:lpstr>2_Dividers</vt:lpstr>
      <vt:lpstr>3_Main Content Pages</vt:lpstr>
      <vt:lpstr>4_Main Content - Dark</vt:lpstr>
      <vt:lpstr>think-cell Slide</vt:lpstr>
      <vt:lpstr>Market Position &amp; Share Analysis</vt:lpstr>
      <vt:lpstr>AGENDA</vt:lpstr>
      <vt:lpstr>PowerPoint Presentation</vt:lpstr>
      <vt:lpstr>Overview</vt:lpstr>
      <vt:lpstr>Various segments of revenue</vt:lpstr>
      <vt:lpstr>Comparing the revenue over time</vt:lpstr>
      <vt:lpstr>Strategic Segment Mastery vs. 2025 Retention Challenges</vt:lpstr>
      <vt:lpstr>Strategic Segment Mastery vs. 2025 Retention Challenges</vt:lpstr>
      <vt:lpstr>Key findings after analysis</vt:lpstr>
      <vt:lpstr>Areas of Improvement – Analysis Results</vt:lpstr>
      <vt:lpstr>Executive Summary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R</dc:creator>
  <cp:lastModifiedBy>Shalini R</cp:lastModifiedBy>
  <cp:revision>5</cp:revision>
  <cp:lastPrinted>2026-05-13T00:36:41Z</cp:lastPrinted>
  <dcterms:created xsi:type="dcterms:W3CDTF">2026-05-12T18:42:57Z</dcterms:created>
  <dcterms:modified xsi:type="dcterms:W3CDTF">2026-05-13T00:57:55Z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0x01010007405374391C1641A168C1236A716607</vt:lpwstr>
  </property>
  <property fmtid="{D5CDD505-2E9C-101B-9397-08002B2CF9AE}" pid="3" name="MediaServiceImageTags">
    <vt:lpwstr/>
  </property>
  <property fmtid="{D5CDD505-2E9C-101B-9397-08002B2CF9AE}" pid="4" name="ArticulateGUID">
    <vt:lpwstr>B6761189-D80D-4F7F-8E79-33C88E746AEA</vt:lpwstr>
  </property>
  <property fmtid="{D5CDD505-2E9C-101B-9397-08002B2CF9AE}" pid="5" name="ArticulatePath">
    <vt:lpwstr>221117_JMAN PPT Master v2.0_IG (1)</vt:lpwstr>
  </property>
</Properties>
</file>